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3" r:id="rId9"/>
    <p:sldId id="264" r:id="rId10"/>
    <p:sldId id="281" r:id="rId32"/>
    <p:sldId id="282" r:id="rId33"/>
    <p:sldId id="269" r:id="rId15"/>
    <p:sldId id="273" r:id="rId19"/>
    <p:sldId id="283" r:id="rId34"/>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59E56D-2570-46E0-2B80-B220FAD36D15}">
          <p14:sldIdLst>
            <p14:sldId id="256"/>
          </p14:sldIdLst>
        </p14:section>
        <p14:section name="Context" id="{3D92CB76-3C80-8FA2-7FEC-4B7E94C2039F}">
          <p14:sldIdLst>
            <p14:sldId id="257"/>
            <p14:sldId id="258"/>
          </p14:sldIdLst>
        </p14:section>
        <p14:section name="Design" id="{9E81B974-71B4-5736-4798-A79D57669222}">
          <p14:sldIdLst>
            <p14:sldId id="259"/>
            <p14:sldId id="260"/>
          </p14:sldIdLst>
        </p14:section>
        <p14:section name="How it works" id="{53C2E35C-3B1F-E928-48AA-167E6E5E25DB}">
          <p14:sldIdLst>
            <p14:sldId id="261"/>
            <p14:sldId id="262"/>
            <p14:sldId id="263"/>
          </p14:sldIdLst>
        </p14:section>
        <p14:section name="Robustness" id="{1E63B782-D108-BAA6-B8EA-D74E901FB329}">
          <p14:sldIdLst>
            <p14:sldId id="264"/>
            <p14:sldId id="265"/>
            <p14:sldId id="266"/>
          </p14:sldIdLst>
        </p14:section>
        <p14:section name="Operations" id="{562B87B7-2E99-F8BC-5F1B-B6615F3CA32A}">
          <p14:sldIdLst>
            <p14:sldId id="267"/>
            <p14:sldId id="268"/>
            <p14:sldId id="269"/>
          </p14:sldIdLst>
        </p14:section>
        <p14:section name="Product" id="{777E4464-BF30-58F2-E9DA-D0B006C9D292}">
          <p14:sldIdLst>
            <p14:sldId id="270"/>
            <p14:sldId id="271"/>
            <p14:sldId id="272"/>
          </p14:sldIdLst>
        </p14:section>
        <p14:section name="Process" id="{C9654AFD-1C8B-09C9-4A40-75DED1745131}">
          <p14:sldIdLst>
            <p14:sldId id="273"/>
            <p14:sldId id="274"/>
          </p14:sldIdLst>
        </p14:section>
        <p14:section name="Rollout" id="{EFB08FCA-4056-F039-CCF3-DCE1FD5063A9}">
          <p14:sldIdLst>
            <p14:sldId id="275"/>
          </p14:sldIdLst>
        </p14:section>
        <p14:section name="Demo" id="{43B3BE5B-5109-6755-45C3-98B2F8A1CBBC}">
          <p14:sldIdLst>
            <p14:sldId id="276"/>
          </p14:sldIdLst>
        </p14:section>
        <p14:section name="Backup" id="{A68109D1-000A-3FC1-1EF8-8A883E8719E3}">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2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5" Type="http://schemas.openxmlformats.org/officeDocument/2006/relationships/slide" Target="slides/slide11.xml"/><Relationship Id="rId19" Type="http://schemas.openxmlformats.org/officeDocument/2006/relationships/slide" Target="slides/slide12.xml"/><Relationship Id="rId22" Type="http://schemas.openxmlformats.org/officeDocument/2006/relationships/slide" Target="slides/slide14.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530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line about me, then the plan: about 35 minutes of slides with a 5-minute live demo, then the code and your questions.
- The scenario is my choice: a Romanian electronics reseller with its own Adobe Commerce shop, the eMAG Marketplace, and one warehouse in Bucharest.
- The brief was a glue service that keeps systems in sync and handles conflicts, retries and partial failures.
- The picture on this slide is the whole idea: every order reaches the warehouse once, the warehouse's true stock goes back to both channels, and a person decides what is not safe to decide automatically.
- Everything runs locally with Docker Compose. The shop, eMAG and the warehouse are mocks shaped like the real APIs.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customer sells Apple products in Romania through two channels: Electronic Market, its own Adobe Commerce store, and the eMAG Marketplace. One warehouse in Bucharest serves both.
- Today nothing connects them. A person copies orders into the warehouse system and types stock figures back into both channels a few times a day.
- The painful case is the last unit: it sells on both channels within minutes, and one customer has paid for something that does not exist.
- eMAG measures the seller's cancellation rate and penalises sellers who cancel too often, so every oversell on eMAG costs more than the one sale.
- So the job is not just moving data. It is moving it once, keeping stock honest, and being careful with paid orders.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picture: orders come in from both channels as they happen. The glue reserves each one at the warehouse exactly once.
- After every change it pushes the warehouse's true figure back to both channels, and it repeats that every 10 seconds so drift heals on its own.
- Duplicates, outages and slow systems are handled without anyone watching.
- When it cannot decide safely, for example the warehouse refuses an order a customer already paid for, it does not guess. It puts the order in a review queue with the reason, and a person picks.
- Those three promises are what the rest of the talk backs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Four services from one Docker image: the three mocks and the glue, plus the Ollama container for the local model.
- The glue is one FastAPI process with one SQLite file. Inside, the work is split so each job has exactly one owner.
- Inbox: checks the HMAC signature and the schema, saves the event and answers 202. Nothing is processed inside the request, so nothing is lost if processing fails.
- Worker: claims pending events, up to 10 at a time, and runs events for the same order one at a time.
- Router: the only code that changes an order's status. Reconciler: the only code that pushes stock. One retry policy wraps every outbound call.
- Review queue: what the glue will not decide alone. Audit log: one row per step with a correlation id, mirrored as a JSON log line.
- The React dashboard is built once and served by the same FastAPI process over a JSON API with sessions, roles and a CSRF header.
- The warehouse owns the truth. The channels only show what the glue last told them.
- Detailed diagrams (component map, both order sequences, the oversell, order and review item states) are in docs/presentation/diagrams and docs/architecture.md.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Python and FastAPI: one language everywhere, and pydantic models validate every inbound payload strictly at the edge.
- httpx: explicit timeouts on every call, and its ASGI transport lets the tests run all four apps in one process with no network.
- SQLite: the glue needs durability more than throughput. The inbox, orders and audit log survive restarts with no extra service. The schema is versioned with PRAGMA user_version and an ordered list of migrations.
- React and TypeScript: the dashboard is the operator's product, with live views, so a typed SPA is worth it. TanStack Query does the polling and caching, Recharts the Flow charts, cmdk the command palette.
- Ollama through the OpenAI SDK: a local model, no key, no order data leaving the machine. The same SDK can point at a hosted model later.
- Not used, on purpose: a broker, Postgres, an ORM, websockets, a hosted model. Each has a clear trigger for when I would add it, which I cover on the scaling slide.
- Test counts are after the final fix wave, as in the README: 245 backend, 223 frontend.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shop, shaped like Adobe Commerce, sends order.placed with an event id and an HMAC signature. The inbox verifies it, validates it, saves it and answers 202.
- The worker claims pending events and takes a lock for that order id, so two events for the same order never run at the same time.
- The router reserves at the warehouse with the glue's order id as the Idempotency-Key. If the warehouse reserved but the reply was lost, the retry gets the first answer back.
- The middle row and the screenshot are the same pattern: the warehouse answers 503 with Retry-After 2, the glue waits exactly that, and every wait is a row in the order's history, in plain words.
- Three outcomes. 201: reserved and stock pushed. 409: the warehouse has none, so it goes to review as sold out. Still failing after 5 tries: review as a warehouse outage, which Retry, Retry all, or the auto-retry rule can clear once the warehouse answers. Only the warehouse not answering counts as an outage; a channel that ran out of tries is filed under other.
- The order in the screenshot was later given a suggestion, retried by admin and reserved, and its stock pushes follow on the same page.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warehouse owns stock. Its figure, on hand minus reserved, is the truth; the channels only show what the glue last told them.
- The reconciler runs at startup, every 10 seconds, after every reservation or cancellation, and on every recount event. Runs hold one lock, so a slower run cannot overwrite a newer figure.
- It pushes every product on every run, even when the cache says nothing changed. That costs a few calls and heals any drift: a missed event, a restarted channel, a rejected update.
- eMAG's batch API answers per item. In the table eMAG refused the MacBook Air update: that one row is marked dirty, the other five applied, and the next run fixes it. A rate limit (429 with Retry-After 1) works the same way after its retries.
- The Stock page shows what Glue last sent each channel and whether the channel accepted it. Honest limit: Glue knows what a channel accepted, not what it shows; reading eMAG's offers back during reconcile would close that.
- The stock buffer rule can hold units back from one channel, so the last unit sells on the shop only. It is off by default; it is a business decision.
- A recount below reserved caps both channels at 0. Glue works out how many units are short and sends only the newest reserved orders that cover the shortfall to review, under 'Shelf count too low'. A later count that covers them closes those items by itself. Retry is not offered there, because those orders still hold a reservation.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conflict that matters is the cross-channel oversell: both channels show the last unit for a moment and two customers pay for it.
- The rule is first to reach the warehouse wins. The warehouse's reservation is atomic, so exactly one order gets the unit and the other gets 409. Neither channel is preferred.
- The loser is a paid order. Cancelling it is a business decision: maybe stock arrives tomorrow, maybe the customer takes another model, and on eMAG the cancellation counts against the seller's rating.
- So the glue does the safe part: it reserves nothing it cannot fill, never offers below zero, acknowledges the order on eMAG because it exists there either way, and queues it with the reason.
- The card says what happened in plain words, what Glue saw, which order got the unit, and what each button will do. Cancel asks for a confirm first (Yes, cancel it). Actions depend on the order's state: Retry only from the state the failed step left it in, Cancel unless shipped or cancelled.
- Suggest an action asks the local model for a triage suggestion on this card. The rule is in code, the model writes the reason, and it never acts.
- Each decision is recorded under the signed-in user, and only operator and admin roles may decide.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model runs locally in Ollama: qwen2.5:3b, downloaded once in the background, about 2 GB. Everything else works while it downloads; on a fresh clone the Assistant page says 'Downloading the local model, about 2 GB, one time' with a progress bar, and the triage and ask buttons say why they wait.
- Each question starts with a block of live facts built in code: each system's state, what waits for a person by cause, the last hour's counts, a stock line for every product, and the orders that failed in the last hour. Then a tool loop over five read-only lookups: system health, a summary, the review items (their plain cause, never the stored reason text), one order with its timeline, and stock by product name. It runs at temperature 0, answers with product names and Bucharest time, and lists the lookups it used.
- Honest about quality: a 3B model is often vague and sometimes wrong. The common questions were right in the last measured runs; answers still vary a little between runs.
- Triage decides nothing and runs no tool loop. The rule is decided in code from the facts: for example, the warehouse is answering again, so retry; or the warehouse cannot cover this order, so cancel. The model only writes the explanation the operator reads.
- The suggestion is kept only if it is one of the actions the item allows, and dropped if the reasoning talks about a different order; sentences that name internal tools or fields are dropped too. It is stored on the item, audited as triage_suggested, and it never acts.
- Why a small local model: no key, no order data leaving the machine, no cost. The budgets exist for when this points at a paid model, and the daily budget follows the business day, so it resets at midnight in Bucharest. I would not lead with them.
- Would I ship it? As an explainer, yes. As a decider, no: a stronger model could be given the open choice later, still behind a person.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treated this like a small customer engagement. First the requirement, then a scenario I could defend: Adobe Commerce plus eMAG plus one warehouse, with the real delivery rules researched before writing code (at-least-once events, eMAG's acknowledge, batch results per item).
- Design first: HTML mockups of every dashboard screen and the three mocks were agreed before any code. They are the spec the UI was checked against.
- A written plan with small tasks and acceptance checks, sync core first. Each task was built, then reviewed by someone who had not written it, with fix rounds until the review came back clean.
- When the branch was feature-complete, an independent analysis looked at it fresh. It reproduced eight gaps in the sync core as failing tests: for example a ship notice with no retry path, a crash during a decision, stale review items, and an unsafe Retry-After. The hardening wave fixed each one test-first. The new load probe then found the worker loop capped at about 20 orders per second, which was fixed the same way.
- Then a final whole-branch review and a last fix wave: plain-word reasons everywhere, Bucharest business days, an outage cause that covers only the warehouse, auto-retry only for outage items, a confirm before cancelling. Then browser QA at several screen widths and a run from a fresh clone, including the first-run model download. 245 backend and 223 frontend tests at the end.
- A mutation check keeps the tests honest: 18 bugs planted one at a time (dedupe off, Retry-After uncapped, no per-order lock, event id left out of the signature, CSRF header not checked, and others), and the backend suite fails for each. The first version of that check missed two webhook rules; tests were added until every planted bug was caught.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Switch to the browser. Follow docs/presentation/demo-script.md: Glue at :8000 signed in as admin, shop :8001, marketplace :8002, warehouse :8003.
- Say what is about to break before clicking. Keep each step under its time.
- If anything misbehaves: Demo controls, Turn every fault off. For a clean start: docker compose down, then docker volume rm glueservice_glue-data, then up. Never down -v: it also deletes the downloaded model.
- After the demo, offer the code: glue/router.py for order states, glue/retry.py for the policy, glue/reconciler.py for stock, glue/review.py and glue/settle.py for the queue, tests/conftest.py for how the tests run all four apps in one process.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Three ways a glue service fails, and one answer each.</a:t>
            </a:r>
          </a:p>
          <a:p>
            <a:r>
              <a:t>- Retries: one policy for every outbound call. Five tries, exponential backoff with jitter, Retry-After parsed and capped at 30 s. Out of tries, the order becomes a review item, and Retry all or the auto-retry rule sends it again when the warehouse is back.</a:t>
            </a:r>
          </a:p>
          <a:p>
            <a:r>
              <a:t>- Duplicates: three layers. The inbox is keyed by source and event id; the order id dedupes a redelivery under a new event id; the warehouse replays its first answer for a repeated Idempotency-Key. Exactly once across three systems is not possible; at-least-once plus idempotency gives effectively once.</a:t>
            </a:r>
          </a:p>
          <a:p>
            <a:r>
              <a:t>- Crashes: the crash-point test stops Glue before each of 132 writes in 11 flows, restarts it and checks five rules. 41 stops broke something before the fix: a failed order with no review item, a reservation with no audit row, a channel told twice. The fix: each state change, its audit row and its review item commit in one local transaction, never across an await.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Measured, not guessed: scripts/load_probe.py sends signed shop orders through the inbox and the real worker loop in-process on this laptop. About 527 orders/s with 10 worker slots; p50 0.31 s and p95 0.53 s at 300 orders, mostly queue wait. The first probe found the production loop capped at 20 orders/s because it slept whenever every slot was busy; the fix claims the next event as soon as a slot frees.</a:t>
            </a:r>
          </a:p>
          <a:p>
            <a:r>
              <a:t>On-call reads /metrics, which needs a signed-in viewer; /health stays a liveness check. The gauges say whether the worker keeps up, whether a paid order waits for a person, and whether stock is fresh. The first real limit is eMAG's rate limit; next steps are coalesced pushes, a circuit breaker, then Postgres with SKIP LOCKED and workers partitioned by order id.</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Four trade-offs I would defend: SQLite and one process (one writer; Postgres is a one-file move because all SQL is in glue/db.py), first to the warehouse wins (simple and atomic, but it does not protect eMAG's rating, so a person decides), a person in the loop (someone must own the queue), and mocks instead of sandboxes (real API quirks are untested).</a:t>
            </a:r>
          </a:p>
          <a:p>
            <a:r>
              <a:t>Rollout: shadow mode first, receiving and reading everything and sending nothing, compared daily with the staff's work; then shop stock, then eMAG stock, then orders. About a week per stage. Shadow mode and the stage switches are not built yet: each is a flag checked before Glue calls a system. Success after 30 days is measured, not felt. Full limitations are in the README; what the customer provides is in docs/customer-context.md.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10698480" cy="914400"/>
          </a:xfrm>
          <a:prstGeom prst="rect">
            <a:avLst/>
          </a:prstGeom>
          <a:noFill/>
          <a:ln/>
        </p:spPr>
        <p:txBody>
          <a:bodyPr wrap="square" rtlCol="0"/>
          <a:lstStyle>
            <a:lvl1pPr marL="0" indent="0" algn="l">
              <a:buNone/>
              <a:defRPr lang="en-US" sz="4800" b="1" dirty="0">
                <a:solidFill>
                  <a:schemeClr val="tx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194560"/>
            <a:ext cx="8778240" cy="822960"/>
          </a:xfrm>
          <a:prstGeom prst="rect">
            <a:avLst/>
          </a:prstGeom>
          <a:noFill/>
          <a:ln/>
        </p:spPr>
        <p:txBody>
          <a:bodyPr wrap="square" rtlCol="0"/>
          <a:lstStyle>
            <a:lvl1pPr marL="0" indent="0" algn="l">
              <a:buNone/>
              <a:defRPr lang="en-US" sz="2200" dirty="0">
                <a:solidFill>
                  <a:schemeClr val="tx2"/>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rtlCol="0"/>
          <a:lstStyle>
            <a:lvl1pPr marL="0" indent="0" algn="l">
              <a:buNone/>
              <a:defRPr lang="en-US" sz="1100" b="1" dirty="0">
                <a:solidFill>
                  <a:schemeClr val="tx2"/>
                </a:solidFill>
                <a:latin typeface="Courier New" pitchFamily="34" charset="0"/>
                <a:ea typeface="Courier New" pitchFamily="34" charset="-122"/>
                <a:cs typeface="Courier New" pitchFamily="34" charset="-120"/>
              </a:defRPr>
            </a:lvl1pPr>
          </a:lstStyle>
          <a:p>
            <a:pPr marL="0" indent="0" algn="l">
              <a:buNone/>
            </a:pP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p:nvPr/>
        </p:nvSpPr>
        <p:spPr>
          <a:xfrm>
            <a:off x="548640" y="6446520"/>
            <a:ext cx="3657600" cy="228600"/>
          </a:xfrm>
          <a:prstGeom prst="rect">
            <a:avLst/>
          </a:prstGeom>
          <a:noFill/>
          <a:ln/>
        </p:spPr>
        <p:txBody>
          <a:bodyPr wrap="square" lIns="0" tIns="0" rIns="0" bIns="0" rtlCol="0" anchor="ctr"/>
          <a:lstStyle/>
          <a:p>
            <a:pPr marL="0" indent="0">
              <a:buNone/>
            </a:pPr>
            <a:r>
              <a:rPr lang="en-US" sz="1000" dirty="0">
                <a:solidFill>
                  <a:srgbClr val="8A93A1"/>
                </a:solidFill>
              </a:rPr>
              <a:t>ADB Glue Service</a:t>
            </a:r>
            <a:endParaRPr lang="en-US" sz="1000" dirty="0"/>
          </a:p>
        </p:txBody>
      </p:sp>
      <p:sp>
        <p:nvSpPr>
          <p:cNvPr id="25"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68680"/>
            <a:ext cx="7315200" cy="237744"/>
          </a:xfrm>
          <a:prstGeom prst="rect">
            <a:avLst/>
          </a:prstGeom>
          <a:noFill/>
          <a:ln/>
        </p:spPr>
        <p:txBody>
          <a:bodyPr wrap="square" lIns="0" tIns="0" rIns="0" bIns="0" rtlCol="0" anchor="t"/>
          <a:lstStyle/>
          <a:p>
            <a:pPr marL="0" indent="0">
              <a:buNone/>
            </a:pPr>
            <a:r>
              <a:rPr lang="en-US" sz="1100" b="1" dirty="0">
                <a:solidFill>
                  <a:schemeClr val="tx2"/>
                </a:solidFill>
                <a:latin typeface="Courier New" pitchFamily="34" charset="0"/>
                <a:ea typeface="Courier New" pitchFamily="34" charset="-122"/>
                <a:cs typeface="Courier New" pitchFamily="34" charset="-120"/>
              </a:rPr>
              <a:t>OCTOBER 2026</a:t>
            </a:r>
            <a:endParaRPr lang="en-US" sz="1100" dirty="0"/>
          </a:p>
        </p:txBody>
      </p:sp>
      <p:sp>
        <p:nvSpPr>
          <p:cNvPr id="3" name="Text 0"/>
          <p:cNvSpPr>
            <a:spLocks noGrp="1"/>
          </p:cNvSpPr>
          <p:nvPr>
            <p:ph type="title" idx="100" hasCustomPrompt="1"/>
          </p:nvPr>
        </p:nvSpPr>
        <p:spPr>
          <a:xfrm>
            <a:off x="731520" y="1234440"/>
            <a:ext cx="10698480" cy="914400"/>
          </a:xfrm>
          <a:prstGeom prst="rect">
            <a:avLst/>
          </a:prstGeom>
          <a:noFill/>
          <a:ln/>
        </p:spPr>
        <p:txBody>
          <a:bodyPr wrap="square" lIns="0" tIns="0" rIns="0" bIns="0" rtlCol="0" anchor="t"/>
          <a:lstStyle/>
          <a:p>
            <a:pPr marL="0" indent="0" algn="l">
              <a:buNone/>
            </a:pPr>
            <a:r>
              <a:rPr lang="en-US" sz="4800" b="1" dirty="0">
                <a:solidFill>
                  <a:schemeClr val="tx1"/>
                </a:solidFill>
              </a:rPr>
              <a:t>ADB Glue Service</a:t>
            </a:r>
            <a:endParaRPr lang="en-US" sz="4800" dirty="0"/>
          </a:p>
        </p:txBody>
      </p:sp>
      <p:sp>
        <p:nvSpPr>
          <p:cNvPr id="4" name="Text 0"/>
          <p:cNvSpPr>
            <a:spLocks noGrp="1"/>
          </p:cNvSpPr>
          <p:nvPr>
            <p:ph type="body" idx="101" hasCustomPrompt="1"/>
          </p:nvPr>
        </p:nvSpPr>
        <p:spPr>
          <a:xfrm>
            <a:off x="731520" y="2194560"/>
            <a:ext cx="8778240" cy="822960"/>
          </a:xfrm>
          <a:prstGeom prst="rect">
            <a:avLst/>
          </a:prstGeom>
          <a:noFill/>
          <a:ln/>
        </p:spPr>
        <p:txBody>
          <a:bodyPr wrap="square" lIns="0" tIns="0" rIns="0" bIns="0" rtlCol="0" anchor="t"/>
          <a:lstStyle/>
          <a:p>
            <a:pPr marL="0" indent="0" algn="l">
              <a:buNone/>
            </a:pPr>
            <a:r>
              <a:rPr lang="en-US" sz="2200" dirty="0">
                <a:solidFill>
                  <a:schemeClr val="tx2"/>
                </a:solidFill>
              </a:rPr>
              <a:t>Orders and true stock between an Adobe Commerce shop, eMAG and one warehouse</a:t>
            </a:r>
            <a:endParaRPr lang="en-US" sz="2200" dirty="0"/>
          </a:p>
        </p:txBody>
      </p:sp>
      <p:sp>
        <p:nvSpPr>
          <p:cNvPr id="5" name="Text 3"/>
          <p:cNvSpPr txBox="1"/>
          <p:nvPr/>
        </p:nvSpPr>
        <p:spPr>
          <a:xfrm>
            <a:off x="731520" y="3026665"/>
            <a:ext cx="5486400" cy="548640"/>
          </a:xfrm>
          <a:prstGeom prst="rect">
            <a:avLst/>
          </a:prstGeom>
          <a:noFill/>
          <a:ln/>
        </p:spPr>
        <p:txBody>
          <a:bodyPr wrap="square" lIns="0" tIns="0" rIns="0" bIns="0" rtlCol="0" anchor="t"/>
          <a:lstStyle/>
          <a:p>
            <a:pPr marL="0" indent="0">
              <a:buNone/>
            </a:pPr>
            <a:r>
              <a:rPr lang="en-US" sz="1500" b="1" dirty="0">
                <a:solidFill>
                  <a:schemeClr val="tx1"/>
                </a:solidFill>
              </a:rPr>
              <a:t>Pantelimon Gulie</a:t>
            </a:r>
            <a:endParaRPr lang="en-US" sz="1500" dirty="0"/>
          </a:p>
          <a:p>
            <a:r>
              <a:rPr lang="en-US" sz="1500" dirty="0">
                <a:solidFill>
                  <a:schemeClr val="tx2"/>
                </a:solidFill>
              </a:rPr>
              <a:t>Senior Forward Deployed Engineer</a:t>
            </a:r>
            <a:endParaRPr lang="en-US" sz="1500" dirty="0"/>
          </a:p>
        </p:txBody>
      </p:sp>
      <p:sp>
        <p:nvSpPr>
          <p:cNvPr id="6" name="shop"/>
          <p:cNvSpPr/>
          <p:nvPr/>
        </p:nvSpPr>
        <p:spPr>
          <a:xfrm>
            <a:off x="731520" y="4160520"/>
            <a:ext cx="2377440" cy="896112"/>
          </a:xfrm>
          <a:prstGeom prst="rect">
            <a:avLst/>
          </a:prstGeom>
          <a:solidFill>
            <a:schemeClr val="bg1"/>
          </a:solidFill>
          <a:ln w="19050">
            <a:solidFill>
              <a:schemeClr val="accent2"/>
            </a:solidFill>
            <a:prstDash val="solid"/>
          </a:ln>
        </p:spPr>
        <p:txBody>
          <a:bodyPr/>
          <a:lstStyle/>
          <a:p>
            <a:endParaRPr lang="en-US"/>
          </a:p>
        </p:txBody>
      </p:sp>
      <p:sp>
        <p:nvSpPr>
          <p:cNvPr id="7" name="Text 5"/>
          <p:cNvSpPr txBox="1"/>
          <p:nvPr/>
        </p:nvSpPr>
        <p:spPr>
          <a:xfrm>
            <a:off x="877824" y="4279392"/>
            <a:ext cx="2103120" cy="201168"/>
          </a:xfrm>
          <a:prstGeom prst="rect">
            <a:avLst/>
          </a:prstGeom>
          <a:noFill/>
          <a:ln/>
        </p:spPr>
        <p:txBody>
          <a:bodyPr wrap="square" lIns="0" tIns="0" rIns="0" bIns="0" rtlCol="0" anchor="t"/>
          <a:lstStyle/>
          <a:p>
            <a:pPr marL="0" indent="0">
              <a:buNone/>
            </a:pPr>
            <a:r>
              <a:rPr lang="en-US" sz="1000" b="1" kern="0" spc="50" dirty="0">
                <a:solidFill>
                  <a:srgbClr val="8A5A12"/>
                </a:solidFill>
                <a:latin typeface="Courier New" pitchFamily="34" charset="0"/>
                <a:ea typeface="Courier New" pitchFamily="34" charset="-122"/>
                <a:cs typeface="Courier New" pitchFamily="34" charset="-120"/>
              </a:rPr>
              <a:t>SHOP · ADOBE COMMERCE</a:t>
            </a:r>
            <a:endParaRPr lang="en-US" sz="1000" dirty="0"/>
          </a:p>
        </p:txBody>
      </p:sp>
      <p:sp>
        <p:nvSpPr>
          <p:cNvPr id="8" name="Text 6"/>
          <p:cNvSpPr txBox="1"/>
          <p:nvPr/>
        </p:nvSpPr>
        <p:spPr>
          <a:xfrm>
            <a:off x="877824" y="4498848"/>
            <a:ext cx="2103120" cy="292608"/>
          </a:xfrm>
          <a:prstGeom prst="rect">
            <a:avLst/>
          </a:prstGeom>
          <a:noFill/>
          <a:ln/>
        </p:spPr>
        <p:txBody>
          <a:bodyPr wrap="square" lIns="0" tIns="0" rIns="0" bIns="0" rtlCol="0" anchor="t"/>
          <a:lstStyle/>
          <a:p>
            <a:pPr marL="0" indent="0">
              <a:buNone/>
            </a:pPr>
            <a:r>
              <a:rPr lang="en-US" sz="1500" b="1" dirty="0">
                <a:solidFill>
                  <a:schemeClr val="tx1"/>
                </a:solidFill>
              </a:rPr>
              <a:t>Electronic Market</a:t>
            </a:r>
            <a:endParaRPr lang="en-US" sz="1500" dirty="0"/>
          </a:p>
        </p:txBody>
      </p:sp>
      <p:sp>
        <p:nvSpPr>
          <p:cNvPr id="9" name="emag"/>
          <p:cNvSpPr/>
          <p:nvPr/>
        </p:nvSpPr>
        <p:spPr>
          <a:xfrm>
            <a:off x="731520" y="5303520"/>
            <a:ext cx="2377440" cy="896112"/>
          </a:xfrm>
          <a:prstGeom prst="rect">
            <a:avLst/>
          </a:prstGeom>
          <a:solidFill>
            <a:schemeClr val="bg1"/>
          </a:solidFill>
          <a:ln w="19050">
            <a:solidFill>
              <a:schemeClr val="accent3"/>
            </a:solidFill>
            <a:prstDash val="solid"/>
          </a:ln>
        </p:spPr>
        <p:txBody>
          <a:bodyPr/>
          <a:lstStyle/>
          <a:p>
            <a:endParaRPr lang="en-US"/>
          </a:p>
        </p:txBody>
      </p:sp>
      <p:sp>
        <p:nvSpPr>
          <p:cNvPr id="10" name="Text 8"/>
          <p:cNvSpPr txBox="1"/>
          <p:nvPr/>
        </p:nvSpPr>
        <p:spPr>
          <a:xfrm>
            <a:off x="877824" y="5422392"/>
            <a:ext cx="2103120" cy="201168"/>
          </a:xfrm>
          <a:prstGeom prst="rect">
            <a:avLst/>
          </a:prstGeom>
          <a:noFill/>
          <a:ln/>
        </p:spPr>
        <p:txBody>
          <a:bodyPr wrap="square" lIns="0" tIns="0" rIns="0" bIns="0" rtlCol="0" anchor="t"/>
          <a:lstStyle/>
          <a:p>
            <a:pPr marL="0" indent="0">
              <a:buNone/>
            </a:pPr>
            <a:r>
              <a:rPr lang="en-US" sz="1000" b="1" kern="0" spc="50" dirty="0">
                <a:solidFill>
                  <a:srgbClr val="5B2569"/>
                </a:solidFill>
                <a:latin typeface="Courier New" pitchFamily="34" charset="0"/>
                <a:ea typeface="Courier New" pitchFamily="34" charset="-122"/>
                <a:cs typeface="Courier New" pitchFamily="34" charset="-120"/>
              </a:rPr>
              <a:t>MARKETPLACE · EMAG</a:t>
            </a:r>
            <a:endParaRPr lang="en-US" sz="1000" dirty="0"/>
          </a:p>
        </p:txBody>
      </p:sp>
      <p:sp>
        <p:nvSpPr>
          <p:cNvPr id="11" name="Text 9"/>
          <p:cNvSpPr txBox="1"/>
          <p:nvPr/>
        </p:nvSpPr>
        <p:spPr>
          <a:xfrm>
            <a:off x="877824" y="5641848"/>
            <a:ext cx="2103120" cy="292608"/>
          </a:xfrm>
          <a:prstGeom prst="rect">
            <a:avLst/>
          </a:prstGeom>
          <a:noFill/>
          <a:ln/>
        </p:spPr>
        <p:txBody>
          <a:bodyPr wrap="square" lIns="0" tIns="0" rIns="0" bIns="0" rtlCol="0" anchor="t"/>
          <a:lstStyle/>
          <a:p>
            <a:pPr marL="0" indent="0">
              <a:buNone/>
            </a:pPr>
            <a:r>
              <a:rPr lang="en-US" sz="1500" b="1" dirty="0">
                <a:solidFill>
                  <a:schemeClr val="tx1"/>
                </a:solidFill>
              </a:rPr>
              <a:t>eMAG</a:t>
            </a:r>
            <a:endParaRPr lang="en-US" sz="1500" dirty="0"/>
          </a:p>
        </p:txBody>
      </p:sp>
      <p:sp>
        <p:nvSpPr>
          <p:cNvPr id="12" name="glue"/>
          <p:cNvSpPr/>
          <p:nvPr/>
        </p:nvSpPr>
        <p:spPr>
          <a:xfrm>
            <a:off x="4526280" y="4160520"/>
            <a:ext cx="3017520" cy="2039112"/>
          </a:xfrm>
          <a:prstGeom prst="rect">
            <a:avLst/>
          </a:prstGeom>
          <a:solidFill>
            <a:schemeClr val="tx1"/>
          </a:solidFill>
          <a:ln/>
        </p:spPr>
        <p:txBody>
          <a:bodyPr/>
          <a:lstStyle/>
          <a:p>
            <a:endParaRPr lang="en-US"/>
          </a:p>
        </p:txBody>
      </p:sp>
      <p:sp>
        <p:nvSpPr>
          <p:cNvPr id="13" name="Text 11"/>
          <p:cNvSpPr txBox="1"/>
          <p:nvPr/>
        </p:nvSpPr>
        <p:spPr>
          <a:xfrm>
            <a:off x="4709160" y="4297680"/>
            <a:ext cx="2651760" cy="201168"/>
          </a:xfrm>
          <a:prstGeom prst="rect">
            <a:avLst/>
          </a:prstGeom>
          <a:noFill/>
          <a:ln/>
        </p:spPr>
        <p:txBody>
          <a:bodyPr wrap="square" lIns="0" tIns="0" rIns="0" bIns="0" rtlCol="0" anchor="t"/>
          <a:lstStyle/>
          <a:p>
            <a:pPr marL="0" indent="0">
              <a:buNone/>
            </a:pPr>
            <a:r>
              <a:rPr lang="en-US" sz="1000" b="1" dirty="0">
                <a:solidFill>
                  <a:srgbClr val="A3ABB8"/>
                </a:solidFill>
                <a:latin typeface="Courier New" pitchFamily="34" charset="0"/>
                <a:ea typeface="Courier New" pitchFamily="34" charset="-122"/>
                <a:cs typeface="Courier New" pitchFamily="34" charset="-120"/>
              </a:rPr>
              <a:t>GLUE</a:t>
            </a:r>
            <a:endParaRPr lang="en-US" sz="1000" dirty="0"/>
          </a:p>
        </p:txBody>
      </p:sp>
      <p:sp>
        <p:nvSpPr>
          <p:cNvPr id="14" name="Text 12"/>
          <p:cNvSpPr txBox="1"/>
          <p:nvPr/>
        </p:nvSpPr>
        <p:spPr>
          <a:xfrm>
            <a:off x="4709160" y="4617720"/>
            <a:ext cx="2697480" cy="1371600"/>
          </a:xfrm>
          <a:prstGeom prst="rect">
            <a:avLst/>
          </a:prstGeom>
          <a:noFill/>
          <a:ln/>
        </p:spPr>
        <p:txBody>
          <a:bodyPr wrap="square" lIns="0" tIns="0" rIns="0" bIns="0" rtlCol="0" anchor="t"/>
          <a:lstStyle/>
          <a:p>
            <a:pPr marL="0" indent="0">
              <a:buNone/>
            </a:pPr>
            <a:r>
              <a:rPr lang="en-US" sz="1700" b="1" dirty="0">
                <a:solidFill>
                  <a:schemeClr val="bg1"/>
                </a:solidFill>
              </a:rPr>
              <a:t>Every order once.</a:t>
            </a:r>
            <a:endParaRPr lang="en-US" sz="1700" dirty="0"/>
          </a:p>
          <a:p>
            <a:pPr marL="0" indent="0">
              <a:buNone/>
            </a:pPr>
            <a:r>
              <a:rPr lang="en-US" sz="1700" b="1" dirty="0">
                <a:solidFill>
                  <a:schemeClr val="bg1"/>
                </a:solidFill>
              </a:rPr>
              <a:t>True stock back.</a:t>
            </a:r>
            <a:endParaRPr lang="en-US" sz="1700" dirty="0"/>
          </a:p>
          <a:p>
            <a:pPr marL="0" indent="0">
              <a:buNone/>
            </a:pPr>
            <a:r>
              <a:rPr lang="en-US" sz="1700" b="1" dirty="0">
                <a:solidFill>
                  <a:schemeClr val="bg1"/>
                </a:solidFill>
              </a:rPr>
              <a:t>A person for the rest.</a:t>
            </a:r>
            <a:endParaRPr lang="en-US" sz="1700" dirty="0"/>
          </a:p>
        </p:txBody>
      </p:sp>
      <p:sp>
        <p:nvSpPr>
          <p:cNvPr id="15" name="warehouse"/>
          <p:cNvSpPr/>
          <p:nvPr/>
        </p:nvSpPr>
        <p:spPr>
          <a:xfrm>
            <a:off x="8961120" y="4736592"/>
            <a:ext cx="2496312" cy="896112"/>
          </a:xfrm>
          <a:prstGeom prst="rect">
            <a:avLst/>
          </a:prstGeom>
          <a:solidFill>
            <a:schemeClr val="bg1"/>
          </a:solidFill>
          <a:ln w="19050">
            <a:solidFill>
              <a:schemeClr val="accent4"/>
            </a:solidFill>
            <a:prstDash val="solid"/>
          </a:ln>
        </p:spPr>
        <p:txBody>
          <a:bodyPr/>
          <a:lstStyle/>
          <a:p>
            <a:endParaRPr lang="en-US"/>
          </a:p>
        </p:txBody>
      </p:sp>
      <p:sp>
        <p:nvSpPr>
          <p:cNvPr id="16" name="Text 14"/>
          <p:cNvSpPr txBox="1"/>
          <p:nvPr/>
        </p:nvSpPr>
        <p:spPr>
          <a:xfrm>
            <a:off x="9107424" y="4855464"/>
            <a:ext cx="2221992" cy="201168"/>
          </a:xfrm>
          <a:prstGeom prst="rect">
            <a:avLst/>
          </a:prstGeom>
          <a:noFill/>
          <a:ln/>
        </p:spPr>
        <p:txBody>
          <a:bodyPr wrap="square" lIns="0" tIns="0" rIns="0" bIns="0" rtlCol="0" anchor="t"/>
          <a:lstStyle/>
          <a:p>
            <a:pPr marL="0" indent="0">
              <a:buNone/>
            </a:pPr>
            <a:r>
              <a:rPr lang="en-US" sz="1000" b="1" kern="0" spc="50" dirty="0">
                <a:solidFill>
                  <a:srgbClr val="7A4E22"/>
                </a:solidFill>
                <a:latin typeface="Courier New" pitchFamily="34" charset="0"/>
                <a:ea typeface="Courier New" pitchFamily="34" charset="-122"/>
                <a:cs typeface="Courier New" pitchFamily="34" charset="-120"/>
              </a:rPr>
              <a:t>WAREHOUSE</a:t>
            </a:r>
            <a:endParaRPr lang="en-US" sz="1000" dirty="0"/>
          </a:p>
        </p:txBody>
      </p:sp>
      <p:sp>
        <p:nvSpPr>
          <p:cNvPr id="17" name="Text 15"/>
          <p:cNvSpPr txBox="1"/>
          <p:nvPr/>
        </p:nvSpPr>
        <p:spPr>
          <a:xfrm>
            <a:off x="9107424" y="5074920"/>
            <a:ext cx="2221992" cy="292608"/>
          </a:xfrm>
          <a:prstGeom prst="rect">
            <a:avLst/>
          </a:prstGeom>
          <a:noFill/>
          <a:ln/>
        </p:spPr>
        <p:txBody>
          <a:bodyPr wrap="square" lIns="0" tIns="0" rIns="0" bIns="0" rtlCol="0" anchor="t"/>
          <a:lstStyle/>
          <a:p>
            <a:pPr marL="0" indent="0">
              <a:buNone/>
            </a:pPr>
            <a:r>
              <a:rPr lang="en-US" sz="1400" b="1" dirty="0">
                <a:solidFill>
                  <a:schemeClr val="tx1"/>
                </a:solidFill>
              </a:rPr>
              <a:t>Bucharest warehouse</a:t>
            </a:r>
            <a:endParaRPr lang="en-US" sz="1400" dirty="0"/>
          </a:p>
        </p:txBody>
      </p:sp>
      <p:sp>
        <p:nvSpPr>
          <p:cNvPr id="18" name="Shape 16"/>
          <p:cNvSpPr/>
          <p:nvPr/>
        </p:nvSpPr>
        <p:spPr>
          <a:xfrm>
            <a:off x="3108960" y="4608576"/>
            <a:ext cx="1417320" cy="0"/>
          </a:xfrm>
          <a:prstGeom prst="line">
            <a:avLst/>
          </a:prstGeom>
          <a:noFill/>
          <a:ln w="15875">
            <a:solidFill>
              <a:schemeClr val="tx1"/>
            </a:solidFill>
            <a:prstDash val="solid"/>
            <a:headEnd type="triangle"/>
            <a:tailEnd type="triangle"/>
          </a:ln>
        </p:spPr>
        <p:txBody>
          <a:bodyPr/>
          <a:lstStyle/>
          <a:p>
            <a:endParaRPr lang="en-US"/>
          </a:p>
        </p:txBody>
      </p:sp>
      <p:sp>
        <p:nvSpPr>
          <p:cNvPr id="19" name="Shape 17"/>
          <p:cNvSpPr/>
          <p:nvPr/>
        </p:nvSpPr>
        <p:spPr>
          <a:xfrm>
            <a:off x="3108960" y="5751576"/>
            <a:ext cx="1417320" cy="0"/>
          </a:xfrm>
          <a:prstGeom prst="line">
            <a:avLst/>
          </a:prstGeom>
          <a:noFill/>
          <a:ln w="15875">
            <a:solidFill>
              <a:schemeClr val="tx1"/>
            </a:solidFill>
            <a:prstDash val="solid"/>
            <a:headEnd type="triangle"/>
            <a:tailEnd type="triangle"/>
          </a:ln>
        </p:spPr>
        <p:txBody>
          <a:bodyPr/>
          <a:lstStyle/>
          <a:p>
            <a:endParaRPr lang="en-US"/>
          </a:p>
        </p:txBody>
      </p:sp>
      <p:sp>
        <p:nvSpPr>
          <p:cNvPr id="20" name="Shape 18"/>
          <p:cNvSpPr/>
          <p:nvPr/>
        </p:nvSpPr>
        <p:spPr>
          <a:xfrm>
            <a:off x="7543800" y="5184648"/>
            <a:ext cx="1417320" cy="0"/>
          </a:xfrm>
          <a:prstGeom prst="line">
            <a:avLst/>
          </a:prstGeom>
          <a:noFill/>
          <a:ln w="15875">
            <a:solidFill>
              <a:schemeClr val="tx1"/>
            </a:solidFill>
            <a:prstDash val="solid"/>
            <a:headEnd type="triangle"/>
            <a:tailEnd type="triangle"/>
          </a:ln>
        </p:spPr>
        <p:txBody>
          <a:bodyPr/>
          <a:lstStyle/>
          <a:p>
            <a:endParaRPr lang="en-US"/>
          </a:p>
        </p:txBody>
      </p:sp>
      <p:sp>
        <p:nvSpPr>
          <p:cNvPr id="21" name="Text 19"/>
          <p:cNvSpPr txBox="1"/>
          <p:nvPr/>
        </p:nvSpPr>
        <p:spPr>
          <a:xfrm>
            <a:off x="3108960" y="4389120"/>
            <a:ext cx="141732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ORDERS · STOCK</a:t>
            </a:r>
            <a:endParaRPr lang="en-US" sz="1000" dirty="0"/>
          </a:p>
        </p:txBody>
      </p:sp>
      <p:sp>
        <p:nvSpPr>
          <p:cNvPr id="22" name="Text 20"/>
          <p:cNvSpPr txBox="1"/>
          <p:nvPr/>
        </p:nvSpPr>
        <p:spPr>
          <a:xfrm>
            <a:off x="3108960" y="5532120"/>
            <a:ext cx="141732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ORDERS · STOCK</a:t>
            </a:r>
            <a:endParaRPr lang="en-US" sz="1000" dirty="0"/>
          </a:p>
        </p:txBody>
      </p:sp>
      <p:sp>
        <p:nvSpPr>
          <p:cNvPr id="23" name="Text 21"/>
          <p:cNvSpPr txBox="1"/>
          <p:nvPr/>
        </p:nvSpPr>
        <p:spPr>
          <a:xfrm>
            <a:off x="7543800" y="4965192"/>
            <a:ext cx="141732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RESERVE · STOCK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CONTEXT</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The customer and the problem</a:t>
            </a:r>
            <a:endParaRPr lang="en-US" sz="3200" dirty="0"/>
          </a:p>
        </p:txBody>
      </p:sp>
      <p:sp>
        <p:nvSpPr>
          <p:cNvPr id="4" name="Text 2"/>
          <p:cNvSpPr txBox="1"/>
          <p:nvPr/>
        </p:nvSpPr>
        <p:spPr>
          <a:xfrm>
            <a:off x="548640" y="1417320"/>
            <a:ext cx="11094415" cy="548640"/>
          </a:xfrm>
          <a:prstGeom prst="rect">
            <a:avLst/>
          </a:prstGeom>
          <a:noFill/>
          <a:ln/>
        </p:spPr>
        <p:txBody>
          <a:bodyPr wrap="square" lIns="0" tIns="0" rIns="0" bIns="0" rtlCol="0" anchor="t"/>
          <a:lstStyle/>
          <a:p>
            <a:pPr marL="0" indent="0">
              <a:buNone/>
            </a:pPr>
            <a:r>
              <a:rPr lang="en-US" sz="1600" dirty="0">
                <a:solidFill>
                  <a:srgbClr val="3D4552"/>
                </a:solidFill>
              </a:rPr>
              <a:t>A Romanian electronics reseller sells Apple products on its own Adobe Commerce shop and on the eMAG Marketplace. Both sell from one warehouse in Bucharest.</a:t>
            </a:r>
            <a:endParaRPr lang="en-US" sz="1600" dirty="0"/>
          </a:p>
        </p:txBody>
      </p:sp>
      <p:sp>
        <p:nvSpPr>
          <p:cNvPr id="5" name="Electronic Market"/>
          <p:cNvSpPr/>
          <p:nvPr/>
        </p:nvSpPr>
        <p:spPr>
          <a:xfrm>
            <a:off x="548640" y="2103120"/>
            <a:ext cx="2743200" cy="777240"/>
          </a:xfrm>
          <a:prstGeom prst="rect">
            <a:avLst/>
          </a:prstGeom>
          <a:solidFill>
            <a:schemeClr val="bg1"/>
          </a:solidFill>
          <a:ln w="19050">
            <a:solidFill>
              <a:schemeClr val="accent2"/>
            </a:solidFill>
            <a:prstDash val="solid"/>
          </a:ln>
        </p:spPr>
        <p:txBody>
          <a:bodyPr/>
          <a:lstStyle/>
          <a:p>
            <a:endParaRPr lang="en-US"/>
          </a:p>
        </p:txBody>
      </p:sp>
      <p:sp>
        <p:nvSpPr>
          <p:cNvPr id="6" name="Text 4"/>
          <p:cNvSpPr txBox="1"/>
          <p:nvPr/>
        </p:nvSpPr>
        <p:spPr>
          <a:xfrm>
            <a:off x="694944" y="2221992"/>
            <a:ext cx="2468880" cy="201168"/>
          </a:xfrm>
          <a:prstGeom prst="rect">
            <a:avLst/>
          </a:prstGeom>
          <a:noFill/>
          <a:ln/>
        </p:spPr>
        <p:txBody>
          <a:bodyPr wrap="square" lIns="0" tIns="0" rIns="0" bIns="0" rtlCol="0" anchor="t"/>
          <a:lstStyle/>
          <a:p>
            <a:pPr marL="0" indent="0">
              <a:buNone/>
            </a:pPr>
            <a:r>
              <a:rPr lang="en-US" sz="1000" b="1" kern="0" spc="50" dirty="0">
                <a:solidFill>
                  <a:srgbClr val="8A5A12"/>
                </a:solidFill>
                <a:latin typeface="Courier New" pitchFamily="34" charset="0"/>
                <a:ea typeface="Courier New" pitchFamily="34" charset="-122"/>
                <a:cs typeface="Courier New" pitchFamily="34" charset="-120"/>
              </a:rPr>
              <a:t>SHOP · ADOBE COMMERCE</a:t>
            </a:r>
            <a:endParaRPr lang="en-US" sz="1000" dirty="0"/>
          </a:p>
        </p:txBody>
      </p:sp>
      <p:sp>
        <p:nvSpPr>
          <p:cNvPr id="7" name="Text 5"/>
          <p:cNvSpPr txBox="1"/>
          <p:nvPr/>
        </p:nvSpPr>
        <p:spPr>
          <a:xfrm>
            <a:off x="694944" y="2441448"/>
            <a:ext cx="2468880" cy="292608"/>
          </a:xfrm>
          <a:prstGeom prst="rect">
            <a:avLst/>
          </a:prstGeom>
          <a:noFill/>
          <a:ln/>
        </p:spPr>
        <p:txBody>
          <a:bodyPr wrap="square" lIns="0" tIns="0" rIns="0" bIns="0" rtlCol="0" anchor="t"/>
          <a:lstStyle/>
          <a:p>
            <a:pPr marL="0" indent="0">
              <a:buNone/>
            </a:pPr>
            <a:r>
              <a:rPr lang="en-US" sz="1500" b="1" dirty="0">
                <a:solidFill>
                  <a:schemeClr val="tx1"/>
                </a:solidFill>
              </a:rPr>
              <a:t>Electronic Market</a:t>
            </a:r>
            <a:endParaRPr lang="en-US" sz="1500" dirty="0"/>
          </a:p>
        </p:txBody>
      </p:sp>
      <p:sp>
        <p:nvSpPr>
          <p:cNvPr id="8" name="Bucharest warehouse"/>
          <p:cNvSpPr/>
          <p:nvPr/>
        </p:nvSpPr>
        <p:spPr>
          <a:xfrm>
            <a:off x="4727448" y="2103120"/>
            <a:ext cx="2743200" cy="777240"/>
          </a:xfrm>
          <a:prstGeom prst="rect">
            <a:avLst/>
          </a:prstGeom>
          <a:solidFill>
            <a:schemeClr val="bg1"/>
          </a:solidFill>
          <a:ln w="19050">
            <a:solidFill>
              <a:schemeClr val="accent4"/>
            </a:solidFill>
            <a:prstDash val="solid"/>
          </a:ln>
        </p:spPr>
        <p:txBody>
          <a:bodyPr/>
          <a:lstStyle/>
          <a:p>
            <a:endParaRPr lang="en-US"/>
          </a:p>
        </p:txBody>
      </p:sp>
      <p:sp>
        <p:nvSpPr>
          <p:cNvPr id="9" name="Text 7"/>
          <p:cNvSpPr txBox="1"/>
          <p:nvPr/>
        </p:nvSpPr>
        <p:spPr>
          <a:xfrm>
            <a:off x="4873752" y="2221992"/>
            <a:ext cx="2468880" cy="201168"/>
          </a:xfrm>
          <a:prstGeom prst="rect">
            <a:avLst/>
          </a:prstGeom>
          <a:noFill/>
          <a:ln/>
        </p:spPr>
        <p:txBody>
          <a:bodyPr wrap="square" lIns="0" tIns="0" rIns="0" bIns="0" rtlCol="0" anchor="t"/>
          <a:lstStyle/>
          <a:p>
            <a:pPr marL="0" indent="0">
              <a:buNone/>
            </a:pPr>
            <a:r>
              <a:rPr lang="en-US" sz="1000" b="1" kern="0" spc="50" dirty="0">
                <a:solidFill>
                  <a:srgbClr val="7A4E22"/>
                </a:solidFill>
                <a:latin typeface="Courier New" pitchFamily="34" charset="0"/>
                <a:ea typeface="Courier New" pitchFamily="34" charset="-122"/>
                <a:cs typeface="Courier New" pitchFamily="34" charset="-120"/>
              </a:rPr>
              <a:t>WAREHOUSE</a:t>
            </a:r>
            <a:endParaRPr lang="en-US" sz="1000" dirty="0"/>
          </a:p>
        </p:txBody>
      </p:sp>
      <p:sp>
        <p:nvSpPr>
          <p:cNvPr id="10" name="Text 8"/>
          <p:cNvSpPr txBox="1"/>
          <p:nvPr/>
        </p:nvSpPr>
        <p:spPr>
          <a:xfrm>
            <a:off x="4873752" y="2441448"/>
            <a:ext cx="2468880" cy="292608"/>
          </a:xfrm>
          <a:prstGeom prst="rect">
            <a:avLst/>
          </a:prstGeom>
          <a:noFill/>
          <a:ln/>
        </p:spPr>
        <p:txBody>
          <a:bodyPr wrap="square" lIns="0" tIns="0" rIns="0" bIns="0" rtlCol="0" anchor="t"/>
          <a:lstStyle/>
          <a:p>
            <a:pPr marL="0" indent="0">
              <a:buNone/>
            </a:pPr>
            <a:r>
              <a:rPr lang="en-US" sz="1500" b="1" dirty="0">
                <a:solidFill>
                  <a:schemeClr val="tx1"/>
                </a:solidFill>
              </a:rPr>
              <a:t>Bucharest warehouse</a:t>
            </a:r>
            <a:endParaRPr lang="en-US" sz="1500" dirty="0"/>
          </a:p>
        </p:txBody>
      </p:sp>
      <p:sp>
        <p:nvSpPr>
          <p:cNvPr id="11" name="eMAG"/>
          <p:cNvSpPr/>
          <p:nvPr/>
        </p:nvSpPr>
        <p:spPr>
          <a:xfrm>
            <a:off x="8897112" y="2103120"/>
            <a:ext cx="2743200" cy="777240"/>
          </a:xfrm>
          <a:prstGeom prst="rect">
            <a:avLst/>
          </a:prstGeom>
          <a:solidFill>
            <a:schemeClr val="bg1"/>
          </a:solidFill>
          <a:ln w="19050">
            <a:solidFill>
              <a:schemeClr val="accent3"/>
            </a:solidFill>
            <a:prstDash val="solid"/>
          </a:ln>
        </p:spPr>
        <p:txBody>
          <a:bodyPr/>
          <a:lstStyle/>
          <a:p>
            <a:endParaRPr lang="en-US"/>
          </a:p>
        </p:txBody>
      </p:sp>
      <p:sp>
        <p:nvSpPr>
          <p:cNvPr id="12" name="Text 10"/>
          <p:cNvSpPr txBox="1"/>
          <p:nvPr/>
        </p:nvSpPr>
        <p:spPr>
          <a:xfrm>
            <a:off x="9043416" y="2221992"/>
            <a:ext cx="2468880" cy="201168"/>
          </a:xfrm>
          <a:prstGeom prst="rect">
            <a:avLst/>
          </a:prstGeom>
          <a:noFill/>
          <a:ln/>
        </p:spPr>
        <p:txBody>
          <a:bodyPr wrap="square" lIns="0" tIns="0" rIns="0" bIns="0" rtlCol="0" anchor="t"/>
          <a:lstStyle/>
          <a:p>
            <a:pPr marL="0" indent="0">
              <a:buNone/>
            </a:pPr>
            <a:r>
              <a:rPr lang="en-US" sz="1000" b="1" kern="0" spc="50" dirty="0">
                <a:solidFill>
                  <a:srgbClr val="5B2569"/>
                </a:solidFill>
                <a:latin typeface="Courier New" pitchFamily="34" charset="0"/>
                <a:ea typeface="Courier New" pitchFamily="34" charset="-122"/>
                <a:cs typeface="Courier New" pitchFamily="34" charset="-120"/>
              </a:rPr>
              <a:t>MARKETPLACE · EMAG</a:t>
            </a:r>
            <a:endParaRPr lang="en-US" sz="1000" dirty="0"/>
          </a:p>
        </p:txBody>
      </p:sp>
      <p:sp>
        <p:nvSpPr>
          <p:cNvPr id="13" name="Text 11"/>
          <p:cNvSpPr txBox="1"/>
          <p:nvPr/>
        </p:nvSpPr>
        <p:spPr>
          <a:xfrm>
            <a:off x="9043416" y="2441448"/>
            <a:ext cx="2468880" cy="292608"/>
          </a:xfrm>
          <a:prstGeom prst="rect">
            <a:avLst/>
          </a:prstGeom>
          <a:noFill/>
          <a:ln/>
        </p:spPr>
        <p:txBody>
          <a:bodyPr wrap="square" lIns="0" tIns="0" rIns="0" bIns="0" rtlCol="0" anchor="t"/>
          <a:lstStyle/>
          <a:p>
            <a:pPr marL="0" indent="0">
              <a:buNone/>
            </a:pPr>
            <a:r>
              <a:rPr lang="en-US" sz="1500" b="1" dirty="0">
                <a:solidFill>
                  <a:schemeClr val="tx1"/>
                </a:solidFill>
              </a:rPr>
              <a:t>eMAG</a:t>
            </a:r>
            <a:endParaRPr lang="en-US" sz="1500" dirty="0"/>
          </a:p>
        </p:txBody>
      </p:sp>
      <p:sp>
        <p:nvSpPr>
          <p:cNvPr id="14" name="Shape 12"/>
          <p:cNvSpPr/>
          <p:nvPr/>
        </p:nvSpPr>
        <p:spPr>
          <a:xfrm>
            <a:off x="3364992" y="2615184"/>
            <a:ext cx="1289304" cy="0"/>
          </a:xfrm>
          <a:prstGeom prst="line">
            <a:avLst/>
          </a:prstGeom>
          <a:noFill/>
          <a:ln w="15875">
            <a:solidFill>
              <a:schemeClr val="tx2"/>
            </a:solidFill>
            <a:prstDash val="dash"/>
            <a:headEnd type="triangle"/>
            <a:tailEnd type="triangle"/>
          </a:ln>
        </p:spPr>
        <p:txBody>
          <a:bodyPr/>
          <a:lstStyle/>
          <a:p>
            <a:endParaRPr lang="en-US"/>
          </a:p>
        </p:txBody>
      </p:sp>
      <p:sp>
        <p:nvSpPr>
          <p:cNvPr id="15" name="Text 13"/>
          <p:cNvSpPr txBox="1"/>
          <p:nvPr/>
        </p:nvSpPr>
        <p:spPr>
          <a:xfrm>
            <a:off x="3291840" y="2176272"/>
            <a:ext cx="1435608" cy="182880"/>
          </a:xfrm>
          <a:prstGeom prst="rect">
            <a:avLst/>
          </a:prstGeom>
          <a:noFill/>
          <a:ln/>
        </p:spPr>
        <p:txBody>
          <a:bodyPr wrap="square" lIns="0" tIns="0" rIns="0" bIns="0" rtlCol="0" anchor="ctr"/>
          <a:lstStyle/>
          <a:p>
            <a:pPr marL="0" indent="0" algn="ctr">
              <a:buNone/>
            </a:pPr>
            <a:r>
              <a:rPr lang="en-US" sz="1000" b="1" dirty="0">
                <a:solidFill>
                  <a:schemeClr val="accent5"/>
                </a:solidFill>
                <a:latin typeface="Courier New" pitchFamily="34" charset="0"/>
                <a:ea typeface="Courier New" pitchFamily="34" charset="-122"/>
                <a:cs typeface="Courier New" pitchFamily="34" charset="-120"/>
              </a:rPr>
              <a:t>BY HAND</a:t>
            </a:r>
            <a:endParaRPr lang="en-US" sz="1000" dirty="0"/>
          </a:p>
        </p:txBody>
      </p:sp>
      <p:sp>
        <p:nvSpPr>
          <p:cNvPr id="16" name="Text 14"/>
          <p:cNvSpPr txBox="1"/>
          <p:nvPr/>
        </p:nvSpPr>
        <p:spPr>
          <a:xfrm>
            <a:off x="3291840" y="2359152"/>
            <a:ext cx="1435608"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A FEW TIMES A DAY</a:t>
            </a:r>
            <a:endParaRPr lang="en-US" sz="1000" dirty="0"/>
          </a:p>
        </p:txBody>
      </p:sp>
      <p:sp>
        <p:nvSpPr>
          <p:cNvPr id="17" name="Shape 15"/>
          <p:cNvSpPr/>
          <p:nvPr/>
        </p:nvSpPr>
        <p:spPr>
          <a:xfrm>
            <a:off x="7543800" y="2615184"/>
            <a:ext cx="1289304" cy="0"/>
          </a:xfrm>
          <a:prstGeom prst="line">
            <a:avLst/>
          </a:prstGeom>
          <a:noFill/>
          <a:ln w="15875">
            <a:solidFill>
              <a:schemeClr val="tx2"/>
            </a:solidFill>
            <a:prstDash val="dash"/>
            <a:headEnd type="triangle"/>
            <a:tailEnd type="triangle"/>
          </a:ln>
        </p:spPr>
        <p:txBody>
          <a:bodyPr/>
          <a:lstStyle/>
          <a:p>
            <a:endParaRPr lang="en-US"/>
          </a:p>
        </p:txBody>
      </p:sp>
      <p:sp>
        <p:nvSpPr>
          <p:cNvPr id="18" name="Text 16"/>
          <p:cNvSpPr txBox="1"/>
          <p:nvPr/>
        </p:nvSpPr>
        <p:spPr>
          <a:xfrm>
            <a:off x="7470648" y="2176272"/>
            <a:ext cx="1435608" cy="182880"/>
          </a:xfrm>
          <a:prstGeom prst="rect">
            <a:avLst/>
          </a:prstGeom>
          <a:noFill/>
          <a:ln/>
        </p:spPr>
        <p:txBody>
          <a:bodyPr wrap="square" lIns="0" tIns="0" rIns="0" bIns="0" rtlCol="0" anchor="ctr"/>
          <a:lstStyle/>
          <a:p>
            <a:pPr marL="0" indent="0" algn="ctr">
              <a:buNone/>
            </a:pPr>
            <a:r>
              <a:rPr lang="en-US" sz="1000" b="1" dirty="0">
                <a:solidFill>
                  <a:schemeClr val="accent5"/>
                </a:solidFill>
                <a:latin typeface="Courier New" pitchFamily="34" charset="0"/>
                <a:ea typeface="Courier New" pitchFamily="34" charset="-122"/>
                <a:cs typeface="Courier New" pitchFamily="34" charset="-120"/>
              </a:rPr>
              <a:t>BY HAND</a:t>
            </a:r>
            <a:endParaRPr lang="en-US" sz="1000" dirty="0"/>
          </a:p>
        </p:txBody>
      </p:sp>
      <p:sp>
        <p:nvSpPr>
          <p:cNvPr id="19" name="Text 17"/>
          <p:cNvSpPr txBox="1"/>
          <p:nvPr/>
        </p:nvSpPr>
        <p:spPr>
          <a:xfrm>
            <a:off x="7470648" y="2359152"/>
            <a:ext cx="1435608"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A FEW TIMES A DAY</a:t>
            </a:r>
            <a:endParaRPr lang="en-US" sz="1000" dirty="0"/>
          </a:p>
        </p:txBody>
      </p:sp>
      <p:sp>
        <p:nvSpPr>
          <p:cNvPr id="20" name="Text 18"/>
          <p:cNvSpPr txBox="1"/>
          <p:nvPr/>
        </p:nvSpPr>
        <p:spPr>
          <a:xfrm>
            <a:off x="548640" y="3108960"/>
            <a:ext cx="11094415" cy="548640"/>
          </a:xfrm>
          <a:prstGeom prst="rect">
            <a:avLst/>
          </a:prstGeom>
          <a:noFill/>
          <a:ln/>
        </p:spPr>
        <p:txBody>
          <a:bodyPr wrap="square" lIns="0" tIns="0" rIns="0" bIns="0" rtlCol="0" anchor="t"/>
          <a:lstStyle/>
          <a:p>
            <a:pPr marL="0" indent="0">
              <a:buNone/>
            </a:pPr>
            <a:r>
              <a:rPr lang="en-US" sz="1600" dirty="0">
                <a:solidFill>
                  <a:schemeClr val="tx1"/>
                </a:solidFill>
              </a:rPr>
              <a:t>Today nothing connects the three. Staff copy orders into the warehouse system and type stock back into both channels. In between, the channels show stale stock.</a:t>
            </a:r>
            <a:endParaRPr lang="en-US" sz="1600" dirty="0"/>
          </a:p>
        </p:txBody>
      </p:sp>
      <p:sp>
        <p:nvSpPr>
          <p:cNvPr id="21" name="The last unit sells twice"/>
          <p:cNvSpPr/>
          <p:nvPr/>
        </p:nvSpPr>
        <p:spPr>
          <a:xfrm>
            <a:off x="548640" y="3886200"/>
            <a:ext cx="2651760" cy="2057400"/>
          </a:xfrm>
          <a:prstGeom prst="roundRect">
            <a:avLst>
              <a:gd name="adj" fmla="val 3556"/>
            </a:avLst>
          </a:prstGeom>
          <a:solidFill>
            <a:schemeClr val="bg1"/>
          </a:solidFill>
          <a:ln w="9525">
            <a:solidFill>
              <a:srgbClr val="E3E6EB"/>
            </a:solidFill>
            <a:prstDash val="solid"/>
          </a:ln>
        </p:spPr>
        <p:txBody>
          <a:bodyPr/>
          <a:lstStyle/>
          <a:p>
            <a:endParaRPr lang="en-US"/>
          </a:p>
        </p:txBody>
      </p:sp>
      <p:sp>
        <p:nvSpPr>
          <p:cNvPr id="22" name="Text 20"/>
          <p:cNvSpPr txBox="1"/>
          <p:nvPr/>
        </p:nvSpPr>
        <p:spPr>
          <a:xfrm>
            <a:off x="749808" y="4069080"/>
            <a:ext cx="2286000" cy="548640"/>
          </a:xfrm>
          <a:prstGeom prst="rect">
            <a:avLst/>
          </a:prstGeom>
          <a:noFill/>
          <a:ln/>
        </p:spPr>
        <p:txBody>
          <a:bodyPr wrap="square" lIns="0" tIns="0" rIns="0" bIns="0" rtlCol="0" anchor="t"/>
          <a:lstStyle/>
          <a:p>
            <a:pPr marL="0" indent="0">
              <a:buNone/>
            </a:pPr>
            <a:r>
              <a:rPr lang="en-US" sz="1700" b="1" dirty="0">
                <a:solidFill>
                  <a:schemeClr val="tx1"/>
                </a:solidFill>
              </a:rPr>
              <a:t>The last unit sells twice</a:t>
            </a:r>
            <a:endParaRPr lang="en-US" sz="1700" dirty="0"/>
          </a:p>
        </p:txBody>
      </p:sp>
      <p:sp>
        <p:nvSpPr>
          <p:cNvPr id="23" name="Text 21"/>
          <p:cNvSpPr txBox="1"/>
          <p:nvPr/>
        </p:nvSpPr>
        <p:spPr>
          <a:xfrm>
            <a:off x="749808" y="4645152"/>
            <a:ext cx="2286000" cy="1234440"/>
          </a:xfrm>
          <a:prstGeom prst="rect">
            <a:avLst/>
          </a:prstGeom>
          <a:noFill/>
          <a:ln/>
        </p:spPr>
        <p:txBody>
          <a:bodyPr wrap="square" lIns="0" tIns="0" rIns="0" bIns="0" rtlCol="0" anchor="t"/>
          <a:lstStyle/>
          <a:p>
            <a:pPr marL="0" indent="0">
              <a:buNone/>
            </a:pPr>
            <a:r>
              <a:rPr lang="en-US" sz="1400" dirty="0">
                <a:solidFill>
                  <a:schemeClr val="tx2"/>
                </a:solidFill>
              </a:rPr>
              <a:t>Both channels still show it for minutes. One customer has paid for something that does not exist.</a:t>
            </a:r>
            <a:endParaRPr lang="en-US" sz="1400" dirty="0"/>
          </a:p>
        </p:txBody>
      </p:sp>
      <p:sp>
        <p:nvSpPr>
          <p:cNvPr id="24" name="Orders missed or doubled"/>
          <p:cNvSpPr/>
          <p:nvPr/>
        </p:nvSpPr>
        <p:spPr>
          <a:xfrm>
            <a:off x="3383280" y="3886200"/>
            <a:ext cx="2651760" cy="2057400"/>
          </a:xfrm>
          <a:prstGeom prst="roundRect">
            <a:avLst>
              <a:gd name="adj" fmla="val 3556"/>
            </a:avLst>
          </a:prstGeom>
          <a:solidFill>
            <a:schemeClr val="bg1"/>
          </a:solidFill>
          <a:ln w="9525">
            <a:solidFill>
              <a:srgbClr val="E3E6EB"/>
            </a:solidFill>
            <a:prstDash val="solid"/>
          </a:ln>
        </p:spPr>
        <p:txBody>
          <a:bodyPr/>
          <a:lstStyle/>
          <a:p>
            <a:endParaRPr lang="en-US"/>
          </a:p>
        </p:txBody>
      </p:sp>
      <p:sp>
        <p:nvSpPr>
          <p:cNvPr id="25" name="Text 23"/>
          <p:cNvSpPr txBox="1"/>
          <p:nvPr/>
        </p:nvSpPr>
        <p:spPr>
          <a:xfrm>
            <a:off x="3584448" y="4069080"/>
            <a:ext cx="2286000" cy="548640"/>
          </a:xfrm>
          <a:prstGeom prst="rect">
            <a:avLst/>
          </a:prstGeom>
          <a:noFill/>
          <a:ln/>
        </p:spPr>
        <p:txBody>
          <a:bodyPr wrap="square" lIns="0" tIns="0" rIns="0" bIns="0" rtlCol="0" anchor="t"/>
          <a:lstStyle/>
          <a:p>
            <a:pPr marL="0" indent="0">
              <a:buNone/>
            </a:pPr>
            <a:r>
              <a:rPr lang="en-US" sz="1700" b="1" dirty="0">
                <a:solidFill>
                  <a:schemeClr val="tx1"/>
                </a:solidFill>
              </a:rPr>
              <a:t>Orders missed or doubled</a:t>
            </a:r>
            <a:endParaRPr lang="en-US" sz="1700" dirty="0"/>
          </a:p>
        </p:txBody>
      </p:sp>
      <p:sp>
        <p:nvSpPr>
          <p:cNvPr id="26" name="Text 24"/>
          <p:cNvSpPr txBox="1"/>
          <p:nvPr/>
        </p:nvSpPr>
        <p:spPr>
          <a:xfrm>
            <a:off x="3584448" y="4645152"/>
            <a:ext cx="2286000" cy="1234440"/>
          </a:xfrm>
          <a:prstGeom prst="rect">
            <a:avLst/>
          </a:prstGeom>
          <a:noFill/>
          <a:ln/>
        </p:spPr>
        <p:txBody>
          <a:bodyPr wrap="square" lIns="0" tIns="0" rIns="0" bIns="0" rtlCol="0" anchor="t"/>
          <a:lstStyle/>
          <a:p>
            <a:pPr marL="0" indent="0">
              <a:buNone/>
            </a:pPr>
            <a:r>
              <a:rPr lang="en-US" sz="1400" dirty="0">
                <a:solidFill>
                  <a:schemeClr val="tx2"/>
                </a:solidFill>
              </a:rPr>
              <a:t>eMAG orders typed in by hand get skipped or entered twice.</a:t>
            </a:r>
            <a:endParaRPr lang="en-US" sz="1400" dirty="0"/>
          </a:p>
        </p:txBody>
      </p:sp>
      <p:sp>
        <p:nvSpPr>
          <p:cNvPr id="27" name="Stock is stale"/>
          <p:cNvSpPr/>
          <p:nvPr/>
        </p:nvSpPr>
        <p:spPr>
          <a:xfrm>
            <a:off x="6217920" y="3886200"/>
            <a:ext cx="2651760" cy="2057400"/>
          </a:xfrm>
          <a:prstGeom prst="roundRect">
            <a:avLst>
              <a:gd name="adj" fmla="val 3556"/>
            </a:avLst>
          </a:prstGeom>
          <a:solidFill>
            <a:schemeClr val="bg1"/>
          </a:solidFill>
          <a:ln w="9525">
            <a:solidFill>
              <a:srgbClr val="E3E6EB"/>
            </a:solidFill>
            <a:prstDash val="solid"/>
          </a:ln>
        </p:spPr>
        <p:txBody>
          <a:bodyPr/>
          <a:lstStyle/>
          <a:p>
            <a:endParaRPr lang="en-US"/>
          </a:p>
        </p:txBody>
      </p:sp>
      <p:sp>
        <p:nvSpPr>
          <p:cNvPr id="28" name="Text 26"/>
          <p:cNvSpPr txBox="1"/>
          <p:nvPr/>
        </p:nvSpPr>
        <p:spPr>
          <a:xfrm>
            <a:off x="6419088" y="4069080"/>
            <a:ext cx="2286000" cy="548640"/>
          </a:xfrm>
          <a:prstGeom prst="rect">
            <a:avLst/>
          </a:prstGeom>
          <a:noFill/>
          <a:ln/>
        </p:spPr>
        <p:txBody>
          <a:bodyPr wrap="square" lIns="0" tIns="0" rIns="0" bIns="0" rtlCol="0" anchor="t"/>
          <a:lstStyle/>
          <a:p>
            <a:pPr marL="0" indent="0">
              <a:buNone/>
            </a:pPr>
            <a:r>
              <a:rPr lang="en-US" sz="1700" b="1" dirty="0">
                <a:solidFill>
                  <a:schemeClr val="tx1"/>
                </a:solidFill>
              </a:rPr>
              <a:t>Stock is stale</a:t>
            </a:r>
            <a:endParaRPr lang="en-US" sz="1700" dirty="0"/>
          </a:p>
        </p:txBody>
      </p:sp>
      <p:sp>
        <p:nvSpPr>
          <p:cNvPr id="29" name="Text 27"/>
          <p:cNvSpPr txBox="1"/>
          <p:nvPr/>
        </p:nvSpPr>
        <p:spPr>
          <a:xfrm>
            <a:off x="6419088" y="4645152"/>
            <a:ext cx="2286000" cy="1234440"/>
          </a:xfrm>
          <a:prstGeom prst="rect">
            <a:avLst/>
          </a:prstGeom>
          <a:noFill/>
          <a:ln/>
        </p:spPr>
        <p:txBody>
          <a:bodyPr wrap="square" lIns="0" tIns="0" rIns="0" bIns="0" rtlCol="0" anchor="t"/>
          <a:lstStyle/>
          <a:p>
            <a:pPr marL="0" indent="0">
              <a:buNone/>
            </a:pPr>
            <a:r>
              <a:rPr lang="en-US" sz="1400" dirty="0">
                <a:solidFill>
                  <a:schemeClr val="tx2"/>
                </a:solidFill>
              </a:rPr>
              <a:t>A recount in the warehouse reaches the channels hours later.</a:t>
            </a:r>
            <a:endParaRPr lang="en-US" sz="1400" dirty="0"/>
          </a:p>
        </p:txBody>
      </p:sp>
      <p:sp>
        <p:nvSpPr>
          <p:cNvPr id="30" name="eMAG penalises cancelling"/>
          <p:cNvSpPr/>
          <p:nvPr/>
        </p:nvSpPr>
        <p:spPr>
          <a:xfrm>
            <a:off x="9052560" y="3886200"/>
            <a:ext cx="2651760" cy="2057400"/>
          </a:xfrm>
          <a:prstGeom prst="roundRect">
            <a:avLst>
              <a:gd name="adj" fmla="val 3556"/>
            </a:avLst>
          </a:prstGeom>
          <a:solidFill>
            <a:srgbClr val="FDE3DE"/>
          </a:solidFill>
          <a:ln w="9525">
            <a:solidFill>
              <a:srgbClr val="F2B8AE"/>
            </a:solidFill>
            <a:prstDash val="solid"/>
          </a:ln>
        </p:spPr>
        <p:txBody>
          <a:bodyPr/>
          <a:lstStyle/>
          <a:p>
            <a:endParaRPr lang="en-US"/>
          </a:p>
        </p:txBody>
      </p:sp>
      <p:sp>
        <p:nvSpPr>
          <p:cNvPr id="31" name="Text 29"/>
          <p:cNvSpPr txBox="1"/>
          <p:nvPr/>
        </p:nvSpPr>
        <p:spPr>
          <a:xfrm>
            <a:off x="9253728" y="4069080"/>
            <a:ext cx="2286000" cy="548640"/>
          </a:xfrm>
          <a:prstGeom prst="rect">
            <a:avLst/>
          </a:prstGeom>
          <a:noFill/>
          <a:ln/>
        </p:spPr>
        <p:txBody>
          <a:bodyPr wrap="square" lIns="0" tIns="0" rIns="0" bIns="0" rtlCol="0" anchor="t"/>
          <a:lstStyle/>
          <a:p>
            <a:pPr marL="0" indent="0">
              <a:buNone/>
            </a:pPr>
            <a:r>
              <a:rPr lang="en-US" sz="1700" b="1" dirty="0">
                <a:solidFill>
                  <a:schemeClr val="accent5"/>
                </a:solidFill>
              </a:rPr>
              <a:t>eMAG penalises cancelling</a:t>
            </a:r>
            <a:endParaRPr lang="en-US" sz="1700" dirty="0"/>
          </a:p>
        </p:txBody>
      </p:sp>
      <p:sp>
        <p:nvSpPr>
          <p:cNvPr id="32" name="Text 30"/>
          <p:cNvSpPr txBox="1"/>
          <p:nvPr/>
        </p:nvSpPr>
        <p:spPr>
          <a:xfrm>
            <a:off x="9253728" y="4645152"/>
            <a:ext cx="2286000" cy="1234440"/>
          </a:xfrm>
          <a:prstGeom prst="rect">
            <a:avLst/>
          </a:prstGeom>
          <a:noFill/>
          <a:ln/>
        </p:spPr>
        <p:txBody>
          <a:bodyPr wrap="square" lIns="0" tIns="0" rIns="0" bIns="0" rtlCol="0" anchor="t"/>
          <a:lstStyle/>
          <a:p>
            <a:pPr marL="0" indent="0">
              <a:buNone/>
            </a:pPr>
            <a:r>
              <a:rPr lang="en-US" sz="1400" dirty="0">
                <a:solidFill>
                  <a:schemeClr val="tx1"/>
                </a:solidFill>
              </a:rPr>
              <a:t>eMAG measures the seller's cancellation rate, so an oversell there costs more than the one sale.</a:t>
            </a:r>
            <a:endParaRPr lang="en-US" sz="1400" dirty="0"/>
          </a:p>
        </p:txBody>
      </p:sp>
      <p:sp>
        <p:nvSpPr>
          <p:cNvPr id="33"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CONTEXT</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What the glue does</a:t>
            </a:r>
            <a:endParaRPr lang="en-US" sz="3200" dirty="0"/>
          </a:p>
        </p:txBody>
      </p:sp>
      <p:sp>
        <p:nvSpPr>
          <p:cNvPr id="4" name="shop"/>
          <p:cNvSpPr/>
          <p:nvPr/>
        </p:nvSpPr>
        <p:spPr>
          <a:xfrm>
            <a:off x="548640" y="1691640"/>
            <a:ext cx="1783080" cy="914400"/>
          </a:xfrm>
          <a:prstGeom prst="rect">
            <a:avLst/>
          </a:prstGeom>
          <a:solidFill>
            <a:schemeClr val="bg1"/>
          </a:solidFill>
          <a:ln w="19050">
            <a:solidFill>
              <a:schemeClr val="accent2"/>
            </a:solidFill>
            <a:prstDash val="solid"/>
          </a:ln>
        </p:spPr>
        <p:txBody>
          <a:bodyPr/>
          <a:lstStyle/>
          <a:p>
            <a:endParaRPr lang="en-US"/>
          </a:p>
        </p:txBody>
      </p:sp>
      <p:sp>
        <p:nvSpPr>
          <p:cNvPr id="5" name="Text 3"/>
          <p:cNvSpPr txBox="1"/>
          <p:nvPr/>
        </p:nvSpPr>
        <p:spPr>
          <a:xfrm>
            <a:off x="694944" y="1810512"/>
            <a:ext cx="1508760" cy="201168"/>
          </a:xfrm>
          <a:prstGeom prst="rect">
            <a:avLst/>
          </a:prstGeom>
          <a:noFill/>
          <a:ln/>
        </p:spPr>
        <p:txBody>
          <a:bodyPr wrap="square" lIns="0" tIns="0" rIns="0" bIns="0" rtlCol="0" anchor="t"/>
          <a:lstStyle/>
          <a:p>
            <a:pPr marL="0" indent="0">
              <a:buNone/>
            </a:pPr>
            <a:r>
              <a:rPr lang="en-US" sz="1000" b="1" kern="0" spc="50" dirty="0">
                <a:solidFill>
                  <a:srgbClr val="8A5A12"/>
                </a:solidFill>
                <a:latin typeface="Courier New" pitchFamily="34" charset="0"/>
                <a:ea typeface="Courier New" pitchFamily="34" charset="-122"/>
                <a:cs typeface="Courier New" pitchFamily="34" charset="-120"/>
              </a:rPr>
              <a:t>SHOP</a:t>
            </a:r>
            <a:endParaRPr lang="en-US" sz="1000" dirty="0"/>
          </a:p>
        </p:txBody>
      </p:sp>
      <p:sp>
        <p:nvSpPr>
          <p:cNvPr id="6" name="Text 4"/>
          <p:cNvSpPr txBox="1"/>
          <p:nvPr/>
        </p:nvSpPr>
        <p:spPr>
          <a:xfrm>
            <a:off x="694944" y="2029968"/>
            <a:ext cx="1508760" cy="292608"/>
          </a:xfrm>
          <a:prstGeom prst="rect">
            <a:avLst/>
          </a:prstGeom>
          <a:noFill/>
          <a:ln/>
        </p:spPr>
        <p:txBody>
          <a:bodyPr wrap="square" lIns="0" tIns="0" rIns="0" bIns="0" rtlCol="0" anchor="t"/>
          <a:lstStyle/>
          <a:p>
            <a:pPr marL="0" indent="0">
              <a:buNone/>
            </a:pPr>
            <a:r>
              <a:rPr lang="en-US" sz="1400" b="1" dirty="0">
                <a:solidFill>
                  <a:schemeClr val="tx1"/>
                </a:solidFill>
              </a:rPr>
              <a:t>Electronic Market</a:t>
            </a:r>
            <a:endParaRPr lang="en-US" sz="1400" dirty="0"/>
          </a:p>
        </p:txBody>
      </p:sp>
      <p:sp>
        <p:nvSpPr>
          <p:cNvPr id="7" name="emag"/>
          <p:cNvSpPr/>
          <p:nvPr/>
        </p:nvSpPr>
        <p:spPr>
          <a:xfrm>
            <a:off x="548640" y="3337560"/>
            <a:ext cx="1783080" cy="914400"/>
          </a:xfrm>
          <a:prstGeom prst="rect">
            <a:avLst/>
          </a:prstGeom>
          <a:solidFill>
            <a:schemeClr val="bg1"/>
          </a:solidFill>
          <a:ln w="19050">
            <a:solidFill>
              <a:schemeClr val="accent3"/>
            </a:solidFill>
            <a:prstDash val="solid"/>
          </a:ln>
        </p:spPr>
        <p:txBody>
          <a:bodyPr/>
          <a:lstStyle/>
          <a:p>
            <a:endParaRPr lang="en-US"/>
          </a:p>
        </p:txBody>
      </p:sp>
      <p:sp>
        <p:nvSpPr>
          <p:cNvPr id="8" name="Text 6"/>
          <p:cNvSpPr txBox="1"/>
          <p:nvPr/>
        </p:nvSpPr>
        <p:spPr>
          <a:xfrm>
            <a:off x="694944" y="3456432"/>
            <a:ext cx="1508760" cy="201168"/>
          </a:xfrm>
          <a:prstGeom prst="rect">
            <a:avLst/>
          </a:prstGeom>
          <a:noFill/>
          <a:ln/>
        </p:spPr>
        <p:txBody>
          <a:bodyPr wrap="square" lIns="0" tIns="0" rIns="0" bIns="0" rtlCol="0" anchor="t"/>
          <a:lstStyle/>
          <a:p>
            <a:pPr marL="0" indent="0">
              <a:buNone/>
            </a:pPr>
            <a:r>
              <a:rPr lang="en-US" sz="1000" b="1" kern="0" spc="50" dirty="0">
                <a:solidFill>
                  <a:srgbClr val="5B2569"/>
                </a:solidFill>
                <a:latin typeface="Courier New" pitchFamily="34" charset="0"/>
                <a:ea typeface="Courier New" pitchFamily="34" charset="-122"/>
                <a:cs typeface="Courier New" pitchFamily="34" charset="-120"/>
              </a:rPr>
              <a:t>MARKETPLACE</a:t>
            </a:r>
            <a:endParaRPr lang="en-US" sz="1000" dirty="0"/>
          </a:p>
        </p:txBody>
      </p:sp>
      <p:sp>
        <p:nvSpPr>
          <p:cNvPr id="9" name="Text 7"/>
          <p:cNvSpPr txBox="1"/>
          <p:nvPr/>
        </p:nvSpPr>
        <p:spPr>
          <a:xfrm>
            <a:off x="694944" y="3675888"/>
            <a:ext cx="1508760" cy="292608"/>
          </a:xfrm>
          <a:prstGeom prst="rect">
            <a:avLst/>
          </a:prstGeom>
          <a:noFill/>
          <a:ln/>
        </p:spPr>
        <p:txBody>
          <a:bodyPr wrap="square" lIns="0" tIns="0" rIns="0" bIns="0" rtlCol="0" anchor="t"/>
          <a:lstStyle/>
          <a:p>
            <a:pPr marL="0" indent="0">
              <a:buNone/>
            </a:pPr>
            <a:r>
              <a:rPr lang="en-US" sz="1500" b="1" dirty="0">
                <a:solidFill>
                  <a:schemeClr val="tx1"/>
                </a:solidFill>
              </a:rPr>
              <a:t>eMAG</a:t>
            </a:r>
            <a:endParaRPr lang="en-US" sz="1500" dirty="0"/>
          </a:p>
        </p:txBody>
      </p:sp>
      <p:sp>
        <p:nvSpPr>
          <p:cNvPr id="10" name="glue"/>
          <p:cNvSpPr/>
          <p:nvPr/>
        </p:nvSpPr>
        <p:spPr>
          <a:xfrm>
            <a:off x="3474720" y="1691640"/>
            <a:ext cx="1691640" cy="2560320"/>
          </a:xfrm>
          <a:prstGeom prst="rect">
            <a:avLst/>
          </a:prstGeom>
          <a:solidFill>
            <a:schemeClr val="tx1"/>
          </a:solidFill>
          <a:ln/>
        </p:spPr>
        <p:txBody>
          <a:bodyPr/>
          <a:lstStyle/>
          <a:p>
            <a:endParaRPr lang="en-US"/>
          </a:p>
        </p:txBody>
      </p:sp>
      <p:sp>
        <p:nvSpPr>
          <p:cNvPr id="11" name="Text 9"/>
          <p:cNvSpPr txBox="1"/>
          <p:nvPr/>
        </p:nvSpPr>
        <p:spPr>
          <a:xfrm>
            <a:off x="3657600" y="1828800"/>
            <a:ext cx="1371600" cy="201168"/>
          </a:xfrm>
          <a:prstGeom prst="rect">
            <a:avLst/>
          </a:prstGeom>
          <a:noFill/>
          <a:ln/>
        </p:spPr>
        <p:txBody>
          <a:bodyPr wrap="square" lIns="0" tIns="0" rIns="0" bIns="0" rtlCol="0" anchor="t"/>
          <a:lstStyle/>
          <a:p>
            <a:pPr marL="0" indent="0">
              <a:buNone/>
            </a:pPr>
            <a:r>
              <a:rPr lang="en-US" sz="1000" b="1" dirty="0">
                <a:solidFill>
                  <a:srgbClr val="A3ABB8"/>
                </a:solidFill>
                <a:latin typeface="Courier New" pitchFamily="34" charset="0"/>
                <a:ea typeface="Courier New" pitchFamily="34" charset="-122"/>
                <a:cs typeface="Courier New" pitchFamily="34" charset="-120"/>
              </a:rPr>
              <a:t>GLUE</a:t>
            </a:r>
            <a:endParaRPr lang="en-US" sz="1000" dirty="0"/>
          </a:p>
        </p:txBody>
      </p:sp>
      <p:sp>
        <p:nvSpPr>
          <p:cNvPr id="12" name="Text 10"/>
          <p:cNvSpPr txBox="1"/>
          <p:nvPr/>
        </p:nvSpPr>
        <p:spPr>
          <a:xfrm>
            <a:off x="3657600" y="2103120"/>
            <a:ext cx="1371600" cy="365760"/>
          </a:xfrm>
          <a:prstGeom prst="rect">
            <a:avLst/>
          </a:prstGeom>
          <a:noFill/>
          <a:ln/>
        </p:spPr>
        <p:txBody>
          <a:bodyPr wrap="square" lIns="0" tIns="0" rIns="0" bIns="0" rtlCol="0" anchor="t"/>
          <a:lstStyle/>
          <a:p>
            <a:pPr marL="0" indent="0">
              <a:buNone/>
            </a:pPr>
            <a:r>
              <a:rPr lang="en-US" sz="2000" b="1" dirty="0">
                <a:solidFill>
                  <a:schemeClr val="bg1"/>
                </a:solidFill>
              </a:rPr>
              <a:t>Glue</a:t>
            </a:r>
            <a:endParaRPr lang="en-US" sz="2000" dirty="0"/>
          </a:p>
        </p:txBody>
      </p:sp>
      <p:sp>
        <p:nvSpPr>
          <p:cNvPr id="13" name="Text 11"/>
          <p:cNvSpPr txBox="1"/>
          <p:nvPr/>
        </p:nvSpPr>
        <p:spPr>
          <a:xfrm>
            <a:off x="3657600" y="2606040"/>
            <a:ext cx="1371600" cy="1463040"/>
          </a:xfrm>
          <a:prstGeom prst="rect">
            <a:avLst/>
          </a:prstGeom>
          <a:noFill/>
          <a:ln/>
        </p:spPr>
        <p:txBody>
          <a:bodyPr wrap="square" lIns="0" tIns="0" rIns="0" bIns="0" rtlCol="0" anchor="t"/>
          <a:lstStyle/>
          <a:p>
            <a:pPr marL="0" indent="0">
              <a:spcAft>
                <a:spcPts val="200"/>
              </a:spcAft>
              <a:buNone/>
            </a:pPr>
            <a:r>
              <a:rPr lang="en-US" sz="1300" dirty="0">
                <a:solidFill>
                  <a:srgbClr val="D5DAE1"/>
                </a:solidFill>
              </a:rPr>
              <a:t>dedupes</a:t>
            </a:r>
            <a:endParaRPr lang="en-US" sz="1300" dirty="0"/>
          </a:p>
          <a:p>
            <a:pPr marL="0" indent="0">
              <a:spcAft>
                <a:spcPts val="200"/>
              </a:spcAft>
              <a:buNone/>
            </a:pPr>
            <a:r>
              <a:rPr lang="en-US" sz="1300" dirty="0">
                <a:solidFill>
                  <a:srgbClr val="D5DAE1"/>
                </a:solidFill>
              </a:rPr>
              <a:t>retries</a:t>
            </a:r>
            <a:endParaRPr lang="en-US" sz="1300" dirty="0"/>
          </a:p>
          <a:p>
            <a:pPr marL="0" indent="0">
              <a:spcAft>
                <a:spcPts val="200"/>
              </a:spcAft>
              <a:buNone/>
            </a:pPr>
            <a:r>
              <a:rPr lang="en-US" sz="1300" dirty="0">
                <a:solidFill>
                  <a:srgbClr val="D5DAE1"/>
                </a:solidFill>
              </a:rPr>
              <a:t>reconciles</a:t>
            </a:r>
            <a:endParaRPr lang="en-US" sz="1300" dirty="0"/>
          </a:p>
          <a:p>
            <a:pPr marL="0" indent="0">
              <a:spcAft>
                <a:spcPts val="200"/>
              </a:spcAft>
              <a:buNone/>
            </a:pPr>
            <a:r>
              <a:rPr lang="en-US" sz="1300" dirty="0">
                <a:solidFill>
                  <a:srgbClr val="D5DAE1"/>
                </a:solidFill>
              </a:rPr>
              <a:t>asks</a:t>
            </a:r>
            <a:endParaRPr lang="en-US" sz="1300" dirty="0"/>
          </a:p>
        </p:txBody>
      </p:sp>
      <p:sp>
        <p:nvSpPr>
          <p:cNvPr id="14" name="warehouse"/>
          <p:cNvSpPr/>
          <p:nvPr/>
        </p:nvSpPr>
        <p:spPr>
          <a:xfrm>
            <a:off x="6446520" y="2423160"/>
            <a:ext cx="1783080" cy="1097280"/>
          </a:xfrm>
          <a:prstGeom prst="rect">
            <a:avLst/>
          </a:prstGeom>
          <a:solidFill>
            <a:schemeClr val="bg1"/>
          </a:solidFill>
          <a:ln w="19050">
            <a:solidFill>
              <a:schemeClr val="accent4"/>
            </a:solidFill>
            <a:prstDash val="solid"/>
          </a:ln>
        </p:spPr>
        <p:txBody>
          <a:bodyPr/>
          <a:lstStyle/>
          <a:p>
            <a:endParaRPr lang="en-US"/>
          </a:p>
        </p:txBody>
      </p:sp>
      <p:sp>
        <p:nvSpPr>
          <p:cNvPr id="15" name="Text 13"/>
          <p:cNvSpPr txBox="1"/>
          <p:nvPr/>
        </p:nvSpPr>
        <p:spPr>
          <a:xfrm>
            <a:off x="6592824" y="2542032"/>
            <a:ext cx="1508760" cy="201168"/>
          </a:xfrm>
          <a:prstGeom prst="rect">
            <a:avLst/>
          </a:prstGeom>
          <a:noFill/>
          <a:ln/>
        </p:spPr>
        <p:txBody>
          <a:bodyPr wrap="square" lIns="0" tIns="0" rIns="0" bIns="0" rtlCol="0" anchor="t"/>
          <a:lstStyle/>
          <a:p>
            <a:pPr marL="0" indent="0">
              <a:buNone/>
            </a:pPr>
            <a:r>
              <a:rPr lang="en-US" sz="1000" b="1" kern="0" spc="50" dirty="0">
                <a:solidFill>
                  <a:srgbClr val="7A4E22"/>
                </a:solidFill>
                <a:latin typeface="Courier New" pitchFamily="34" charset="0"/>
                <a:ea typeface="Courier New" pitchFamily="34" charset="-122"/>
                <a:cs typeface="Courier New" pitchFamily="34" charset="-120"/>
              </a:rPr>
              <a:t>WAREHOUSE</a:t>
            </a:r>
            <a:endParaRPr lang="en-US" sz="1000" dirty="0"/>
          </a:p>
        </p:txBody>
      </p:sp>
      <p:sp>
        <p:nvSpPr>
          <p:cNvPr id="16" name="Text 14"/>
          <p:cNvSpPr txBox="1"/>
          <p:nvPr/>
        </p:nvSpPr>
        <p:spPr>
          <a:xfrm>
            <a:off x="6592824" y="2761488"/>
            <a:ext cx="1508760" cy="512064"/>
          </a:xfrm>
          <a:prstGeom prst="rect">
            <a:avLst/>
          </a:prstGeom>
          <a:noFill/>
          <a:ln/>
        </p:spPr>
        <p:txBody>
          <a:bodyPr wrap="square" lIns="0" tIns="0" rIns="0" bIns="0" rtlCol="0" anchor="t"/>
          <a:lstStyle/>
          <a:p>
            <a:pPr marL="0" indent="0">
              <a:buNone/>
            </a:pPr>
            <a:r>
              <a:rPr lang="en-US" sz="1400" b="1" dirty="0">
                <a:solidFill>
                  <a:schemeClr val="tx1"/>
                </a:solidFill>
              </a:rPr>
              <a:t>Bucharest</a:t>
            </a:r>
            <a:endParaRPr lang="en-US" sz="1400" dirty="0"/>
          </a:p>
          <a:p>
            <a:pPr marL="0" indent="0">
              <a:buNone/>
            </a:pPr>
            <a:r>
              <a:rPr lang="en-US" sz="1400" b="1" dirty="0">
                <a:solidFill>
                  <a:schemeClr val="tx1"/>
                </a:solidFill>
              </a:rPr>
              <a:t>warehouse</a:t>
            </a:r>
            <a:endParaRPr lang="en-US" sz="1400" dirty="0"/>
          </a:p>
        </p:txBody>
      </p:sp>
      <p:sp>
        <p:nvSpPr>
          <p:cNvPr id="17" name="operator"/>
          <p:cNvSpPr/>
          <p:nvPr/>
        </p:nvSpPr>
        <p:spPr>
          <a:xfrm>
            <a:off x="3474720" y="4983480"/>
            <a:ext cx="1691640" cy="960120"/>
          </a:xfrm>
          <a:prstGeom prst="rect">
            <a:avLst/>
          </a:prstGeom>
          <a:solidFill>
            <a:schemeClr val="bg1"/>
          </a:solidFill>
          <a:ln w="15875">
            <a:solidFill>
              <a:srgbClr val="8A93A1"/>
            </a:solidFill>
            <a:prstDash val="solid"/>
          </a:ln>
        </p:spPr>
        <p:txBody>
          <a:bodyPr/>
          <a:lstStyle/>
          <a:p>
            <a:endParaRPr lang="en-US"/>
          </a:p>
        </p:txBody>
      </p:sp>
      <p:sp>
        <p:nvSpPr>
          <p:cNvPr id="18" name="Text 16"/>
          <p:cNvSpPr txBox="1"/>
          <p:nvPr/>
        </p:nvSpPr>
        <p:spPr>
          <a:xfrm>
            <a:off x="3621024" y="5102352"/>
            <a:ext cx="1417320" cy="201168"/>
          </a:xfrm>
          <a:prstGeom prst="rect">
            <a:avLst/>
          </a:prstGeom>
          <a:noFill/>
          <a:ln/>
        </p:spPr>
        <p:txBody>
          <a:bodyPr wrap="square" lIns="0" tIns="0" rIns="0" bIns="0" rtlCol="0" anchor="t"/>
          <a:lstStyle/>
          <a:p>
            <a:pPr marL="0" indent="0">
              <a:buNone/>
            </a:pPr>
            <a:r>
              <a:rPr lang="en-US" sz="1000" b="1" kern="0" spc="50" dirty="0">
                <a:solidFill>
                  <a:srgbClr val="3D4552"/>
                </a:solidFill>
                <a:latin typeface="Courier New" pitchFamily="34" charset="0"/>
                <a:ea typeface="Courier New" pitchFamily="34" charset="-122"/>
                <a:cs typeface="Courier New" pitchFamily="34" charset="-120"/>
              </a:rPr>
              <a:t>PERSON</a:t>
            </a:r>
            <a:endParaRPr lang="en-US" sz="1000" dirty="0"/>
          </a:p>
        </p:txBody>
      </p:sp>
      <p:sp>
        <p:nvSpPr>
          <p:cNvPr id="19" name="Text 17"/>
          <p:cNvSpPr txBox="1"/>
          <p:nvPr/>
        </p:nvSpPr>
        <p:spPr>
          <a:xfrm>
            <a:off x="3621024" y="5321808"/>
            <a:ext cx="1417320" cy="292608"/>
          </a:xfrm>
          <a:prstGeom prst="rect">
            <a:avLst/>
          </a:prstGeom>
          <a:noFill/>
          <a:ln/>
        </p:spPr>
        <p:txBody>
          <a:bodyPr wrap="square" lIns="0" tIns="0" rIns="0" bIns="0" rtlCol="0" anchor="t"/>
          <a:lstStyle/>
          <a:p>
            <a:pPr marL="0" indent="0">
              <a:buNone/>
            </a:pPr>
            <a:r>
              <a:rPr lang="en-US" sz="1500" b="1" dirty="0">
                <a:solidFill>
                  <a:schemeClr val="tx1"/>
                </a:solidFill>
              </a:rPr>
              <a:t>Operator</a:t>
            </a:r>
            <a:endParaRPr lang="en-US" sz="1500" dirty="0"/>
          </a:p>
        </p:txBody>
      </p:sp>
      <p:sp>
        <p:nvSpPr>
          <p:cNvPr id="20" name="Text 18"/>
          <p:cNvSpPr txBox="1"/>
          <p:nvPr/>
        </p:nvSpPr>
        <p:spPr>
          <a:xfrm>
            <a:off x="3621024" y="5641848"/>
            <a:ext cx="1417320" cy="228600"/>
          </a:xfrm>
          <a:prstGeom prst="rect">
            <a:avLst/>
          </a:prstGeom>
          <a:noFill/>
          <a:ln/>
        </p:spPr>
        <p:txBody>
          <a:bodyPr wrap="square" lIns="0" tIns="0" rIns="0" bIns="0" rtlCol="0" anchor="t"/>
          <a:lstStyle/>
          <a:p>
            <a:pPr marL="0" indent="0">
              <a:buNone/>
            </a:pPr>
            <a:r>
              <a:rPr lang="en-US" sz="1100" dirty="0">
                <a:solidFill>
                  <a:schemeClr val="tx2"/>
                </a:solidFill>
              </a:rPr>
              <a:t>the review queue</a:t>
            </a:r>
            <a:endParaRPr lang="en-US" sz="1100" dirty="0"/>
          </a:p>
        </p:txBody>
      </p:sp>
      <p:sp>
        <p:nvSpPr>
          <p:cNvPr id="21" name="Shape 19"/>
          <p:cNvSpPr/>
          <p:nvPr/>
        </p:nvSpPr>
        <p:spPr>
          <a:xfrm>
            <a:off x="2331720" y="2011680"/>
            <a:ext cx="1143000" cy="0"/>
          </a:xfrm>
          <a:prstGeom prst="line">
            <a:avLst/>
          </a:prstGeom>
          <a:noFill/>
          <a:ln w="15875">
            <a:solidFill>
              <a:schemeClr val="tx1"/>
            </a:solidFill>
            <a:prstDash val="solid"/>
            <a:tailEnd type="triangle"/>
          </a:ln>
        </p:spPr>
        <p:txBody>
          <a:bodyPr/>
          <a:lstStyle/>
          <a:p>
            <a:endParaRPr lang="en-US"/>
          </a:p>
        </p:txBody>
      </p:sp>
      <p:sp>
        <p:nvSpPr>
          <p:cNvPr id="22" name="Text 20"/>
          <p:cNvSpPr txBox="1"/>
          <p:nvPr/>
        </p:nvSpPr>
        <p:spPr>
          <a:xfrm>
            <a:off x="2331720" y="1801368"/>
            <a:ext cx="114300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ORDERS</a:t>
            </a:r>
            <a:endParaRPr lang="en-US" sz="1000" dirty="0"/>
          </a:p>
        </p:txBody>
      </p:sp>
      <p:sp>
        <p:nvSpPr>
          <p:cNvPr id="23" name="Shape 21"/>
          <p:cNvSpPr/>
          <p:nvPr/>
        </p:nvSpPr>
        <p:spPr>
          <a:xfrm flipH="1">
            <a:off x="2331720" y="2331720"/>
            <a:ext cx="1143000" cy="0"/>
          </a:xfrm>
          <a:prstGeom prst="line">
            <a:avLst/>
          </a:prstGeom>
          <a:noFill/>
          <a:ln w="15875">
            <a:solidFill>
              <a:schemeClr val="tx1"/>
            </a:solidFill>
            <a:prstDash val="solid"/>
            <a:tailEnd type="triangle"/>
          </a:ln>
        </p:spPr>
        <p:txBody>
          <a:bodyPr/>
          <a:lstStyle/>
          <a:p>
            <a:endParaRPr lang="en-US"/>
          </a:p>
        </p:txBody>
      </p:sp>
      <p:sp>
        <p:nvSpPr>
          <p:cNvPr id="24" name="Text 22"/>
          <p:cNvSpPr txBox="1"/>
          <p:nvPr/>
        </p:nvSpPr>
        <p:spPr>
          <a:xfrm>
            <a:off x="2331720" y="2377440"/>
            <a:ext cx="114300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TRUE STOCK</a:t>
            </a:r>
            <a:endParaRPr lang="en-US" sz="1000" dirty="0"/>
          </a:p>
        </p:txBody>
      </p:sp>
      <p:sp>
        <p:nvSpPr>
          <p:cNvPr id="25" name="Shape 23"/>
          <p:cNvSpPr/>
          <p:nvPr/>
        </p:nvSpPr>
        <p:spPr>
          <a:xfrm>
            <a:off x="2331720" y="3657600"/>
            <a:ext cx="1143000" cy="0"/>
          </a:xfrm>
          <a:prstGeom prst="line">
            <a:avLst/>
          </a:prstGeom>
          <a:noFill/>
          <a:ln w="15875">
            <a:solidFill>
              <a:schemeClr val="tx1"/>
            </a:solidFill>
            <a:prstDash val="solid"/>
            <a:tailEnd type="triangle"/>
          </a:ln>
        </p:spPr>
        <p:txBody>
          <a:bodyPr/>
          <a:lstStyle/>
          <a:p>
            <a:endParaRPr lang="en-US"/>
          </a:p>
        </p:txBody>
      </p:sp>
      <p:sp>
        <p:nvSpPr>
          <p:cNvPr id="26" name="Text 24"/>
          <p:cNvSpPr txBox="1"/>
          <p:nvPr/>
        </p:nvSpPr>
        <p:spPr>
          <a:xfrm>
            <a:off x="2331720" y="3447288"/>
            <a:ext cx="114300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ORDERS</a:t>
            </a:r>
            <a:endParaRPr lang="en-US" sz="1000" dirty="0"/>
          </a:p>
        </p:txBody>
      </p:sp>
      <p:sp>
        <p:nvSpPr>
          <p:cNvPr id="27" name="Shape 25"/>
          <p:cNvSpPr/>
          <p:nvPr/>
        </p:nvSpPr>
        <p:spPr>
          <a:xfrm flipH="1">
            <a:off x="2331720" y="3977640"/>
            <a:ext cx="1143000" cy="0"/>
          </a:xfrm>
          <a:prstGeom prst="line">
            <a:avLst/>
          </a:prstGeom>
          <a:noFill/>
          <a:ln w="15875">
            <a:solidFill>
              <a:schemeClr val="tx1"/>
            </a:solidFill>
            <a:prstDash val="solid"/>
            <a:tailEnd type="triangle"/>
          </a:ln>
        </p:spPr>
        <p:txBody>
          <a:bodyPr/>
          <a:lstStyle/>
          <a:p>
            <a:endParaRPr lang="en-US"/>
          </a:p>
        </p:txBody>
      </p:sp>
      <p:sp>
        <p:nvSpPr>
          <p:cNvPr id="28" name="Text 26"/>
          <p:cNvSpPr txBox="1"/>
          <p:nvPr/>
        </p:nvSpPr>
        <p:spPr>
          <a:xfrm>
            <a:off x="2331720" y="4023360"/>
            <a:ext cx="114300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TRUE STOCK</a:t>
            </a:r>
            <a:endParaRPr lang="en-US" sz="1000" dirty="0"/>
          </a:p>
        </p:txBody>
      </p:sp>
      <p:sp>
        <p:nvSpPr>
          <p:cNvPr id="29" name="Shape 27"/>
          <p:cNvSpPr/>
          <p:nvPr/>
        </p:nvSpPr>
        <p:spPr>
          <a:xfrm>
            <a:off x="5166360" y="2788920"/>
            <a:ext cx="1280160" cy="0"/>
          </a:xfrm>
          <a:prstGeom prst="line">
            <a:avLst/>
          </a:prstGeom>
          <a:noFill/>
          <a:ln w="15875">
            <a:solidFill>
              <a:schemeClr val="tx1"/>
            </a:solidFill>
            <a:prstDash val="solid"/>
            <a:tailEnd type="triangle"/>
          </a:ln>
        </p:spPr>
        <p:txBody>
          <a:bodyPr/>
          <a:lstStyle/>
          <a:p>
            <a:endParaRPr lang="en-US"/>
          </a:p>
        </p:txBody>
      </p:sp>
      <p:sp>
        <p:nvSpPr>
          <p:cNvPr id="30" name="Text 28"/>
          <p:cNvSpPr txBox="1"/>
          <p:nvPr/>
        </p:nvSpPr>
        <p:spPr>
          <a:xfrm>
            <a:off x="5166360" y="2578608"/>
            <a:ext cx="128016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RESERVE ONCE</a:t>
            </a:r>
            <a:endParaRPr lang="en-US" sz="1000" dirty="0"/>
          </a:p>
        </p:txBody>
      </p:sp>
      <p:sp>
        <p:nvSpPr>
          <p:cNvPr id="31" name="Shape 29"/>
          <p:cNvSpPr/>
          <p:nvPr/>
        </p:nvSpPr>
        <p:spPr>
          <a:xfrm flipH="1">
            <a:off x="5166360" y="3154680"/>
            <a:ext cx="1280160" cy="0"/>
          </a:xfrm>
          <a:prstGeom prst="line">
            <a:avLst/>
          </a:prstGeom>
          <a:noFill/>
          <a:ln w="15875">
            <a:solidFill>
              <a:schemeClr val="tx1"/>
            </a:solidFill>
            <a:prstDash val="solid"/>
            <a:tailEnd type="triangle"/>
          </a:ln>
        </p:spPr>
        <p:txBody>
          <a:bodyPr/>
          <a:lstStyle/>
          <a:p>
            <a:endParaRPr lang="en-US"/>
          </a:p>
        </p:txBody>
      </p:sp>
      <p:sp>
        <p:nvSpPr>
          <p:cNvPr id="32" name="Text 30"/>
          <p:cNvSpPr txBox="1"/>
          <p:nvPr/>
        </p:nvSpPr>
        <p:spPr>
          <a:xfrm>
            <a:off x="5166360" y="3200400"/>
            <a:ext cx="128016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STOCK, SHIPPED</a:t>
            </a:r>
            <a:endParaRPr lang="en-US" sz="1000" dirty="0"/>
          </a:p>
        </p:txBody>
      </p:sp>
      <p:sp>
        <p:nvSpPr>
          <p:cNvPr id="33" name="Shape 31"/>
          <p:cNvSpPr/>
          <p:nvPr/>
        </p:nvSpPr>
        <p:spPr>
          <a:xfrm>
            <a:off x="4315968" y="4251960"/>
            <a:ext cx="0" cy="731520"/>
          </a:xfrm>
          <a:prstGeom prst="line">
            <a:avLst/>
          </a:prstGeom>
          <a:noFill/>
          <a:ln w="15875">
            <a:solidFill>
              <a:schemeClr val="tx1"/>
            </a:solidFill>
            <a:prstDash val="solid"/>
            <a:tailEnd type="triangle"/>
          </a:ln>
        </p:spPr>
        <p:txBody>
          <a:bodyPr/>
          <a:lstStyle/>
          <a:p>
            <a:endParaRPr lang="en-US"/>
          </a:p>
        </p:txBody>
      </p:sp>
      <p:sp>
        <p:nvSpPr>
          <p:cNvPr id="34" name="Text 32"/>
          <p:cNvSpPr txBox="1"/>
          <p:nvPr/>
        </p:nvSpPr>
        <p:spPr>
          <a:xfrm>
            <a:off x="4434840" y="4507992"/>
            <a:ext cx="1463040" cy="182880"/>
          </a:xfrm>
          <a:prstGeom prst="rect">
            <a:avLst/>
          </a:prstGeom>
          <a:noFill/>
          <a:ln/>
        </p:spPr>
        <p:txBody>
          <a:bodyPr wrap="square" lIns="0" tIns="0" rIns="0" bIns="0" rtlCol="0" anchor="ctr"/>
          <a:lstStyle/>
          <a:p>
            <a:pPr marL="0" indent="0" algn="l">
              <a:buNone/>
            </a:pPr>
            <a:r>
              <a:rPr lang="en-US" sz="1000" b="1" dirty="0">
                <a:solidFill>
                  <a:schemeClr val="tx2"/>
                </a:solidFill>
                <a:latin typeface="Courier New" pitchFamily="34" charset="0"/>
                <a:ea typeface="Courier New" pitchFamily="34" charset="-122"/>
                <a:cs typeface="Courier New" pitchFamily="34" charset="-120"/>
              </a:rPr>
              <a:t>WHEN UNSURE</a:t>
            </a:r>
            <a:endParaRPr lang="en-US" sz="1000" dirty="0"/>
          </a:p>
        </p:txBody>
      </p:sp>
      <p:sp>
        <p:nvSpPr>
          <p:cNvPr id="35" name="Text 33"/>
          <p:cNvSpPr txBox="1"/>
          <p:nvPr/>
        </p:nvSpPr>
        <p:spPr>
          <a:xfrm>
            <a:off x="8503920" y="1691640"/>
            <a:ext cx="3136392" cy="320040"/>
          </a:xfrm>
          <a:prstGeom prst="rect">
            <a:avLst/>
          </a:prstGeom>
          <a:noFill/>
          <a:ln/>
        </p:spPr>
        <p:txBody>
          <a:bodyPr wrap="square" lIns="0" tIns="0" rIns="0" bIns="0" rtlCol="0" anchor="t"/>
          <a:lstStyle/>
          <a:p>
            <a:pPr marL="0" indent="0">
              <a:buNone/>
            </a:pPr>
            <a:r>
              <a:rPr lang="en-US" sz="1800" b="1" dirty="0">
                <a:solidFill>
                  <a:schemeClr val="tx1"/>
                </a:solidFill>
              </a:rPr>
              <a:t>What it promises</a:t>
            </a:r>
            <a:endParaRPr lang="en-US" sz="1800" dirty="0"/>
          </a:p>
        </p:txBody>
      </p:sp>
      <p:sp>
        <p:nvSpPr>
          <p:cNvPr id="36" name="step 1"/>
          <p:cNvSpPr/>
          <p:nvPr/>
        </p:nvSpPr>
        <p:spPr>
          <a:xfrm>
            <a:off x="8503920" y="2194560"/>
            <a:ext cx="384048" cy="384048"/>
          </a:xfrm>
          <a:prstGeom prst="ellipse">
            <a:avLst/>
          </a:prstGeom>
          <a:solidFill>
            <a:schemeClr val="tx1"/>
          </a:solidFill>
          <a:ln/>
        </p:spPr>
        <p:txBody>
          <a:bodyPr/>
          <a:lstStyle/>
          <a:p>
            <a:endParaRPr lang="en-US"/>
          </a:p>
        </p:txBody>
      </p:sp>
      <p:sp>
        <p:nvSpPr>
          <p:cNvPr id="37" name="Text 35"/>
          <p:cNvSpPr txBox="1"/>
          <p:nvPr/>
        </p:nvSpPr>
        <p:spPr>
          <a:xfrm>
            <a:off x="8503920" y="219456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38" name="Text 36"/>
          <p:cNvSpPr txBox="1"/>
          <p:nvPr/>
        </p:nvSpPr>
        <p:spPr>
          <a:xfrm>
            <a:off x="9052560" y="2157984"/>
            <a:ext cx="2587752" cy="502920"/>
          </a:xfrm>
          <a:prstGeom prst="rect">
            <a:avLst/>
          </a:prstGeom>
          <a:noFill/>
          <a:ln/>
        </p:spPr>
        <p:txBody>
          <a:bodyPr wrap="square" lIns="0" tIns="0" rIns="0" bIns="0" rtlCol="0" anchor="t"/>
          <a:lstStyle/>
          <a:p>
            <a:pPr marL="0" indent="0">
              <a:buNone/>
            </a:pPr>
            <a:r>
              <a:rPr lang="en-US" sz="1500" b="1" dirty="0">
                <a:solidFill>
                  <a:schemeClr val="tx1"/>
                </a:solidFill>
              </a:rPr>
              <a:t>Every order reaches the warehouse once</a:t>
            </a:r>
            <a:endParaRPr lang="en-US" sz="1500" dirty="0"/>
          </a:p>
        </p:txBody>
      </p:sp>
      <p:sp>
        <p:nvSpPr>
          <p:cNvPr id="39" name="Text 37"/>
          <p:cNvSpPr txBox="1"/>
          <p:nvPr/>
        </p:nvSpPr>
        <p:spPr>
          <a:xfrm>
            <a:off x="9052560" y="2670048"/>
            <a:ext cx="2587752" cy="685800"/>
          </a:xfrm>
          <a:prstGeom prst="rect">
            <a:avLst/>
          </a:prstGeom>
          <a:noFill/>
          <a:ln/>
        </p:spPr>
        <p:txBody>
          <a:bodyPr wrap="square" lIns="0" tIns="0" rIns="0" bIns="0" rtlCol="0" anchor="t"/>
          <a:lstStyle/>
          <a:p>
            <a:pPr marL="0" indent="0">
              <a:buNone/>
            </a:pPr>
            <a:r>
              <a:rPr lang="en-US" sz="1400" dirty="0">
                <a:solidFill>
                  <a:schemeClr val="tx2"/>
                </a:solidFill>
              </a:rPr>
              <a:t>whatever is duplicated, delayed or out of order.</a:t>
            </a:r>
            <a:endParaRPr lang="en-US" sz="1400" dirty="0"/>
          </a:p>
        </p:txBody>
      </p:sp>
      <p:sp>
        <p:nvSpPr>
          <p:cNvPr id="40" name="step 2"/>
          <p:cNvSpPr/>
          <p:nvPr/>
        </p:nvSpPr>
        <p:spPr>
          <a:xfrm>
            <a:off x="8503920" y="3474720"/>
            <a:ext cx="384048" cy="384048"/>
          </a:xfrm>
          <a:prstGeom prst="ellipse">
            <a:avLst/>
          </a:prstGeom>
          <a:solidFill>
            <a:schemeClr val="tx1"/>
          </a:solidFill>
          <a:ln/>
        </p:spPr>
        <p:txBody>
          <a:bodyPr/>
          <a:lstStyle/>
          <a:p>
            <a:endParaRPr lang="en-US"/>
          </a:p>
        </p:txBody>
      </p:sp>
      <p:sp>
        <p:nvSpPr>
          <p:cNvPr id="41" name="Text 39"/>
          <p:cNvSpPr txBox="1"/>
          <p:nvPr/>
        </p:nvSpPr>
        <p:spPr>
          <a:xfrm>
            <a:off x="8503920" y="347472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42" name="Text 40"/>
          <p:cNvSpPr txBox="1"/>
          <p:nvPr/>
        </p:nvSpPr>
        <p:spPr>
          <a:xfrm>
            <a:off x="9052560" y="3438144"/>
            <a:ext cx="2587752" cy="502920"/>
          </a:xfrm>
          <a:prstGeom prst="rect">
            <a:avLst/>
          </a:prstGeom>
          <a:noFill/>
          <a:ln/>
        </p:spPr>
        <p:txBody>
          <a:bodyPr wrap="square" lIns="0" tIns="0" rIns="0" bIns="0" rtlCol="0" anchor="t"/>
          <a:lstStyle/>
          <a:p>
            <a:pPr marL="0" indent="0">
              <a:buNone/>
            </a:pPr>
            <a:r>
              <a:rPr lang="en-US" sz="1500" b="1" dirty="0">
                <a:solidFill>
                  <a:schemeClr val="tx1"/>
                </a:solidFill>
              </a:rPr>
              <a:t>Both channels show the warehouse's figure</a:t>
            </a:r>
            <a:endParaRPr lang="en-US" sz="1500" dirty="0"/>
          </a:p>
        </p:txBody>
      </p:sp>
      <p:sp>
        <p:nvSpPr>
          <p:cNvPr id="43" name="Text 41"/>
          <p:cNvSpPr txBox="1"/>
          <p:nvPr/>
        </p:nvSpPr>
        <p:spPr>
          <a:xfrm>
            <a:off x="9052560" y="3950208"/>
            <a:ext cx="2587752" cy="685800"/>
          </a:xfrm>
          <a:prstGeom prst="rect">
            <a:avLst/>
          </a:prstGeom>
          <a:noFill/>
          <a:ln/>
        </p:spPr>
        <p:txBody>
          <a:bodyPr wrap="square" lIns="0" tIns="0" rIns="0" bIns="0" rtlCol="0" anchor="t"/>
          <a:lstStyle/>
          <a:p>
            <a:pPr marL="0" indent="0">
              <a:buNone/>
            </a:pPr>
            <a:r>
              <a:rPr lang="en-US" sz="1400" dirty="0">
                <a:solidFill>
                  <a:schemeClr val="tx2"/>
                </a:solidFill>
              </a:rPr>
              <a:t>seconds after a change, and any drift heals within 10 seconds.</a:t>
            </a:r>
            <a:endParaRPr lang="en-US" sz="1400" dirty="0"/>
          </a:p>
        </p:txBody>
      </p:sp>
      <p:sp>
        <p:nvSpPr>
          <p:cNvPr id="44" name="step 3"/>
          <p:cNvSpPr/>
          <p:nvPr/>
        </p:nvSpPr>
        <p:spPr>
          <a:xfrm>
            <a:off x="8503920" y="4754880"/>
            <a:ext cx="384048" cy="384048"/>
          </a:xfrm>
          <a:prstGeom prst="ellipse">
            <a:avLst/>
          </a:prstGeom>
          <a:solidFill>
            <a:schemeClr val="tx1"/>
          </a:solidFill>
          <a:ln/>
        </p:spPr>
        <p:txBody>
          <a:bodyPr/>
          <a:lstStyle/>
          <a:p>
            <a:endParaRPr lang="en-US"/>
          </a:p>
        </p:txBody>
      </p:sp>
      <p:sp>
        <p:nvSpPr>
          <p:cNvPr id="45" name="Text 43"/>
          <p:cNvSpPr txBox="1"/>
          <p:nvPr/>
        </p:nvSpPr>
        <p:spPr>
          <a:xfrm>
            <a:off x="8503920" y="47548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46" name="Text 44"/>
          <p:cNvSpPr txBox="1"/>
          <p:nvPr/>
        </p:nvSpPr>
        <p:spPr>
          <a:xfrm>
            <a:off x="9052560" y="4718304"/>
            <a:ext cx="2587752" cy="502920"/>
          </a:xfrm>
          <a:prstGeom prst="rect">
            <a:avLst/>
          </a:prstGeom>
          <a:noFill/>
          <a:ln/>
        </p:spPr>
        <p:txBody>
          <a:bodyPr wrap="square" lIns="0" tIns="0" rIns="0" bIns="0" rtlCol="0" anchor="t"/>
          <a:lstStyle/>
          <a:p>
            <a:pPr marL="0" indent="0">
              <a:buNone/>
            </a:pPr>
            <a:r>
              <a:rPr lang="en-US" sz="1500" b="1" dirty="0">
                <a:solidFill>
                  <a:schemeClr val="tx1"/>
                </a:solidFill>
              </a:rPr>
              <a:t>When it cannot decide safely, it asks</a:t>
            </a:r>
            <a:endParaRPr lang="en-US" sz="1500" dirty="0"/>
          </a:p>
        </p:txBody>
      </p:sp>
      <p:sp>
        <p:nvSpPr>
          <p:cNvPr id="47" name="Text 45"/>
          <p:cNvSpPr txBox="1"/>
          <p:nvPr/>
        </p:nvSpPr>
        <p:spPr>
          <a:xfrm>
            <a:off x="9052560" y="5230368"/>
            <a:ext cx="2587752" cy="685800"/>
          </a:xfrm>
          <a:prstGeom prst="rect">
            <a:avLst/>
          </a:prstGeom>
          <a:noFill/>
          <a:ln/>
        </p:spPr>
        <p:txBody>
          <a:bodyPr wrap="square" lIns="0" tIns="0" rIns="0" bIns="0" rtlCol="0" anchor="t"/>
          <a:lstStyle/>
          <a:p>
            <a:pPr marL="0" indent="0">
              <a:buNone/>
            </a:pPr>
            <a:r>
              <a:rPr lang="en-US" sz="1400" dirty="0">
                <a:solidFill>
                  <a:schemeClr val="tx2"/>
                </a:solidFill>
              </a:rPr>
              <a:t>a person sees the order, the reason and what each choice does.</a:t>
            </a:r>
            <a:endParaRPr lang="en-US" sz="1400" dirty="0"/>
          </a:p>
        </p:txBody>
      </p:sp>
      <p:sp>
        <p:nvSpPr>
          <p:cNvPr id="48"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DESIGN</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Architecture</a:t>
            </a:r>
            <a:endParaRPr lang="en-US" sz="3200" dirty="0"/>
          </a:p>
        </p:txBody>
      </p:sp>
      <p:sp>
        <p:nvSpPr>
          <p:cNvPr id="4" name="glue"/>
          <p:cNvSpPr/>
          <p:nvPr/>
        </p:nvSpPr>
        <p:spPr>
          <a:xfrm>
            <a:off x="3886200" y="1463040"/>
            <a:ext cx="4434840" cy="3108960"/>
          </a:xfrm>
          <a:prstGeom prst="rect">
            <a:avLst/>
          </a:prstGeom>
          <a:solidFill>
            <a:schemeClr val="tx1"/>
          </a:solidFill>
          <a:ln/>
        </p:spPr>
        <p:txBody>
          <a:bodyPr/>
          <a:lstStyle/>
          <a:p>
            <a:endParaRPr lang="en-US"/>
          </a:p>
        </p:txBody>
      </p:sp>
      <p:sp>
        <p:nvSpPr>
          <p:cNvPr id="5" name="Text 3"/>
          <p:cNvSpPr txBox="1"/>
          <p:nvPr/>
        </p:nvSpPr>
        <p:spPr>
          <a:xfrm>
            <a:off x="4069080" y="1591056"/>
            <a:ext cx="4069080" cy="201168"/>
          </a:xfrm>
          <a:prstGeom prst="rect">
            <a:avLst/>
          </a:prstGeom>
          <a:noFill/>
          <a:ln/>
        </p:spPr>
        <p:txBody>
          <a:bodyPr wrap="square" lIns="0" tIns="0" rIns="0" bIns="0" rtlCol="0" anchor="t"/>
          <a:lstStyle/>
          <a:p>
            <a:pPr marL="0" indent="0">
              <a:buNone/>
            </a:pPr>
            <a:r>
              <a:rPr lang="en-US" sz="1000" b="1" kern="0" spc="50" dirty="0">
                <a:solidFill>
                  <a:srgbClr val="A3ABB8"/>
                </a:solidFill>
                <a:latin typeface="Courier New" pitchFamily="34" charset="0"/>
                <a:ea typeface="Courier New" pitchFamily="34" charset="-122"/>
                <a:cs typeface="Courier New" pitchFamily="34" charset="-120"/>
              </a:rPr>
              <a:t>GLUE · ONE FASTAPI PROCESS · :8000</a:t>
            </a:r>
            <a:endParaRPr lang="en-US" sz="1000" dirty="0"/>
          </a:p>
        </p:txBody>
      </p:sp>
      <p:sp>
        <p:nvSpPr>
          <p:cNvPr id="6" name="Inbox"/>
          <p:cNvSpPr/>
          <p:nvPr/>
        </p:nvSpPr>
        <p:spPr>
          <a:xfrm>
            <a:off x="4069080" y="1892808"/>
            <a:ext cx="1173480" cy="777240"/>
          </a:xfrm>
          <a:prstGeom prst="roundRect">
            <a:avLst>
              <a:gd name="adj" fmla="val 5882"/>
            </a:avLst>
          </a:prstGeom>
          <a:solidFill>
            <a:srgbClr val="262B33"/>
          </a:solidFill>
          <a:ln/>
        </p:spPr>
        <p:txBody>
          <a:bodyPr/>
          <a:lstStyle/>
          <a:p>
            <a:endParaRPr lang="en-US"/>
          </a:p>
        </p:txBody>
      </p:sp>
      <p:sp>
        <p:nvSpPr>
          <p:cNvPr id="7" name="Text 5"/>
          <p:cNvSpPr txBox="1"/>
          <p:nvPr/>
        </p:nvSpPr>
        <p:spPr>
          <a:xfrm>
            <a:off x="4160520" y="1975104"/>
            <a:ext cx="1036320" cy="219456"/>
          </a:xfrm>
          <a:prstGeom prst="rect">
            <a:avLst/>
          </a:prstGeom>
          <a:noFill/>
          <a:ln/>
        </p:spPr>
        <p:txBody>
          <a:bodyPr wrap="square" lIns="0" tIns="0" rIns="0" bIns="0" rtlCol="0" anchor="t"/>
          <a:lstStyle/>
          <a:p>
            <a:pPr marL="0" indent="0">
              <a:buNone/>
            </a:pPr>
            <a:r>
              <a:rPr lang="en-US" sz="1200" b="1" dirty="0">
                <a:solidFill>
                  <a:schemeClr val="bg1"/>
                </a:solidFill>
              </a:rPr>
              <a:t>Inbox</a:t>
            </a:r>
            <a:endParaRPr lang="en-US" sz="1200" dirty="0"/>
          </a:p>
        </p:txBody>
      </p:sp>
      <p:sp>
        <p:nvSpPr>
          <p:cNvPr id="8" name="Text 6"/>
          <p:cNvSpPr txBox="1"/>
          <p:nvPr/>
        </p:nvSpPr>
        <p:spPr>
          <a:xfrm>
            <a:off x="4160520" y="2221992"/>
            <a:ext cx="1036320" cy="384048"/>
          </a:xfrm>
          <a:prstGeom prst="rect">
            <a:avLst/>
          </a:prstGeom>
          <a:noFill/>
          <a:ln/>
        </p:spPr>
        <p:txBody>
          <a:bodyPr wrap="square" lIns="0" tIns="0" rIns="0" bIns="0" rtlCol="0" anchor="t"/>
          <a:lstStyle/>
          <a:p>
            <a:pPr marL="0" indent="0">
              <a:buNone/>
            </a:pPr>
            <a:r>
              <a:rPr lang="en-US" sz="1000" dirty="0">
                <a:solidFill>
                  <a:srgbClr val="D5DAE1"/>
                </a:solidFill>
              </a:rPr>
              <a:t>verify, save,</a:t>
            </a:r>
            <a:endParaRPr lang="en-US" sz="1000" dirty="0"/>
          </a:p>
          <a:p>
            <a:pPr marL="0" indent="0">
              <a:buNone/>
            </a:pPr>
            <a:r>
              <a:rPr lang="en-US" sz="1000" dirty="0">
                <a:solidFill>
                  <a:srgbClr val="D5DAE1"/>
                </a:solidFill>
              </a:rPr>
              <a:t>answer 202</a:t>
            </a:r>
            <a:endParaRPr lang="en-US" sz="1000" dirty="0"/>
          </a:p>
        </p:txBody>
      </p:sp>
      <p:sp>
        <p:nvSpPr>
          <p:cNvPr id="9" name="Worker"/>
          <p:cNvSpPr/>
          <p:nvPr/>
        </p:nvSpPr>
        <p:spPr>
          <a:xfrm>
            <a:off x="5516880" y="1892808"/>
            <a:ext cx="1173480" cy="777240"/>
          </a:xfrm>
          <a:prstGeom prst="roundRect">
            <a:avLst>
              <a:gd name="adj" fmla="val 5882"/>
            </a:avLst>
          </a:prstGeom>
          <a:solidFill>
            <a:srgbClr val="262B33"/>
          </a:solidFill>
          <a:ln/>
        </p:spPr>
        <p:txBody>
          <a:bodyPr/>
          <a:lstStyle/>
          <a:p>
            <a:endParaRPr lang="en-US"/>
          </a:p>
        </p:txBody>
      </p:sp>
      <p:sp>
        <p:nvSpPr>
          <p:cNvPr id="10" name="Text 8"/>
          <p:cNvSpPr txBox="1"/>
          <p:nvPr/>
        </p:nvSpPr>
        <p:spPr>
          <a:xfrm>
            <a:off x="5608320" y="1975104"/>
            <a:ext cx="1036320" cy="219456"/>
          </a:xfrm>
          <a:prstGeom prst="rect">
            <a:avLst/>
          </a:prstGeom>
          <a:noFill/>
          <a:ln/>
        </p:spPr>
        <p:txBody>
          <a:bodyPr wrap="square" lIns="0" tIns="0" rIns="0" bIns="0" rtlCol="0" anchor="t"/>
          <a:lstStyle/>
          <a:p>
            <a:pPr marL="0" indent="0">
              <a:buNone/>
            </a:pPr>
            <a:r>
              <a:rPr lang="en-US" sz="1200" b="1" dirty="0">
                <a:solidFill>
                  <a:schemeClr val="bg1"/>
                </a:solidFill>
              </a:rPr>
              <a:t>Worker</a:t>
            </a:r>
            <a:endParaRPr lang="en-US" sz="1200" dirty="0"/>
          </a:p>
        </p:txBody>
      </p:sp>
      <p:sp>
        <p:nvSpPr>
          <p:cNvPr id="11" name="Text 9"/>
          <p:cNvSpPr txBox="1"/>
          <p:nvPr/>
        </p:nvSpPr>
        <p:spPr>
          <a:xfrm>
            <a:off x="5608320" y="2221992"/>
            <a:ext cx="1036320" cy="384048"/>
          </a:xfrm>
          <a:prstGeom prst="rect">
            <a:avLst/>
          </a:prstGeom>
          <a:noFill/>
          <a:ln/>
        </p:spPr>
        <p:txBody>
          <a:bodyPr wrap="square" lIns="0" tIns="0" rIns="0" bIns="0" rtlCol="0" anchor="t"/>
          <a:lstStyle/>
          <a:p>
            <a:pPr marL="0" indent="0">
              <a:buNone/>
            </a:pPr>
            <a:r>
              <a:rPr lang="en-US" sz="1000" dirty="0">
                <a:solidFill>
                  <a:srgbClr val="D5DAE1"/>
                </a:solidFill>
              </a:rPr>
              <a:t>one order</a:t>
            </a:r>
            <a:endParaRPr lang="en-US" sz="1000" dirty="0"/>
          </a:p>
          <a:p>
            <a:pPr marL="0" indent="0">
              <a:buNone/>
            </a:pPr>
            <a:r>
              <a:rPr lang="en-US" sz="1000" dirty="0">
                <a:solidFill>
                  <a:srgbClr val="D5DAE1"/>
                </a:solidFill>
              </a:rPr>
              <a:t>at a time</a:t>
            </a:r>
            <a:endParaRPr lang="en-US" sz="1000" dirty="0"/>
          </a:p>
        </p:txBody>
      </p:sp>
      <p:sp>
        <p:nvSpPr>
          <p:cNvPr id="12" name="Router"/>
          <p:cNvSpPr/>
          <p:nvPr/>
        </p:nvSpPr>
        <p:spPr>
          <a:xfrm>
            <a:off x="6964680" y="1892808"/>
            <a:ext cx="1173480" cy="777240"/>
          </a:xfrm>
          <a:prstGeom prst="roundRect">
            <a:avLst>
              <a:gd name="adj" fmla="val 5882"/>
            </a:avLst>
          </a:prstGeom>
          <a:solidFill>
            <a:srgbClr val="262B33"/>
          </a:solidFill>
          <a:ln/>
        </p:spPr>
        <p:txBody>
          <a:bodyPr/>
          <a:lstStyle/>
          <a:p>
            <a:endParaRPr lang="en-US"/>
          </a:p>
        </p:txBody>
      </p:sp>
      <p:sp>
        <p:nvSpPr>
          <p:cNvPr id="13" name="Text 11"/>
          <p:cNvSpPr txBox="1"/>
          <p:nvPr/>
        </p:nvSpPr>
        <p:spPr>
          <a:xfrm>
            <a:off x="7056120" y="1975104"/>
            <a:ext cx="1036320" cy="219456"/>
          </a:xfrm>
          <a:prstGeom prst="rect">
            <a:avLst/>
          </a:prstGeom>
          <a:noFill/>
          <a:ln/>
        </p:spPr>
        <p:txBody>
          <a:bodyPr wrap="square" lIns="0" tIns="0" rIns="0" bIns="0" rtlCol="0" anchor="t"/>
          <a:lstStyle/>
          <a:p>
            <a:pPr marL="0" indent="0">
              <a:buNone/>
            </a:pPr>
            <a:r>
              <a:rPr lang="en-US" sz="1200" b="1" dirty="0">
                <a:solidFill>
                  <a:schemeClr val="bg1"/>
                </a:solidFill>
              </a:rPr>
              <a:t>Router</a:t>
            </a:r>
            <a:endParaRPr lang="en-US" sz="1200" dirty="0"/>
          </a:p>
        </p:txBody>
      </p:sp>
      <p:sp>
        <p:nvSpPr>
          <p:cNvPr id="14" name="Text 12"/>
          <p:cNvSpPr txBox="1"/>
          <p:nvPr/>
        </p:nvSpPr>
        <p:spPr>
          <a:xfrm>
            <a:off x="7056120" y="2221992"/>
            <a:ext cx="1036320" cy="384048"/>
          </a:xfrm>
          <a:prstGeom prst="rect">
            <a:avLst/>
          </a:prstGeom>
          <a:noFill/>
          <a:ln/>
        </p:spPr>
        <p:txBody>
          <a:bodyPr wrap="square" lIns="0" tIns="0" rIns="0" bIns="0" rtlCol="0" anchor="t"/>
          <a:lstStyle/>
          <a:p>
            <a:pPr marL="0" indent="0">
              <a:buNone/>
            </a:pPr>
            <a:r>
              <a:rPr lang="en-US" sz="1000" dirty="0">
                <a:solidFill>
                  <a:srgbClr val="D5DAE1"/>
                </a:solidFill>
              </a:rPr>
              <a:t>only writer of</a:t>
            </a:r>
            <a:endParaRPr lang="en-US" sz="1000" dirty="0"/>
          </a:p>
          <a:p>
            <a:pPr marL="0" indent="0">
              <a:buNone/>
            </a:pPr>
            <a:r>
              <a:rPr lang="en-US" sz="1000" dirty="0">
                <a:solidFill>
                  <a:srgbClr val="D5DAE1"/>
                </a:solidFill>
              </a:rPr>
              <a:t>order status</a:t>
            </a:r>
            <a:endParaRPr lang="en-US" sz="1000" dirty="0"/>
          </a:p>
        </p:txBody>
      </p:sp>
      <p:sp>
        <p:nvSpPr>
          <p:cNvPr id="15" name="Audit log"/>
          <p:cNvSpPr/>
          <p:nvPr/>
        </p:nvSpPr>
        <p:spPr>
          <a:xfrm>
            <a:off x="4069080" y="2944368"/>
            <a:ext cx="1173480" cy="777240"/>
          </a:xfrm>
          <a:prstGeom prst="roundRect">
            <a:avLst>
              <a:gd name="adj" fmla="val 5882"/>
            </a:avLst>
          </a:prstGeom>
          <a:solidFill>
            <a:srgbClr val="262B33"/>
          </a:solidFill>
          <a:ln/>
        </p:spPr>
        <p:txBody>
          <a:bodyPr/>
          <a:lstStyle/>
          <a:p>
            <a:endParaRPr lang="en-US"/>
          </a:p>
        </p:txBody>
      </p:sp>
      <p:sp>
        <p:nvSpPr>
          <p:cNvPr id="16" name="Text 14"/>
          <p:cNvSpPr txBox="1"/>
          <p:nvPr/>
        </p:nvSpPr>
        <p:spPr>
          <a:xfrm>
            <a:off x="4160520" y="3026664"/>
            <a:ext cx="1036320" cy="219456"/>
          </a:xfrm>
          <a:prstGeom prst="rect">
            <a:avLst/>
          </a:prstGeom>
          <a:noFill/>
          <a:ln/>
        </p:spPr>
        <p:txBody>
          <a:bodyPr wrap="square" lIns="0" tIns="0" rIns="0" bIns="0" rtlCol="0" anchor="t"/>
          <a:lstStyle/>
          <a:p>
            <a:pPr marL="0" indent="0">
              <a:buNone/>
            </a:pPr>
            <a:r>
              <a:rPr lang="en-US" sz="1200" b="1" dirty="0">
                <a:solidFill>
                  <a:schemeClr val="bg1"/>
                </a:solidFill>
              </a:rPr>
              <a:t>Audit log</a:t>
            </a:r>
            <a:endParaRPr lang="en-US" sz="1200" dirty="0"/>
          </a:p>
        </p:txBody>
      </p:sp>
      <p:sp>
        <p:nvSpPr>
          <p:cNvPr id="17" name="Text 15"/>
          <p:cNvSpPr txBox="1"/>
          <p:nvPr/>
        </p:nvSpPr>
        <p:spPr>
          <a:xfrm>
            <a:off x="4160520" y="3273552"/>
            <a:ext cx="1036320" cy="384048"/>
          </a:xfrm>
          <a:prstGeom prst="rect">
            <a:avLst/>
          </a:prstGeom>
          <a:noFill/>
          <a:ln/>
        </p:spPr>
        <p:txBody>
          <a:bodyPr wrap="square" lIns="0" tIns="0" rIns="0" bIns="0" rtlCol="0" anchor="t"/>
          <a:lstStyle/>
          <a:p>
            <a:pPr marL="0" indent="0">
              <a:buNone/>
            </a:pPr>
            <a:r>
              <a:rPr lang="en-US" sz="1000" dirty="0">
                <a:solidFill>
                  <a:srgbClr val="D5DAE1"/>
                </a:solidFill>
              </a:rPr>
              <a:t>every step, with</a:t>
            </a:r>
            <a:endParaRPr lang="en-US" sz="1000" dirty="0"/>
          </a:p>
          <a:p>
            <a:pPr marL="0" indent="0">
              <a:buNone/>
            </a:pPr>
            <a:r>
              <a:rPr lang="en-US" sz="1000" dirty="0">
                <a:solidFill>
                  <a:srgbClr val="D5DAE1"/>
                </a:solidFill>
              </a:rPr>
              <a:t>a correlation id</a:t>
            </a:r>
            <a:endParaRPr lang="en-US" sz="1000" dirty="0"/>
          </a:p>
        </p:txBody>
      </p:sp>
      <p:sp>
        <p:nvSpPr>
          <p:cNvPr id="18" name="Reconciler"/>
          <p:cNvSpPr/>
          <p:nvPr/>
        </p:nvSpPr>
        <p:spPr>
          <a:xfrm>
            <a:off x="5516880" y="2944368"/>
            <a:ext cx="1173480" cy="777240"/>
          </a:xfrm>
          <a:prstGeom prst="roundRect">
            <a:avLst>
              <a:gd name="adj" fmla="val 5882"/>
            </a:avLst>
          </a:prstGeom>
          <a:solidFill>
            <a:srgbClr val="262B33"/>
          </a:solidFill>
          <a:ln/>
        </p:spPr>
        <p:txBody>
          <a:bodyPr/>
          <a:lstStyle/>
          <a:p>
            <a:endParaRPr lang="en-US"/>
          </a:p>
        </p:txBody>
      </p:sp>
      <p:sp>
        <p:nvSpPr>
          <p:cNvPr id="19" name="Text 17"/>
          <p:cNvSpPr txBox="1"/>
          <p:nvPr/>
        </p:nvSpPr>
        <p:spPr>
          <a:xfrm>
            <a:off x="5608320" y="3026664"/>
            <a:ext cx="1036320" cy="219456"/>
          </a:xfrm>
          <a:prstGeom prst="rect">
            <a:avLst/>
          </a:prstGeom>
          <a:noFill/>
          <a:ln/>
        </p:spPr>
        <p:txBody>
          <a:bodyPr wrap="square" lIns="0" tIns="0" rIns="0" bIns="0" rtlCol="0" anchor="t"/>
          <a:lstStyle/>
          <a:p>
            <a:pPr marL="0" indent="0">
              <a:buNone/>
            </a:pPr>
            <a:r>
              <a:rPr lang="en-US" sz="1200" b="1" dirty="0">
                <a:solidFill>
                  <a:schemeClr val="bg1"/>
                </a:solidFill>
              </a:rPr>
              <a:t>Reconciler</a:t>
            </a:r>
            <a:endParaRPr lang="en-US" sz="1200" dirty="0"/>
          </a:p>
        </p:txBody>
      </p:sp>
      <p:sp>
        <p:nvSpPr>
          <p:cNvPr id="20" name="Text 18"/>
          <p:cNvSpPr txBox="1"/>
          <p:nvPr/>
        </p:nvSpPr>
        <p:spPr>
          <a:xfrm>
            <a:off x="5608320" y="3273552"/>
            <a:ext cx="1036320" cy="384048"/>
          </a:xfrm>
          <a:prstGeom prst="rect">
            <a:avLst/>
          </a:prstGeom>
          <a:noFill/>
          <a:ln/>
        </p:spPr>
        <p:txBody>
          <a:bodyPr wrap="square" lIns="0" tIns="0" rIns="0" bIns="0" rtlCol="0" anchor="t"/>
          <a:lstStyle/>
          <a:p>
            <a:pPr marL="0" indent="0">
              <a:buNone/>
            </a:pPr>
            <a:r>
              <a:rPr lang="en-US" sz="1000" dirty="0">
                <a:solidFill>
                  <a:srgbClr val="D5DAE1"/>
                </a:solidFill>
              </a:rPr>
              <a:t>true stock to</a:t>
            </a:r>
            <a:endParaRPr lang="en-US" sz="1000" dirty="0"/>
          </a:p>
          <a:p>
            <a:pPr marL="0" indent="0">
              <a:buNone/>
            </a:pPr>
            <a:r>
              <a:rPr lang="en-US" sz="1000" dirty="0">
                <a:solidFill>
                  <a:srgbClr val="D5DAE1"/>
                </a:solidFill>
              </a:rPr>
              <a:t>both channels</a:t>
            </a:r>
            <a:endParaRPr lang="en-US" sz="1000" dirty="0"/>
          </a:p>
        </p:txBody>
      </p:sp>
      <p:sp>
        <p:nvSpPr>
          <p:cNvPr id="21" name="Review queue"/>
          <p:cNvSpPr/>
          <p:nvPr/>
        </p:nvSpPr>
        <p:spPr>
          <a:xfrm>
            <a:off x="6964680" y="2944368"/>
            <a:ext cx="1173480" cy="777240"/>
          </a:xfrm>
          <a:prstGeom prst="roundRect">
            <a:avLst>
              <a:gd name="adj" fmla="val 5882"/>
            </a:avLst>
          </a:prstGeom>
          <a:solidFill>
            <a:srgbClr val="262B33"/>
          </a:solidFill>
          <a:ln/>
        </p:spPr>
        <p:txBody>
          <a:bodyPr/>
          <a:lstStyle/>
          <a:p>
            <a:endParaRPr lang="en-US"/>
          </a:p>
        </p:txBody>
      </p:sp>
      <p:sp>
        <p:nvSpPr>
          <p:cNvPr id="22" name="Text 20"/>
          <p:cNvSpPr txBox="1"/>
          <p:nvPr/>
        </p:nvSpPr>
        <p:spPr>
          <a:xfrm>
            <a:off x="7056120" y="3026664"/>
            <a:ext cx="1036320" cy="219456"/>
          </a:xfrm>
          <a:prstGeom prst="rect">
            <a:avLst/>
          </a:prstGeom>
          <a:noFill/>
          <a:ln/>
        </p:spPr>
        <p:txBody>
          <a:bodyPr wrap="square" lIns="0" tIns="0" rIns="0" bIns="0" rtlCol="0" anchor="t"/>
          <a:lstStyle/>
          <a:p>
            <a:pPr marL="0" indent="0">
              <a:buNone/>
            </a:pPr>
            <a:r>
              <a:rPr lang="en-US" sz="1200" b="1" dirty="0">
                <a:solidFill>
                  <a:schemeClr val="bg1"/>
                </a:solidFill>
              </a:rPr>
              <a:t>Review queue</a:t>
            </a:r>
            <a:endParaRPr lang="en-US" sz="1200" dirty="0"/>
          </a:p>
        </p:txBody>
      </p:sp>
      <p:sp>
        <p:nvSpPr>
          <p:cNvPr id="23" name="Text 21"/>
          <p:cNvSpPr txBox="1"/>
          <p:nvPr/>
        </p:nvSpPr>
        <p:spPr>
          <a:xfrm>
            <a:off x="7056120" y="3273552"/>
            <a:ext cx="1036320" cy="384048"/>
          </a:xfrm>
          <a:prstGeom prst="rect">
            <a:avLst/>
          </a:prstGeom>
          <a:noFill/>
          <a:ln/>
        </p:spPr>
        <p:txBody>
          <a:bodyPr wrap="square" lIns="0" tIns="0" rIns="0" bIns="0" rtlCol="0" anchor="t"/>
          <a:lstStyle/>
          <a:p>
            <a:pPr marL="0" indent="0">
              <a:buNone/>
            </a:pPr>
            <a:r>
              <a:rPr lang="en-US" sz="1000" dirty="0">
                <a:solidFill>
                  <a:srgbClr val="D5DAE1"/>
                </a:solidFill>
              </a:rPr>
              <a:t>a person</a:t>
            </a:r>
            <a:endParaRPr lang="en-US" sz="1000" dirty="0"/>
          </a:p>
          <a:p>
            <a:pPr marL="0" indent="0">
              <a:buNone/>
            </a:pPr>
            <a:r>
              <a:rPr lang="en-US" sz="1000" dirty="0">
                <a:solidFill>
                  <a:srgbClr val="D5DAE1"/>
                </a:solidFill>
              </a:rPr>
              <a:t>decides</a:t>
            </a:r>
            <a:endParaRPr lang="en-US" sz="1000" dirty="0"/>
          </a:p>
        </p:txBody>
      </p:sp>
      <p:sp>
        <p:nvSpPr>
          <p:cNvPr id="24" name="SQLite"/>
          <p:cNvSpPr/>
          <p:nvPr/>
        </p:nvSpPr>
        <p:spPr>
          <a:xfrm>
            <a:off x="4069080" y="3950208"/>
            <a:ext cx="2621280" cy="457200"/>
          </a:xfrm>
          <a:prstGeom prst="roundRect">
            <a:avLst>
              <a:gd name="adj" fmla="val 10000"/>
            </a:avLst>
          </a:prstGeom>
          <a:solidFill>
            <a:srgbClr val="262B33"/>
          </a:solidFill>
          <a:ln/>
        </p:spPr>
        <p:txBody>
          <a:bodyPr/>
          <a:lstStyle/>
          <a:p>
            <a:endParaRPr lang="en-US"/>
          </a:p>
        </p:txBody>
      </p:sp>
      <p:sp>
        <p:nvSpPr>
          <p:cNvPr id="25" name="Text 23"/>
          <p:cNvSpPr txBox="1"/>
          <p:nvPr/>
        </p:nvSpPr>
        <p:spPr>
          <a:xfrm>
            <a:off x="4160520" y="3950208"/>
            <a:ext cx="2484120" cy="457200"/>
          </a:xfrm>
          <a:prstGeom prst="rect">
            <a:avLst/>
          </a:prstGeom>
          <a:noFill/>
          <a:ln/>
        </p:spPr>
        <p:txBody>
          <a:bodyPr wrap="square" lIns="0" tIns="0" rIns="0" bIns="0" rtlCol="0" anchor="ctr"/>
          <a:lstStyle/>
          <a:p>
            <a:pPr marL="0" indent="0">
              <a:buNone/>
            </a:pPr>
            <a:r>
              <a:rPr lang="en-US" sz="1200" b="1" dirty="0">
                <a:solidFill>
                  <a:schemeClr val="bg1"/>
                </a:solidFill>
              </a:rPr>
              <a:t>SQLite</a:t>
            </a:r>
            <a:r>
              <a:rPr lang="en-US" sz="1000" dirty="0">
                <a:solidFill>
                  <a:srgbClr val="D5DAE1"/>
                </a:solidFill>
              </a:rPr>
              <a:t>   inbox, orders, stock, audit</a:t>
            </a:r>
            <a:endParaRPr lang="en-US" sz="1400" dirty="0"/>
          </a:p>
        </p:txBody>
      </p:sp>
      <p:sp>
        <p:nvSpPr>
          <p:cNvPr id="26" name="Retry policy"/>
          <p:cNvSpPr/>
          <p:nvPr/>
        </p:nvSpPr>
        <p:spPr>
          <a:xfrm>
            <a:off x="6964680" y="3950208"/>
            <a:ext cx="1173480" cy="457200"/>
          </a:xfrm>
          <a:prstGeom prst="roundRect">
            <a:avLst>
              <a:gd name="adj" fmla="val 10000"/>
            </a:avLst>
          </a:prstGeom>
          <a:solidFill>
            <a:srgbClr val="262B33"/>
          </a:solidFill>
          <a:ln/>
        </p:spPr>
        <p:txBody>
          <a:bodyPr/>
          <a:lstStyle/>
          <a:p>
            <a:endParaRPr lang="en-US"/>
          </a:p>
        </p:txBody>
      </p:sp>
      <p:sp>
        <p:nvSpPr>
          <p:cNvPr id="27" name="Text 25"/>
          <p:cNvSpPr txBox="1"/>
          <p:nvPr/>
        </p:nvSpPr>
        <p:spPr>
          <a:xfrm>
            <a:off x="7056120" y="3950208"/>
            <a:ext cx="1036320" cy="457200"/>
          </a:xfrm>
          <a:prstGeom prst="rect">
            <a:avLst/>
          </a:prstGeom>
          <a:noFill/>
          <a:ln/>
        </p:spPr>
        <p:txBody>
          <a:bodyPr wrap="square" lIns="0" tIns="0" rIns="0" bIns="0" rtlCol="0" anchor="ctr"/>
          <a:lstStyle/>
          <a:p>
            <a:pPr marL="0" indent="0">
              <a:buNone/>
            </a:pPr>
            <a:r>
              <a:rPr lang="en-US" sz="1200" b="1" dirty="0">
                <a:solidFill>
                  <a:schemeClr val="bg1"/>
                </a:solidFill>
              </a:rPr>
              <a:t>Retry policy</a:t>
            </a:r>
            <a:endParaRPr lang="en-US" sz="1400" dirty="0"/>
          </a:p>
        </p:txBody>
      </p:sp>
      <p:sp>
        <p:nvSpPr>
          <p:cNvPr id="28" name="Shape 26"/>
          <p:cNvSpPr/>
          <p:nvPr/>
        </p:nvSpPr>
        <p:spPr>
          <a:xfrm>
            <a:off x="5269992" y="2281428"/>
            <a:ext cx="219456" cy="0"/>
          </a:xfrm>
          <a:prstGeom prst="line">
            <a:avLst/>
          </a:prstGeom>
          <a:noFill/>
          <a:ln w="12700">
            <a:solidFill>
              <a:srgbClr val="A3ABB8"/>
            </a:solidFill>
            <a:prstDash val="solid"/>
            <a:tailEnd type="triangle"/>
          </a:ln>
        </p:spPr>
        <p:txBody>
          <a:bodyPr/>
          <a:lstStyle/>
          <a:p>
            <a:endParaRPr lang="en-US"/>
          </a:p>
        </p:txBody>
      </p:sp>
      <p:sp>
        <p:nvSpPr>
          <p:cNvPr id="29" name="Shape 27"/>
          <p:cNvSpPr/>
          <p:nvPr/>
        </p:nvSpPr>
        <p:spPr>
          <a:xfrm>
            <a:off x="6717792" y="2281428"/>
            <a:ext cx="219456" cy="0"/>
          </a:xfrm>
          <a:prstGeom prst="line">
            <a:avLst/>
          </a:prstGeom>
          <a:noFill/>
          <a:ln w="12700">
            <a:solidFill>
              <a:srgbClr val="A3ABB8"/>
            </a:solidFill>
            <a:prstDash val="solid"/>
            <a:tailEnd type="triangle"/>
          </a:ln>
        </p:spPr>
        <p:txBody>
          <a:bodyPr/>
          <a:lstStyle/>
          <a:p>
            <a:endParaRPr lang="en-US"/>
          </a:p>
        </p:txBody>
      </p:sp>
      <p:sp>
        <p:nvSpPr>
          <p:cNvPr id="30" name="Shape 28"/>
          <p:cNvSpPr/>
          <p:nvPr/>
        </p:nvSpPr>
        <p:spPr>
          <a:xfrm>
            <a:off x="6103620" y="2697480"/>
            <a:ext cx="0" cy="219456"/>
          </a:xfrm>
          <a:prstGeom prst="line">
            <a:avLst/>
          </a:prstGeom>
          <a:noFill/>
          <a:ln w="12700">
            <a:solidFill>
              <a:srgbClr val="A3ABB8"/>
            </a:solidFill>
            <a:prstDash val="solid"/>
            <a:tailEnd type="triangle"/>
          </a:ln>
        </p:spPr>
        <p:txBody>
          <a:bodyPr/>
          <a:lstStyle/>
          <a:p>
            <a:endParaRPr lang="en-US"/>
          </a:p>
        </p:txBody>
      </p:sp>
      <p:sp>
        <p:nvSpPr>
          <p:cNvPr id="31" name="Shape 29"/>
          <p:cNvSpPr/>
          <p:nvPr/>
        </p:nvSpPr>
        <p:spPr>
          <a:xfrm>
            <a:off x="7551420" y="2697480"/>
            <a:ext cx="0" cy="219456"/>
          </a:xfrm>
          <a:prstGeom prst="line">
            <a:avLst/>
          </a:prstGeom>
          <a:noFill/>
          <a:ln w="12700">
            <a:solidFill>
              <a:srgbClr val="A3ABB8"/>
            </a:solidFill>
            <a:prstDash val="solid"/>
            <a:tailEnd type="triangle"/>
          </a:ln>
        </p:spPr>
        <p:txBody>
          <a:bodyPr/>
          <a:lstStyle/>
          <a:p>
            <a:endParaRPr lang="en-US"/>
          </a:p>
        </p:txBody>
      </p:sp>
      <p:sp>
        <p:nvSpPr>
          <p:cNvPr id="32" name="shop"/>
          <p:cNvSpPr/>
          <p:nvPr/>
        </p:nvSpPr>
        <p:spPr>
          <a:xfrm>
            <a:off x="548640" y="1600200"/>
            <a:ext cx="2011680" cy="960120"/>
          </a:xfrm>
          <a:prstGeom prst="rect">
            <a:avLst/>
          </a:prstGeom>
          <a:solidFill>
            <a:schemeClr val="bg1"/>
          </a:solidFill>
          <a:ln w="19050">
            <a:solidFill>
              <a:schemeClr val="accent2"/>
            </a:solidFill>
            <a:prstDash val="solid"/>
          </a:ln>
        </p:spPr>
        <p:txBody>
          <a:bodyPr/>
          <a:lstStyle/>
          <a:p>
            <a:endParaRPr lang="en-US"/>
          </a:p>
        </p:txBody>
      </p:sp>
      <p:sp>
        <p:nvSpPr>
          <p:cNvPr id="33" name="Text 31"/>
          <p:cNvSpPr txBox="1"/>
          <p:nvPr/>
        </p:nvSpPr>
        <p:spPr>
          <a:xfrm>
            <a:off x="694944" y="1719072"/>
            <a:ext cx="1737360" cy="201168"/>
          </a:xfrm>
          <a:prstGeom prst="rect">
            <a:avLst/>
          </a:prstGeom>
          <a:noFill/>
          <a:ln/>
        </p:spPr>
        <p:txBody>
          <a:bodyPr wrap="square" lIns="0" tIns="0" rIns="0" bIns="0" rtlCol="0" anchor="t"/>
          <a:lstStyle/>
          <a:p>
            <a:pPr marL="0" indent="0">
              <a:buNone/>
            </a:pPr>
            <a:r>
              <a:rPr lang="en-US" sz="1000" b="1" kern="0" spc="50" dirty="0">
                <a:solidFill>
                  <a:srgbClr val="8A5A12"/>
                </a:solidFill>
                <a:latin typeface="Courier New" pitchFamily="34" charset="0"/>
                <a:ea typeface="Courier New" pitchFamily="34" charset="-122"/>
                <a:cs typeface="Courier New" pitchFamily="34" charset="-120"/>
              </a:rPr>
              <a:t>SHOP · ADOBE COMMERCE</a:t>
            </a:r>
            <a:endParaRPr lang="en-US" sz="1000" dirty="0"/>
          </a:p>
        </p:txBody>
      </p:sp>
      <p:sp>
        <p:nvSpPr>
          <p:cNvPr id="34" name="Text 32"/>
          <p:cNvSpPr txBox="1"/>
          <p:nvPr/>
        </p:nvSpPr>
        <p:spPr>
          <a:xfrm>
            <a:off x="694944" y="1938528"/>
            <a:ext cx="1737360" cy="292608"/>
          </a:xfrm>
          <a:prstGeom prst="rect">
            <a:avLst/>
          </a:prstGeom>
          <a:noFill/>
          <a:ln/>
        </p:spPr>
        <p:txBody>
          <a:bodyPr wrap="square" lIns="0" tIns="0" rIns="0" bIns="0" rtlCol="0" anchor="t"/>
          <a:lstStyle/>
          <a:p>
            <a:pPr marL="0" indent="0">
              <a:buNone/>
            </a:pPr>
            <a:r>
              <a:rPr lang="en-US" sz="1500" b="1" dirty="0">
                <a:solidFill>
                  <a:schemeClr val="tx1"/>
                </a:solidFill>
              </a:rPr>
              <a:t>Electronic Market</a:t>
            </a:r>
            <a:endParaRPr lang="en-US" sz="1500" dirty="0"/>
          </a:p>
        </p:txBody>
      </p:sp>
      <p:sp>
        <p:nvSpPr>
          <p:cNvPr id="35" name="Text 33"/>
          <p:cNvSpPr txBox="1"/>
          <p:nvPr/>
        </p:nvSpPr>
        <p:spPr>
          <a:xfrm>
            <a:off x="694944" y="2258568"/>
            <a:ext cx="1737360" cy="228600"/>
          </a:xfrm>
          <a:prstGeom prst="rect">
            <a:avLst/>
          </a:prstGeom>
          <a:noFill/>
          <a:ln/>
        </p:spPr>
        <p:txBody>
          <a:bodyPr wrap="square" lIns="0" tIns="0" rIns="0" bIns="0" rtlCol="0" anchor="t"/>
          <a:lstStyle/>
          <a:p>
            <a:pPr marL="0" indent="0">
              <a:buNone/>
            </a:pPr>
            <a:r>
              <a:rPr lang="en-US" sz="1100" dirty="0">
                <a:solidFill>
                  <a:schemeClr val="tx2"/>
                </a:solidFill>
              </a:rPr>
              <a:t>mock, :8001</a:t>
            </a:r>
            <a:endParaRPr lang="en-US" sz="1100" dirty="0"/>
          </a:p>
        </p:txBody>
      </p:sp>
      <p:sp>
        <p:nvSpPr>
          <p:cNvPr id="36" name="emag"/>
          <p:cNvSpPr/>
          <p:nvPr/>
        </p:nvSpPr>
        <p:spPr>
          <a:xfrm>
            <a:off x="548640" y="3246120"/>
            <a:ext cx="2011680" cy="960120"/>
          </a:xfrm>
          <a:prstGeom prst="rect">
            <a:avLst/>
          </a:prstGeom>
          <a:solidFill>
            <a:schemeClr val="bg1"/>
          </a:solidFill>
          <a:ln w="19050">
            <a:solidFill>
              <a:schemeClr val="accent3"/>
            </a:solidFill>
            <a:prstDash val="solid"/>
          </a:ln>
        </p:spPr>
        <p:txBody>
          <a:bodyPr/>
          <a:lstStyle/>
          <a:p>
            <a:endParaRPr lang="en-US"/>
          </a:p>
        </p:txBody>
      </p:sp>
      <p:sp>
        <p:nvSpPr>
          <p:cNvPr id="37" name="Text 35"/>
          <p:cNvSpPr txBox="1"/>
          <p:nvPr/>
        </p:nvSpPr>
        <p:spPr>
          <a:xfrm>
            <a:off x="694944" y="3364992"/>
            <a:ext cx="1737360" cy="201168"/>
          </a:xfrm>
          <a:prstGeom prst="rect">
            <a:avLst/>
          </a:prstGeom>
          <a:noFill/>
          <a:ln/>
        </p:spPr>
        <p:txBody>
          <a:bodyPr wrap="square" lIns="0" tIns="0" rIns="0" bIns="0" rtlCol="0" anchor="t"/>
          <a:lstStyle/>
          <a:p>
            <a:pPr marL="0" indent="0">
              <a:buNone/>
            </a:pPr>
            <a:r>
              <a:rPr lang="en-US" sz="1000" b="1" kern="0" spc="50" dirty="0">
                <a:solidFill>
                  <a:srgbClr val="5B2569"/>
                </a:solidFill>
                <a:latin typeface="Courier New" pitchFamily="34" charset="0"/>
                <a:ea typeface="Courier New" pitchFamily="34" charset="-122"/>
                <a:cs typeface="Courier New" pitchFamily="34" charset="-120"/>
              </a:rPr>
              <a:t>MARKETPLACE · EMAG</a:t>
            </a:r>
            <a:endParaRPr lang="en-US" sz="1000" dirty="0"/>
          </a:p>
        </p:txBody>
      </p:sp>
      <p:sp>
        <p:nvSpPr>
          <p:cNvPr id="38" name="Text 36"/>
          <p:cNvSpPr txBox="1"/>
          <p:nvPr/>
        </p:nvSpPr>
        <p:spPr>
          <a:xfrm>
            <a:off x="694944" y="3584448"/>
            <a:ext cx="1737360" cy="292608"/>
          </a:xfrm>
          <a:prstGeom prst="rect">
            <a:avLst/>
          </a:prstGeom>
          <a:noFill/>
          <a:ln/>
        </p:spPr>
        <p:txBody>
          <a:bodyPr wrap="square" lIns="0" tIns="0" rIns="0" bIns="0" rtlCol="0" anchor="t"/>
          <a:lstStyle/>
          <a:p>
            <a:pPr marL="0" indent="0">
              <a:buNone/>
            </a:pPr>
            <a:r>
              <a:rPr lang="en-US" sz="1500" b="1" dirty="0">
                <a:solidFill>
                  <a:schemeClr val="tx1"/>
                </a:solidFill>
              </a:rPr>
              <a:t>eMAG</a:t>
            </a:r>
            <a:endParaRPr lang="en-US" sz="1500" dirty="0"/>
          </a:p>
        </p:txBody>
      </p:sp>
      <p:sp>
        <p:nvSpPr>
          <p:cNvPr id="39" name="Text 37"/>
          <p:cNvSpPr txBox="1"/>
          <p:nvPr/>
        </p:nvSpPr>
        <p:spPr>
          <a:xfrm>
            <a:off x="694944" y="3904488"/>
            <a:ext cx="1737360" cy="228600"/>
          </a:xfrm>
          <a:prstGeom prst="rect">
            <a:avLst/>
          </a:prstGeom>
          <a:noFill/>
          <a:ln/>
        </p:spPr>
        <p:txBody>
          <a:bodyPr wrap="square" lIns="0" tIns="0" rIns="0" bIns="0" rtlCol="0" anchor="t"/>
          <a:lstStyle/>
          <a:p>
            <a:pPr marL="0" indent="0">
              <a:buNone/>
            </a:pPr>
            <a:r>
              <a:rPr lang="en-US" sz="1100" dirty="0">
                <a:solidFill>
                  <a:schemeClr val="tx2"/>
                </a:solidFill>
              </a:rPr>
              <a:t>mock, :8002</a:t>
            </a:r>
            <a:endParaRPr lang="en-US" sz="1100" dirty="0"/>
          </a:p>
        </p:txBody>
      </p:sp>
      <p:sp>
        <p:nvSpPr>
          <p:cNvPr id="40" name="warehouse"/>
          <p:cNvSpPr/>
          <p:nvPr/>
        </p:nvSpPr>
        <p:spPr>
          <a:xfrm>
            <a:off x="9628632" y="2331720"/>
            <a:ext cx="2011680" cy="1188720"/>
          </a:xfrm>
          <a:prstGeom prst="rect">
            <a:avLst/>
          </a:prstGeom>
          <a:solidFill>
            <a:schemeClr val="bg1"/>
          </a:solidFill>
          <a:ln w="19050">
            <a:solidFill>
              <a:schemeClr val="accent4"/>
            </a:solidFill>
            <a:prstDash val="solid"/>
          </a:ln>
        </p:spPr>
        <p:txBody>
          <a:bodyPr/>
          <a:lstStyle/>
          <a:p>
            <a:endParaRPr lang="en-US"/>
          </a:p>
        </p:txBody>
      </p:sp>
      <p:sp>
        <p:nvSpPr>
          <p:cNvPr id="41" name="Text 39"/>
          <p:cNvSpPr txBox="1"/>
          <p:nvPr/>
        </p:nvSpPr>
        <p:spPr>
          <a:xfrm>
            <a:off x="9774936" y="2450592"/>
            <a:ext cx="1737360" cy="201168"/>
          </a:xfrm>
          <a:prstGeom prst="rect">
            <a:avLst/>
          </a:prstGeom>
          <a:noFill/>
          <a:ln/>
        </p:spPr>
        <p:txBody>
          <a:bodyPr wrap="square" lIns="0" tIns="0" rIns="0" bIns="0" rtlCol="0" anchor="t"/>
          <a:lstStyle/>
          <a:p>
            <a:pPr marL="0" indent="0">
              <a:buNone/>
            </a:pPr>
            <a:r>
              <a:rPr lang="en-US" sz="1000" b="1" kern="0" spc="50" dirty="0">
                <a:solidFill>
                  <a:srgbClr val="7A4E22"/>
                </a:solidFill>
                <a:latin typeface="Courier New" pitchFamily="34" charset="0"/>
                <a:ea typeface="Courier New" pitchFamily="34" charset="-122"/>
                <a:cs typeface="Courier New" pitchFamily="34" charset="-120"/>
              </a:rPr>
              <a:t>WAREHOUSE</a:t>
            </a:r>
            <a:endParaRPr lang="en-US" sz="1000" dirty="0"/>
          </a:p>
        </p:txBody>
      </p:sp>
      <p:sp>
        <p:nvSpPr>
          <p:cNvPr id="42" name="Text 40"/>
          <p:cNvSpPr txBox="1"/>
          <p:nvPr/>
        </p:nvSpPr>
        <p:spPr>
          <a:xfrm>
            <a:off x="9774936" y="2670048"/>
            <a:ext cx="1737360" cy="512064"/>
          </a:xfrm>
          <a:prstGeom prst="rect">
            <a:avLst/>
          </a:prstGeom>
          <a:noFill/>
          <a:ln/>
        </p:spPr>
        <p:txBody>
          <a:bodyPr wrap="square" lIns="0" tIns="0" rIns="0" bIns="0" rtlCol="0" anchor="t"/>
          <a:lstStyle/>
          <a:p>
            <a:pPr marL="0" indent="0">
              <a:buNone/>
            </a:pPr>
            <a:r>
              <a:rPr lang="en-US" sz="1500" b="1" dirty="0">
                <a:solidFill>
                  <a:schemeClr val="tx1"/>
                </a:solidFill>
              </a:rPr>
              <a:t>Bucharest</a:t>
            </a:r>
            <a:endParaRPr lang="en-US" sz="1500" dirty="0"/>
          </a:p>
          <a:p>
            <a:pPr marL="0" indent="0">
              <a:buNone/>
            </a:pPr>
            <a:r>
              <a:rPr lang="en-US" sz="1500" b="1" dirty="0">
                <a:solidFill>
                  <a:schemeClr val="tx1"/>
                </a:solidFill>
              </a:rPr>
              <a:t>warehouse</a:t>
            </a:r>
            <a:endParaRPr lang="en-US" sz="1500" dirty="0"/>
          </a:p>
        </p:txBody>
      </p:sp>
      <p:sp>
        <p:nvSpPr>
          <p:cNvPr id="43" name="Text 41"/>
          <p:cNvSpPr txBox="1"/>
          <p:nvPr/>
        </p:nvSpPr>
        <p:spPr>
          <a:xfrm>
            <a:off x="9774936" y="3209544"/>
            <a:ext cx="1737360" cy="228600"/>
          </a:xfrm>
          <a:prstGeom prst="rect">
            <a:avLst/>
          </a:prstGeom>
          <a:noFill/>
          <a:ln/>
        </p:spPr>
        <p:txBody>
          <a:bodyPr wrap="square" lIns="0" tIns="0" rIns="0" bIns="0" rtlCol="0" anchor="t"/>
          <a:lstStyle/>
          <a:p>
            <a:pPr marL="0" indent="0">
              <a:buNone/>
            </a:pPr>
            <a:r>
              <a:rPr lang="en-US" sz="1100" dirty="0">
                <a:solidFill>
                  <a:schemeClr val="tx2"/>
                </a:solidFill>
              </a:rPr>
              <a:t>mock, :8003</a:t>
            </a:r>
            <a:endParaRPr lang="en-US" sz="1100" dirty="0"/>
          </a:p>
        </p:txBody>
      </p:sp>
      <p:sp>
        <p:nvSpPr>
          <p:cNvPr id="44" name="operator"/>
          <p:cNvSpPr/>
          <p:nvPr/>
        </p:nvSpPr>
        <p:spPr>
          <a:xfrm>
            <a:off x="548640" y="5074920"/>
            <a:ext cx="2011680" cy="960120"/>
          </a:xfrm>
          <a:prstGeom prst="rect">
            <a:avLst/>
          </a:prstGeom>
          <a:solidFill>
            <a:schemeClr val="bg1"/>
          </a:solidFill>
          <a:ln w="15875">
            <a:solidFill>
              <a:srgbClr val="8A93A1"/>
            </a:solidFill>
            <a:prstDash val="solid"/>
          </a:ln>
        </p:spPr>
        <p:txBody>
          <a:bodyPr/>
          <a:lstStyle/>
          <a:p>
            <a:endParaRPr lang="en-US"/>
          </a:p>
        </p:txBody>
      </p:sp>
      <p:sp>
        <p:nvSpPr>
          <p:cNvPr id="45" name="Text 43"/>
          <p:cNvSpPr txBox="1"/>
          <p:nvPr/>
        </p:nvSpPr>
        <p:spPr>
          <a:xfrm>
            <a:off x="694944" y="5193792"/>
            <a:ext cx="1737360" cy="201168"/>
          </a:xfrm>
          <a:prstGeom prst="rect">
            <a:avLst/>
          </a:prstGeom>
          <a:noFill/>
          <a:ln/>
        </p:spPr>
        <p:txBody>
          <a:bodyPr wrap="square" lIns="0" tIns="0" rIns="0" bIns="0" rtlCol="0" anchor="t"/>
          <a:lstStyle/>
          <a:p>
            <a:pPr marL="0" indent="0">
              <a:buNone/>
            </a:pPr>
            <a:r>
              <a:rPr lang="en-US" sz="1000" b="1" kern="0" spc="50" dirty="0">
                <a:solidFill>
                  <a:srgbClr val="3D4552"/>
                </a:solidFill>
                <a:latin typeface="Courier New" pitchFamily="34" charset="0"/>
                <a:ea typeface="Courier New" pitchFamily="34" charset="-122"/>
                <a:cs typeface="Courier New" pitchFamily="34" charset="-120"/>
              </a:rPr>
              <a:t>PEOPLE</a:t>
            </a:r>
            <a:endParaRPr lang="en-US" sz="1000" dirty="0"/>
          </a:p>
        </p:txBody>
      </p:sp>
      <p:sp>
        <p:nvSpPr>
          <p:cNvPr id="46" name="Text 44"/>
          <p:cNvSpPr txBox="1"/>
          <p:nvPr/>
        </p:nvSpPr>
        <p:spPr>
          <a:xfrm>
            <a:off x="694944" y="5413248"/>
            <a:ext cx="1737360" cy="292608"/>
          </a:xfrm>
          <a:prstGeom prst="rect">
            <a:avLst/>
          </a:prstGeom>
          <a:noFill/>
          <a:ln/>
        </p:spPr>
        <p:txBody>
          <a:bodyPr wrap="square" lIns="0" tIns="0" rIns="0" bIns="0" rtlCol="0" anchor="t"/>
          <a:lstStyle/>
          <a:p>
            <a:pPr marL="0" indent="0">
              <a:buNone/>
            </a:pPr>
            <a:r>
              <a:rPr lang="en-US" sz="1500" b="1" dirty="0">
                <a:solidFill>
                  <a:schemeClr val="tx1"/>
                </a:solidFill>
              </a:rPr>
              <a:t>Operator</a:t>
            </a:r>
            <a:endParaRPr lang="en-US" sz="1500" dirty="0"/>
          </a:p>
        </p:txBody>
      </p:sp>
      <p:sp>
        <p:nvSpPr>
          <p:cNvPr id="47" name="Text 45"/>
          <p:cNvSpPr txBox="1"/>
          <p:nvPr/>
        </p:nvSpPr>
        <p:spPr>
          <a:xfrm>
            <a:off x="694944" y="5733288"/>
            <a:ext cx="1737360" cy="228600"/>
          </a:xfrm>
          <a:prstGeom prst="rect">
            <a:avLst/>
          </a:prstGeom>
          <a:noFill/>
          <a:ln/>
        </p:spPr>
        <p:txBody>
          <a:bodyPr wrap="square" lIns="0" tIns="0" rIns="0" bIns="0" rtlCol="0" anchor="t"/>
          <a:lstStyle/>
          <a:p>
            <a:pPr marL="0" indent="0">
              <a:buNone/>
            </a:pPr>
            <a:r>
              <a:rPr lang="en-US" sz="1100" dirty="0">
                <a:solidFill>
                  <a:schemeClr val="tx2"/>
                </a:solidFill>
              </a:rPr>
              <a:t>viewer, operator, admin</a:t>
            </a:r>
            <a:endParaRPr lang="en-US" sz="1100" dirty="0"/>
          </a:p>
        </p:txBody>
      </p:sp>
      <p:sp>
        <p:nvSpPr>
          <p:cNvPr id="48" name="dashboard"/>
          <p:cNvSpPr/>
          <p:nvPr/>
        </p:nvSpPr>
        <p:spPr>
          <a:xfrm>
            <a:off x="3886200" y="5074920"/>
            <a:ext cx="2103120" cy="960120"/>
          </a:xfrm>
          <a:prstGeom prst="rect">
            <a:avLst/>
          </a:prstGeom>
          <a:solidFill>
            <a:schemeClr val="bg1"/>
          </a:solidFill>
          <a:ln w="19050">
            <a:solidFill>
              <a:schemeClr val="tx1"/>
            </a:solidFill>
            <a:prstDash val="solid"/>
          </a:ln>
        </p:spPr>
        <p:txBody>
          <a:bodyPr/>
          <a:lstStyle/>
          <a:p>
            <a:endParaRPr lang="en-US"/>
          </a:p>
        </p:txBody>
      </p:sp>
      <p:sp>
        <p:nvSpPr>
          <p:cNvPr id="49" name="Text 47"/>
          <p:cNvSpPr txBox="1"/>
          <p:nvPr/>
        </p:nvSpPr>
        <p:spPr>
          <a:xfrm>
            <a:off x="4032504" y="5193792"/>
            <a:ext cx="1828800" cy="201168"/>
          </a:xfrm>
          <a:prstGeom prst="rect">
            <a:avLst/>
          </a:prstGeom>
          <a:noFill/>
          <a:ln/>
        </p:spPr>
        <p:txBody>
          <a:bodyPr wrap="square" lIns="0" tIns="0" rIns="0" bIns="0" rtlCol="0" anchor="t"/>
          <a:lstStyle/>
          <a:p>
            <a:pPr marL="0" indent="0">
              <a:buNone/>
            </a:pPr>
            <a:r>
              <a:rPr lang="en-US" sz="1000" b="1" kern="0" spc="50" dirty="0">
                <a:solidFill>
                  <a:srgbClr val="3D4552"/>
                </a:solidFill>
                <a:latin typeface="Courier New" pitchFamily="34" charset="0"/>
                <a:ea typeface="Courier New" pitchFamily="34" charset="-122"/>
                <a:cs typeface="Courier New" pitchFamily="34" charset="-120"/>
              </a:rPr>
              <a:t>BROWSER</a:t>
            </a:r>
            <a:endParaRPr lang="en-US" sz="1000" dirty="0"/>
          </a:p>
        </p:txBody>
      </p:sp>
      <p:sp>
        <p:nvSpPr>
          <p:cNvPr id="50" name="Text 48"/>
          <p:cNvSpPr txBox="1"/>
          <p:nvPr/>
        </p:nvSpPr>
        <p:spPr>
          <a:xfrm>
            <a:off x="4032504" y="5413248"/>
            <a:ext cx="1828800" cy="292608"/>
          </a:xfrm>
          <a:prstGeom prst="rect">
            <a:avLst/>
          </a:prstGeom>
          <a:noFill/>
          <a:ln/>
        </p:spPr>
        <p:txBody>
          <a:bodyPr wrap="square" lIns="0" tIns="0" rIns="0" bIns="0" rtlCol="0" anchor="t"/>
          <a:lstStyle/>
          <a:p>
            <a:pPr marL="0" indent="0">
              <a:buNone/>
            </a:pPr>
            <a:r>
              <a:rPr lang="en-US" sz="1500" b="1" dirty="0">
                <a:solidFill>
                  <a:schemeClr val="tx1"/>
                </a:solidFill>
              </a:rPr>
              <a:t>React dashboard</a:t>
            </a:r>
            <a:endParaRPr lang="en-US" sz="1500" dirty="0"/>
          </a:p>
        </p:txBody>
      </p:sp>
      <p:sp>
        <p:nvSpPr>
          <p:cNvPr id="51" name="Text 49"/>
          <p:cNvSpPr txBox="1"/>
          <p:nvPr/>
        </p:nvSpPr>
        <p:spPr>
          <a:xfrm>
            <a:off x="4032504" y="5733288"/>
            <a:ext cx="1828800" cy="228600"/>
          </a:xfrm>
          <a:prstGeom prst="rect">
            <a:avLst/>
          </a:prstGeom>
          <a:noFill/>
          <a:ln/>
        </p:spPr>
        <p:txBody>
          <a:bodyPr wrap="square" lIns="0" tIns="0" rIns="0" bIns="0" rtlCol="0" anchor="t"/>
          <a:lstStyle/>
          <a:p>
            <a:pPr marL="0" indent="0">
              <a:buNone/>
            </a:pPr>
            <a:r>
              <a:rPr lang="en-US" sz="1100" dirty="0">
                <a:solidFill>
                  <a:schemeClr val="tx2"/>
                </a:solidFill>
              </a:rPr>
              <a:t>served by the glue</a:t>
            </a:r>
            <a:endParaRPr lang="en-US" sz="1100" dirty="0"/>
          </a:p>
        </p:txBody>
      </p:sp>
      <p:sp>
        <p:nvSpPr>
          <p:cNvPr id="52" name="ollama"/>
          <p:cNvSpPr/>
          <p:nvPr/>
        </p:nvSpPr>
        <p:spPr>
          <a:xfrm>
            <a:off x="6217920" y="5074920"/>
            <a:ext cx="2103120" cy="960120"/>
          </a:xfrm>
          <a:prstGeom prst="rect">
            <a:avLst/>
          </a:prstGeom>
          <a:solidFill>
            <a:schemeClr val="bg1"/>
          </a:solidFill>
          <a:ln w="15875">
            <a:solidFill>
              <a:srgbClr val="8A93A1"/>
            </a:solidFill>
            <a:prstDash val="solid"/>
          </a:ln>
        </p:spPr>
        <p:txBody>
          <a:bodyPr/>
          <a:lstStyle/>
          <a:p>
            <a:endParaRPr lang="en-US"/>
          </a:p>
        </p:txBody>
      </p:sp>
      <p:sp>
        <p:nvSpPr>
          <p:cNvPr id="53" name="Text 51"/>
          <p:cNvSpPr txBox="1"/>
          <p:nvPr/>
        </p:nvSpPr>
        <p:spPr>
          <a:xfrm>
            <a:off x="6364224" y="5193792"/>
            <a:ext cx="1828800" cy="201168"/>
          </a:xfrm>
          <a:prstGeom prst="rect">
            <a:avLst/>
          </a:prstGeom>
          <a:noFill/>
          <a:ln/>
        </p:spPr>
        <p:txBody>
          <a:bodyPr wrap="square" lIns="0" tIns="0" rIns="0" bIns="0" rtlCol="0" anchor="t"/>
          <a:lstStyle/>
          <a:p>
            <a:pPr marL="0" indent="0">
              <a:buNone/>
            </a:pPr>
            <a:r>
              <a:rPr lang="en-US" sz="1000" b="1" kern="0" spc="50" dirty="0">
                <a:solidFill>
                  <a:srgbClr val="3D4552"/>
                </a:solidFill>
                <a:latin typeface="Courier New" pitchFamily="34" charset="0"/>
                <a:ea typeface="Courier New" pitchFamily="34" charset="-122"/>
                <a:cs typeface="Courier New" pitchFamily="34" charset="-120"/>
              </a:rPr>
              <a:t>OLLAMA CONTAINER</a:t>
            </a:r>
            <a:endParaRPr lang="en-US" sz="1000" dirty="0"/>
          </a:p>
        </p:txBody>
      </p:sp>
      <p:sp>
        <p:nvSpPr>
          <p:cNvPr id="54" name="Text 52"/>
          <p:cNvSpPr txBox="1"/>
          <p:nvPr/>
        </p:nvSpPr>
        <p:spPr>
          <a:xfrm>
            <a:off x="6364224" y="5413248"/>
            <a:ext cx="1828800" cy="292608"/>
          </a:xfrm>
          <a:prstGeom prst="rect">
            <a:avLst/>
          </a:prstGeom>
          <a:noFill/>
          <a:ln/>
        </p:spPr>
        <p:txBody>
          <a:bodyPr wrap="square" lIns="0" tIns="0" rIns="0" bIns="0" rtlCol="0" anchor="t"/>
          <a:lstStyle/>
          <a:p>
            <a:pPr marL="0" indent="0">
              <a:buNone/>
            </a:pPr>
            <a:r>
              <a:rPr lang="en-US" sz="1500" b="1" dirty="0">
                <a:solidFill>
                  <a:schemeClr val="tx1"/>
                </a:solidFill>
              </a:rPr>
              <a:t>Local model</a:t>
            </a:r>
            <a:endParaRPr lang="en-US" sz="1500" dirty="0"/>
          </a:p>
        </p:txBody>
      </p:sp>
      <p:sp>
        <p:nvSpPr>
          <p:cNvPr id="55" name="Text 53"/>
          <p:cNvSpPr txBox="1"/>
          <p:nvPr/>
        </p:nvSpPr>
        <p:spPr>
          <a:xfrm>
            <a:off x="6364224" y="5733288"/>
            <a:ext cx="1828800" cy="228600"/>
          </a:xfrm>
          <a:prstGeom prst="rect">
            <a:avLst/>
          </a:prstGeom>
          <a:noFill/>
          <a:ln/>
        </p:spPr>
        <p:txBody>
          <a:bodyPr wrap="square" lIns="0" tIns="0" rIns="0" bIns="0" rtlCol="0" anchor="t"/>
          <a:lstStyle/>
          <a:p>
            <a:pPr marL="0" indent="0">
              <a:buNone/>
            </a:pPr>
            <a:r>
              <a:rPr lang="en-US" sz="1100" dirty="0">
                <a:solidFill>
                  <a:schemeClr val="tx2"/>
                </a:solidFill>
              </a:rPr>
              <a:t>qwen2.5:3b, read-only use</a:t>
            </a:r>
            <a:endParaRPr lang="en-US" sz="1100" dirty="0"/>
          </a:p>
        </p:txBody>
      </p:sp>
      <p:sp>
        <p:nvSpPr>
          <p:cNvPr id="56" name="Shape 54"/>
          <p:cNvSpPr/>
          <p:nvPr/>
        </p:nvSpPr>
        <p:spPr>
          <a:xfrm>
            <a:off x="2560320" y="1920240"/>
            <a:ext cx="1325880" cy="0"/>
          </a:xfrm>
          <a:prstGeom prst="line">
            <a:avLst/>
          </a:prstGeom>
          <a:noFill/>
          <a:ln w="15875">
            <a:solidFill>
              <a:schemeClr val="tx1"/>
            </a:solidFill>
            <a:prstDash val="solid"/>
            <a:tailEnd type="triangle"/>
          </a:ln>
        </p:spPr>
        <p:txBody>
          <a:bodyPr/>
          <a:lstStyle/>
          <a:p>
            <a:endParaRPr lang="en-US"/>
          </a:p>
        </p:txBody>
      </p:sp>
      <p:sp>
        <p:nvSpPr>
          <p:cNvPr id="57" name="Text 55"/>
          <p:cNvSpPr txBox="1"/>
          <p:nvPr/>
        </p:nvSpPr>
        <p:spPr>
          <a:xfrm>
            <a:off x="2560320" y="1700784"/>
            <a:ext cx="132588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SIGNED EVENTS</a:t>
            </a:r>
            <a:endParaRPr lang="en-US" sz="1000" dirty="0"/>
          </a:p>
        </p:txBody>
      </p:sp>
      <p:sp>
        <p:nvSpPr>
          <p:cNvPr id="58" name="Shape 56"/>
          <p:cNvSpPr/>
          <p:nvPr/>
        </p:nvSpPr>
        <p:spPr>
          <a:xfrm flipH="1">
            <a:off x="2560320" y="2240280"/>
            <a:ext cx="1325880" cy="0"/>
          </a:xfrm>
          <a:prstGeom prst="line">
            <a:avLst/>
          </a:prstGeom>
          <a:noFill/>
          <a:ln w="15875">
            <a:solidFill>
              <a:schemeClr val="tx1"/>
            </a:solidFill>
            <a:prstDash val="solid"/>
            <a:tailEnd type="triangle"/>
          </a:ln>
        </p:spPr>
        <p:txBody>
          <a:bodyPr/>
          <a:lstStyle/>
          <a:p>
            <a:endParaRPr lang="en-US"/>
          </a:p>
        </p:txBody>
      </p:sp>
      <p:sp>
        <p:nvSpPr>
          <p:cNvPr id="59" name="Text 57"/>
          <p:cNvSpPr txBox="1"/>
          <p:nvPr/>
        </p:nvSpPr>
        <p:spPr>
          <a:xfrm>
            <a:off x="2560320" y="2286000"/>
            <a:ext cx="132588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STOCK, STATUS</a:t>
            </a:r>
            <a:endParaRPr lang="en-US" sz="1000" dirty="0"/>
          </a:p>
        </p:txBody>
      </p:sp>
      <p:sp>
        <p:nvSpPr>
          <p:cNvPr id="60" name="Shape 58"/>
          <p:cNvSpPr/>
          <p:nvPr/>
        </p:nvSpPr>
        <p:spPr>
          <a:xfrm>
            <a:off x="2560320" y="3566160"/>
            <a:ext cx="1325880" cy="0"/>
          </a:xfrm>
          <a:prstGeom prst="line">
            <a:avLst/>
          </a:prstGeom>
          <a:noFill/>
          <a:ln w="15875">
            <a:solidFill>
              <a:schemeClr val="tx1"/>
            </a:solidFill>
            <a:prstDash val="solid"/>
            <a:tailEnd type="triangle"/>
          </a:ln>
        </p:spPr>
        <p:txBody>
          <a:bodyPr/>
          <a:lstStyle/>
          <a:p>
            <a:endParaRPr lang="en-US"/>
          </a:p>
        </p:txBody>
      </p:sp>
      <p:sp>
        <p:nvSpPr>
          <p:cNvPr id="61" name="Text 59"/>
          <p:cNvSpPr txBox="1"/>
          <p:nvPr/>
        </p:nvSpPr>
        <p:spPr>
          <a:xfrm>
            <a:off x="2560320" y="3346704"/>
            <a:ext cx="132588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NOTIFY: ID ONLY</a:t>
            </a:r>
            <a:endParaRPr lang="en-US" sz="1000" dirty="0"/>
          </a:p>
        </p:txBody>
      </p:sp>
      <p:sp>
        <p:nvSpPr>
          <p:cNvPr id="62" name="Shape 60"/>
          <p:cNvSpPr/>
          <p:nvPr/>
        </p:nvSpPr>
        <p:spPr>
          <a:xfrm flipH="1">
            <a:off x="2560320" y="3886200"/>
            <a:ext cx="1325880" cy="0"/>
          </a:xfrm>
          <a:prstGeom prst="line">
            <a:avLst/>
          </a:prstGeom>
          <a:noFill/>
          <a:ln w="15875">
            <a:solidFill>
              <a:schemeClr val="tx1"/>
            </a:solidFill>
            <a:prstDash val="solid"/>
            <a:tailEnd type="triangle"/>
          </a:ln>
        </p:spPr>
        <p:txBody>
          <a:bodyPr/>
          <a:lstStyle/>
          <a:p>
            <a:endParaRPr lang="en-US"/>
          </a:p>
        </p:txBody>
      </p:sp>
      <p:sp>
        <p:nvSpPr>
          <p:cNvPr id="63" name="Text 61"/>
          <p:cNvSpPr txBox="1"/>
          <p:nvPr/>
        </p:nvSpPr>
        <p:spPr>
          <a:xfrm>
            <a:off x="2560320" y="3931920"/>
            <a:ext cx="132588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READ, ACK, STOCK</a:t>
            </a:r>
            <a:endParaRPr lang="en-US" sz="1000" dirty="0"/>
          </a:p>
        </p:txBody>
      </p:sp>
      <p:sp>
        <p:nvSpPr>
          <p:cNvPr id="64" name="Shape 62"/>
          <p:cNvSpPr/>
          <p:nvPr/>
        </p:nvSpPr>
        <p:spPr>
          <a:xfrm>
            <a:off x="8321040" y="2743200"/>
            <a:ext cx="1307592" cy="0"/>
          </a:xfrm>
          <a:prstGeom prst="line">
            <a:avLst/>
          </a:prstGeom>
          <a:noFill/>
          <a:ln w="15875">
            <a:solidFill>
              <a:schemeClr val="tx1"/>
            </a:solidFill>
            <a:prstDash val="solid"/>
            <a:tailEnd type="triangle"/>
          </a:ln>
        </p:spPr>
        <p:txBody>
          <a:bodyPr/>
          <a:lstStyle/>
          <a:p>
            <a:endParaRPr lang="en-US"/>
          </a:p>
        </p:txBody>
      </p:sp>
      <p:sp>
        <p:nvSpPr>
          <p:cNvPr id="65" name="Text 63"/>
          <p:cNvSpPr txBox="1"/>
          <p:nvPr/>
        </p:nvSpPr>
        <p:spPr>
          <a:xfrm>
            <a:off x="8321040" y="2523744"/>
            <a:ext cx="1307592"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RESERVE, CANCEL</a:t>
            </a:r>
            <a:endParaRPr lang="en-US" sz="1000" dirty="0"/>
          </a:p>
        </p:txBody>
      </p:sp>
      <p:sp>
        <p:nvSpPr>
          <p:cNvPr id="66" name="Shape 64"/>
          <p:cNvSpPr/>
          <p:nvPr/>
        </p:nvSpPr>
        <p:spPr>
          <a:xfrm flipH="1">
            <a:off x="8321040" y="3108960"/>
            <a:ext cx="1307592" cy="0"/>
          </a:xfrm>
          <a:prstGeom prst="line">
            <a:avLst/>
          </a:prstGeom>
          <a:noFill/>
          <a:ln w="15875">
            <a:solidFill>
              <a:schemeClr val="tx1"/>
            </a:solidFill>
            <a:prstDash val="solid"/>
            <a:tailEnd type="triangle"/>
          </a:ln>
        </p:spPr>
        <p:txBody>
          <a:bodyPr/>
          <a:lstStyle/>
          <a:p>
            <a:endParaRPr lang="en-US"/>
          </a:p>
        </p:txBody>
      </p:sp>
      <p:sp>
        <p:nvSpPr>
          <p:cNvPr id="67" name="Text 65"/>
          <p:cNvSpPr txBox="1"/>
          <p:nvPr/>
        </p:nvSpPr>
        <p:spPr>
          <a:xfrm>
            <a:off x="8321040" y="3154680"/>
            <a:ext cx="1307592"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SHIPPED, RECOUNT</a:t>
            </a:r>
            <a:endParaRPr lang="en-US" sz="1000" dirty="0"/>
          </a:p>
        </p:txBody>
      </p:sp>
      <p:sp>
        <p:nvSpPr>
          <p:cNvPr id="68" name="Shape 66"/>
          <p:cNvSpPr/>
          <p:nvPr/>
        </p:nvSpPr>
        <p:spPr>
          <a:xfrm>
            <a:off x="2560320" y="5554980"/>
            <a:ext cx="1325880" cy="0"/>
          </a:xfrm>
          <a:prstGeom prst="line">
            <a:avLst/>
          </a:prstGeom>
          <a:noFill/>
          <a:ln w="15875">
            <a:solidFill>
              <a:schemeClr val="tx1"/>
            </a:solidFill>
            <a:prstDash val="solid"/>
            <a:tailEnd type="triangle"/>
          </a:ln>
        </p:spPr>
        <p:txBody>
          <a:bodyPr/>
          <a:lstStyle/>
          <a:p>
            <a:endParaRPr lang="en-US"/>
          </a:p>
        </p:txBody>
      </p:sp>
      <p:sp>
        <p:nvSpPr>
          <p:cNvPr id="69" name="Text 67"/>
          <p:cNvSpPr txBox="1"/>
          <p:nvPr/>
        </p:nvSpPr>
        <p:spPr>
          <a:xfrm>
            <a:off x="2560320" y="5330952"/>
            <a:ext cx="1325880" cy="182880"/>
          </a:xfrm>
          <a:prstGeom prst="rect">
            <a:avLst/>
          </a:prstGeom>
          <a:noFill/>
          <a:ln/>
        </p:spPr>
        <p:txBody>
          <a:bodyPr wrap="square" lIns="0" tIns="0" rIns="0" bIns="0" rtlCol="0" anchor="ctr"/>
          <a:lstStyle/>
          <a:p>
            <a:pPr marL="0" indent="0" algn="ctr">
              <a:buNone/>
            </a:pPr>
            <a:r>
              <a:rPr lang="en-US" sz="1000" b="1" dirty="0">
                <a:solidFill>
                  <a:schemeClr val="tx2"/>
                </a:solidFill>
                <a:latin typeface="Courier New" pitchFamily="34" charset="0"/>
                <a:ea typeface="Courier New" pitchFamily="34" charset="-122"/>
                <a:cs typeface="Courier New" pitchFamily="34" charset="-120"/>
              </a:rPr>
              <a:t>SIGNS IN</a:t>
            </a:r>
            <a:endParaRPr lang="en-US" sz="1000" dirty="0"/>
          </a:p>
        </p:txBody>
      </p:sp>
      <p:sp>
        <p:nvSpPr>
          <p:cNvPr id="70" name="Shape 68"/>
          <p:cNvSpPr/>
          <p:nvPr/>
        </p:nvSpPr>
        <p:spPr>
          <a:xfrm flipV="1">
            <a:off x="4937760" y="4572000"/>
            <a:ext cx="0" cy="502920"/>
          </a:xfrm>
          <a:prstGeom prst="line">
            <a:avLst/>
          </a:prstGeom>
          <a:noFill/>
          <a:ln w="15875">
            <a:solidFill>
              <a:schemeClr val="tx1"/>
            </a:solidFill>
            <a:prstDash val="solid"/>
            <a:tailEnd type="triangle"/>
          </a:ln>
        </p:spPr>
        <p:txBody>
          <a:bodyPr/>
          <a:lstStyle/>
          <a:p>
            <a:endParaRPr lang="en-US"/>
          </a:p>
        </p:txBody>
      </p:sp>
      <p:sp>
        <p:nvSpPr>
          <p:cNvPr id="71" name="Text 69"/>
          <p:cNvSpPr txBox="1"/>
          <p:nvPr/>
        </p:nvSpPr>
        <p:spPr>
          <a:xfrm>
            <a:off x="5029200" y="4727448"/>
            <a:ext cx="914400" cy="182880"/>
          </a:xfrm>
          <a:prstGeom prst="rect">
            <a:avLst/>
          </a:prstGeom>
          <a:noFill/>
          <a:ln/>
        </p:spPr>
        <p:txBody>
          <a:bodyPr wrap="square" lIns="0" tIns="0" rIns="0" bIns="0" rtlCol="0" anchor="ctr"/>
          <a:lstStyle/>
          <a:p>
            <a:pPr marL="0" indent="0" algn="l">
              <a:buNone/>
            </a:pPr>
            <a:r>
              <a:rPr lang="en-US" sz="1000" b="1" dirty="0">
                <a:solidFill>
                  <a:schemeClr val="tx2"/>
                </a:solidFill>
                <a:latin typeface="Courier New" pitchFamily="34" charset="0"/>
                <a:ea typeface="Courier New" pitchFamily="34" charset="-122"/>
                <a:cs typeface="Courier New" pitchFamily="34" charset="-120"/>
              </a:rPr>
              <a:t>JSON API</a:t>
            </a:r>
            <a:endParaRPr lang="en-US" sz="1000" dirty="0"/>
          </a:p>
        </p:txBody>
      </p:sp>
      <p:sp>
        <p:nvSpPr>
          <p:cNvPr id="72" name="Shape 70"/>
          <p:cNvSpPr/>
          <p:nvPr/>
        </p:nvSpPr>
        <p:spPr>
          <a:xfrm>
            <a:off x="7269480" y="4572000"/>
            <a:ext cx="0" cy="502920"/>
          </a:xfrm>
          <a:prstGeom prst="line">
            <a:avLst/>
          </a:prstGeom>
          <a:noFill/>
          <a:ln w="15875">
            <a:solidFill>
              <a:schemeClr val="tx1"/>
            </a:solidFill>
            <a:prstDash val="solid"/>
            <a:tailEnd type="triangle"/>
          </a:ln>
        </p:spPr>
        <p:txBody>
          <a:bodyPr/>
          <a:lstStyle/>
          <a:p>
            <a:endParaRPr lang="en-US"/>
          </a:p>
        </p:txBody>
      </p:sp>
      <p:sp>
        <p:nvSpPr>
          <p:cNvPr id="73" name="Text 71"/>
          <p:cNvSpPr txBox="1"/>
          <p:nvPr/>
        </p:nvSpPr>
        <p:spPr>
          <a:xfrm>
            <a:off x="7360920" y="4727448"/>
            <a:ext cx="1463040" cy="182880"/>
          </a:xfrm>
          <a:prstGeom prst="rect">
            <a:avLst/>
          </a:prstGeom>
          <a:noFill/>
          <a:ln/>
        </p:spPr>
        <p:txBody>
          <a:bodyPr wrap="square" lIns="0" tIns="0" rIns="0" bIns="0" rtlCol="0" anchor="ctr"/>
          <a:lstStyle/>
          <a:p>
            <a:pPr marL="0" indent="0" algn="l">
              <a:buNone/>
            </a:pPr>
            <a:r>
              <a:rPr lang="en-US" sz="1000" b="1" dirty="0">
                <a:solidFill>
                  <a:schemeClr val="tx2"/>
                </a:solidFill>
                <a:latin typeface="Courier New" pitchFamily="34" charset="0"/>
                <a:ea typeface="Courier New" pitchFamily="34" charset="-122"/>
                <a:cs typeface="Courier New" pitchFamily="34" charset="-120"/>
              </a:rPr>
              <a:t>OPENAI-COMPATIBLE</a:t>
            </a:r>
            <a:endParaRPr lang="en-US" sz="1000" dirty="0"/>
          </a:p>
        </p:txBody>
      </p:sp>
      <p:sp>
        <p:nvSpPr>
          <p:cNvPr id="74" name="Text 72"/>
          <p:cNvSpPr txBox="1"/>
          <p:nvPr/>
        </p:nvSpPr>
        <p:spPr>
          <a:xfrm>
            <a:off x="9628632" y="5166360"/>
            <a:ext cx="2011680" cy="868680"/>
          </a:xfrm>
          <a:prstGeom prst="rect">
            <a:avLst/>
          </a:prstGeom>
          <a:noFill/>
          <a:ln/>
        </p:spPr>
        <p:txBody>
          <a:bodyPr wrap="square" lIns="0" tIns="0" rIns="0" bIns="0" rtlCol="0" anchor="t"/>
          <a:lstStyle/>
          <a:p>
            <a:pPr marL="0" indent="0">
              <a:buNone/>
            </a:pPr>
            <a:r>
              <a:rPr lang="en-US" sz="1100" dirty="0">
                <a:solidFill>
                  <a:schemeClr val="tx2"/>
                </a:solidFill>
              </a:rPr>
              <a:t>Docker Compose: four services from one image, plus Ollama.</a:t>
            </a:r>
            <a:endParaRPr lang="en-US" sz="1100" dirty="0"/>
          </a:p>
        </p:txBody>
      </p:sp>
      <p:sp>
        <p:nvSpPr>
          <p:cNvPr id="75"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DESIGN</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Technologies, and why each one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4480560"/>
        </p:xfrm>
        <a:graphic>
          <a:graphicData uri="http://schemas.openxmlformats.org/drawingml/2006/table">
            <a:tbl>
              <a:tblPr/>
              <a:tblGrid>
                <a:gridCol w="30175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1120140">
                <a:tc>
                  <a:txBody>
                    <a:bodyPr/>
                    <a:lstStyle/>
                    <a:p>
                      <a:pPr marL="0" indent="0">
                        <a:buNone/>
                      </a:pPr>
                      <a:r>
                        <a:rPr lang="en-US" sz="1400" b="1" dirty="0">
                          <a:solidFill>
                            <a:schemeClr val="tx1"/>
                          </a:solidFill>
                        </a:rPr>
                        <a:t>Sync core</a:t>
                      </a:r>
                      <a:endParaRPr lang="en-US" sz="1400" dirty="0"/>
                    </a:p>
                    <a:p>
                      <a:pPr marL="0" indent="0">
                        <a:buNone/>
                      </a:pPr>
                      <a:r>
                        <a:rPr lang="en-US" sz="1400" b="0" dirty="0">
                          <a:solidFill>
                            <a:srgbClr val="3D4552"/>
                          </a:solidFill>
                        </a:rPr>
                        <a:t>Python 3.12, FastAPI, httpx, SQLite</a:t>
                      </a:r>
                      <a:endParaRPr lang="en-US" sz="1400" dirty="0"/>
                    </a:p>
                  </a:txBody>
                  <a:tcPr marL="0" marR="45720"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One language for the glue and the mocks; async calls with explicit timeouts; a durable inbox with no extra service</a:t>
                      </a:r>
                      <a:endParaRPr lang="en-US" sz="1400" dirty="0"/>
                    </a:p>
                  </a:txBody>
                  <a:tcPr marL="0" marR="45720"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0"/>
                  </a:ext>
                </a:extLst>
              </a:tr>
              <a:tr h="1120140">
                <a:tc>
                  <a:txBody>
                    <a:bodyPr/>
                    <a:lstStyle/>
                    <a:p>
                      <a:pPr marL="0" indent="0">
                        <a:buNone/>
                      </a:pPr>
                      <a:r>
                        <a:rPr lang="en-US" sz="1400" b="1" dirty="0">
                          <a:solidFill>
                            <a:schemeClr val="tx1"/>
                          </a:solidFill>
                        </a:rPr>
                        <a:t>Operator console</a:t>
                      </a:r>
                      <a:endParaRPr lang="en-US" sz="1400" dirty="0"/>
                    </a:p>
                    <a:p>
                      <a:pPr marL="0" indent="0">
                        <a:buNone/>
                      </a:pPr>
                      <a:r>
                        <a:rPr lang="en-US" sz="1400" b="0" dirty="0">
                          <a:solidFill>
                            <a:srgbClr val="3D4552"/>
                          </a:solidFill>
                        </a:rPr>
                        <a:t>React + TypeScript</a:t>
                      </a:r>
                      <a:endParaRPr lang="en-US" sz="1400" dirty="0"/>
                    </a:p>
                  </a:txBody>
                  <a:tcPr marL="0" marR="45720"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The person in the loop needs a screen; built once and served by the glue</a:t>
                      </a:r>
                      <a:endParaRPr lang="en-US" sz="1400" dirty="0"/>
                    </a:p>
                  </a:txBody>
                  <a:tcPr marL="0" marR="45720"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1120140">
                <a:tc>
                  <a:txBody>
                    <a:bodyPr/>
                    <a:lstStyle/>
                    <a:p>
                      <a:pPr marL="0" indent="0">
                        <a:buNone/>
                      </a:pPr>
                      <a:r>
                        <a:rPr lang="en-US" sz="1400" b="1" dirty="0">
                          <a:solidFill>
                            <a:schemeClr val="tx1"/>
                          </a:solidFill>
                        </a:rPr>
                        <a:t>Local AI</a:t>
                      </a:r>
                      <a:endParaRPr lang="en-US" sz="1400" dirty="0"/>
                    </a:p>
                    <a:p>
                      <a:pPr marL="0" indent="0">
                        <a:buNone/>
                      </a:pPr>
                      <a:r>
                        <a:rPr lang="en-US" sz="1400" b="0" dirty="0">
                          <a:solidFill>
                            <a:srgbClr val="3D4552"/>
                          </a:solidFill>
                        </a:rPr>
                        <a:t>Ollama</a:t>
                      </a:r>
                      <a:endParaRPr lang="en-US" sz="1400" dirty="0"/>
                    </a:p>
                  </a:txBody>
                  <a:tcPr marL="0" marR="45720"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No API key; order data never leaves the machine</a:t>
                      </a:r>
                      <a:endParaRPr lang="en-US" sz="1400" dirty="0"/>
                    </a:p>
                  </a:txBody>
                  <a:tcPr marL="0" marR="45720"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1120140">
                <a:tc>
                  <a:txBody>
                    <a:bodyPr/>
                    <a:lstStyle/>
                    <a:p>
                      <a:pPr marL="0" indent="0">
                        <a:buNone/>
                      </a:pPr>
                      <a:r>
                        <a:rPr lang="en-US" sz="1400" b="1" dirty="0">
                          <a:solidFill>
                            <a:schemeClr val="tx1"/>
                          </a:solidFill>
                        </a:rPr>
                        <a:t>Run and test</a:t>
                      </a:r>
                      <a:endParaRPr lang="en-US" sz="1400" dirty="0"/>
                    </a:p>
                    <a:p>
                      <a:pPr marL="0" indent="0">
                        <a:buNone/>
                      </a:pPr>
                      <a:r>
                        <a:rPr lang="en-US" sz="1400" b="0" dirty="0">
                          <a:solidFill>
                            <a:srgbClr val="3D4552"/>
                          </a:solidFill>
                        </a:rPr>
                        <a:t>Docker Compose, pytest, Vitest</a:t>
                      </a:r>
                      <a:endParaRPr lang="en-US" sz="1400" dirty="0"/>
                    </a:p>
                  </a:txBody>
                  <a:tcPr marL="0" marR="45720"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One command to start; 245 backend and 223 frontend tests</a:t>
                      </a:r>
                      <a:endParaRPr lang="en-US" sz="1400" dirty="0"/>
                    </a:p>
                  </a:txBody>
                  <a:tcPr marL="0" marR="45720"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not used"/>
          <p:cNvSpPr/>
          <p:nvPr/>
        </p:nvSpPr>
        <p:spPr>
          <a:xfrm>
            <a:off x="8092440" y="1463040"/>
            <a:ext cx="3547872" cy="4526280"/>
          </a:xfrm>
          <a:prstGeom prst="roundRect">
            <a:avLst>
              <a:gd name="adj" fmla="val 2062"/>
            </a:avLst>
          </a:prstGeom>
          <a:solidFill>
            <a:schemeClr val="bg2"/>
          </a:solidFill>
          <a:ln/>
        </p:spPr>
        <p:txBody>
          <a:bodyPr/>
          <a:lstStyle/>
          <a:p>
            <a:endParaRPr lang="en-US"/>
          </a:p>
        </p:txBody>
      </p:sp>
      <p:sp>
        <p:nvSpPr>
          <p:cNvPr id="4" name="Text 3"/>
          <p:cNvSpPr txBox="1"/>
          <p:nvPr/>
        </p:nvSpPr>
        <p:spPr>
          <a:xfrm>
            <a:off x="8321040" y="1645920"/>
            <a:ext cx="3108960" cy="320040"/>
          </a:xfrm>
          <a:prstGeom prst="rect">
            <a:avLst/>
          </a:prstGeom>
          <a:noFill/>
          <a:ln/>
        </p:spPr>
        <p:txBody>
          <a:bodyPr wrap="square" lIns="0" tIns="0" rIns="0" bIns="0" rtlCol="0" anchor="t"/>
          <a:lstStyle/>
          <a:p>
            <a:pPr marL="0" indent="0">
              <a:buNone/>
            </a:pPr>
            <a:r>
              <a:rPr lang="en-US" sz="1700" b="1" dirty="0">
                <a:solidFill>
                  <a:schemeClr val="tx1"/>
                </a:solidFill>
              </a:rPr>
              <a:t>Deliberately not used</a:t>
            </a:r>
            <a:endParaRPr lang="en-US" sz="1700" dirty="0"/>
          </a:p>
        </p:txBody>
      </p:sp>
      <p:sp>
        <p:nvSpPr>
          <p:cNvPr id="7" name="Text 4"/>
          <p:cNvSpPr txBox="1"/>
          <p:nvPr/>
        </p:nvSpPr>
        <p:spPr>
          <a:xfrm>
            <a:off x="8321040" y="2103120"/>
            <a:ext cx="3154680" cy="374904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A message broker. </a:t>
            </a:r>
            <a:r>
              <a:rPr lang="en-US" sz="1400" dirty="0">
                <a:solidFill>
                  <a:srgbClr val="3D4552"/>
                </a:solidFill>
              </a:rPr>
              <a:t>The inbox table is the queue and survives restarts. One shop does not need more yet.</a:t>
            </a:r>
            <a:endParaRPr lang="en-US" sz="1400" dirty="0"/>
          </a:p>
          <a:p>
            <a:pPr marL="177800" indent="-177800">
              <a:spcAft>
                <a:spcPts val="900"/>
              </a:spcAft>
              <a:buSzPct val="100000"/>
              <a:buChar char="•"/>
            </a:pPr>
            <a:r>
              <a:rPr lang="en-US" sz="1400" b="1" dirty="0">
                <a:solidFill>
                  <a:schemeClr val="tx1"/>
                </a:solidFill>
              </a:rPr>
              <a:t>Postgres. </a:t>
            </a:r>
            <a:r>
              <a:rPr lang="en-US" sz="1400" dirty="0">
                <a:solidFill>
                  <a:srgbClr val="3D4552"/>
                </a:solidFill>
              </a:rPr>
              <a:t>One writer is enough here. All SQL is in glue/db.py, so the move is one file.</a:t>
            </a:r>
            <a:endParaRPr lang="en-US" sz="1400" dirty="0"/>
          </a:p>
          <a:p>
            <a:pPr marL="177800" indent="-177800">
              <a:spcAft>
                <a:spcPts val="900"/>
              </a:spcAft>
              <a:buSzPct val="100000"/>
              <a:buChar char="•"/>
            </a:pPr>
            <a:r>
              <a:rPr lang="en-US" sz="1400" b="1" dirty="0">
                <a:solidFill>
                  <a:schemeClr val="tx1"/>
                </a:solidFill>
              </a:rPr>
              <a:t>An ORM. </a:t>
            </a:r>
            <a:r>
              <a:rPr lang="en-US" sz="1400" dirty="0">
                <a:solidFill>
                  <a:srgbClr val="3D4552"/>
                </a:solidFill>
              </a:rPr>
              <a:t>Plain SQL in one file is easier to review.</a:t>
            </a:r>
            <a:endParaRPr lang="en-US" sz="1400" dirty="0"/>
          </a:p>
          <a:p>
            <a:pPr marL="177800" indent="-177800">
              <a:spcAft>
                <a:spcPts val="900"/>
              </a:spcAft>
              <a:buSzPct val="100000"/>
              <a:buChar char="•"/>
            </a:pPr>
            <a:r>
              <a:rPr lang="en-US" sz="1400" b="1" dirty="0">
                <a:solidFill>
                  <a:schemeClr val="tx1"/>
                </a:solidFill>
              </a:rPr>
              <a:t>Websockets. </a:t>
            </a:r>
            <a:r>
              <a:rPr lang="en-US" sz="1400" dirty="0">
                <a:solidFill>
                  <a:srgbClr val="3D4552"/>
                </a:solidFill>
              </a:rPr>
              <a:t>Polling every few seconds is fine for one operator.</a:t>
            </a:r>
            <a:endParaRPr lang="en-US" sz="1400" dirty="0"/>
          </a:p>
          <a:p>
            <a:pPr marL="177800" indent="-177800">
              <a:spcAft>
                <a:spcPts val="900"/>
              </a:spcAft>
              <a:buSzPct val="100000"/>
              <a:buChar char="•"/>
            </a:pPr>
            <a:r>
              <a:rPr lang="en-US" sz="1400" b="1" dirty="0">
                <a:solidFill>
                  <a:schemeClr val="tx1"/>
                </a:solidFill>
              </a:rPr>
              <a:t>A hosted model. </a:t>
            </a:r>
            <a:r>
              <a:rPr lang="en-US" sz="1400" dirty="0">
                <a:solidFill>
                  <a:srgbClr val="3D4552"/>
                </a:solidFill>
              </a:rPr>
              <a:t>Order data stays local. Hosted models show as coming soon.</a:t>
            </a:r>
            <a:endParaRPr lang="en-US" sz="1400" dirty="0"/>
          </a:p>
        </p:txBody>
      </p:sp>
      <p:sp>
        <p:nvSpPr>
          <p:cNvPr id="25"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HOW IT WORKS</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A shop order, with retries</a:t>
            </a:r>
            <a:endParaRPr lang="en-US" sz="3200" dirty="0"/>
          </a:p>
        </p:txBody>
      </p:sp>
      <p:sp>
        <p:nvSpPr>
          <p:cNvPr id="4" name="Customer pays"/>
          <p:cNvSpPr/>
          <p:nvPr/>
        </p:nvSpPr>
        <p:spPr>
          <a:xfrm>
            <a:off x="548640" y="1508760"/>
            <a:ext cx="2011680" cy="1188720"/>
          </a:xfrm>
          <a:prstGeom prst="roundRect">
            <a:avLst>
              <a:gd name="adj" fmla="val 6154"/>
            </a:avLst>
          </a:prstGeom>
          <a:solidFill>
            <a:schemeClr val="bg1"/>
          </a:solidFill>
          <a:ln w="9525">
            <a:solidFill>
              <a:srgbClr val="E3E6EB"/>
            </a:solidFill>
            <a:prstDash val="solid"/>
          </a:ln>
        </p:spPr>
        <p:txBody>
          <a:bodyPr/>
          <a:lstStyle/>
          <a:p>
            <a:endParaRPr lang="en-US"/>
          </a:p>
        </p:txBody>
      </p:sp>
      <p:sp>
        <p:nvSpPr>
          <p:cNvPr id="5" name="step 1"/>
          <p:cNvSpPr/>
          <p:nvPr/>
        </p:nvSpPr>
        <p:spPr>
          <a:xfrm>
            <a:off x="713232" y="1673352"/>
            <a:ext cx="329184" cy="329184"/>
          </a:xfrm>
          <a:prstGeom prst="ellipse">
            <a:avLst/>
          </a:prstGeom>
          <a:solidFill>
            <a:schemeClr val="tx1"/>
          </a:solidFill>
          <a:ln/>
        </p:spPr>
        <p:txBody>
          <a:bodyPr/>
          <a:lstStyle/>
          <a:p>
            <a:endParaRPr lang="en-US"/>
          </a:p>
        </p:txBody>
      </p:sp>
      <p:sp>
        <p:nvSpPr>
          <p:cNvPr id="6" name="Text 4"/>
          <p:cNvSpPr txBox="1"/>
          <p:nvPr/>
        </p:nvSpPr>
        <p:spPr>
          <a:xfrm>
            <a:off x="713232" y="16733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5"/>
          <p:cNvSpPr txBox="1"/>
          <p:nvPr/>
        </p:nvSpPr>
        <p:spPr>
          <a:xfrm>
            <a:off x="1143000" y="1664208"/>
            <a:ext cx="1371600" cy="384048"/>
          </a:xfrm>
          <a:prstGeom prst="rect">
            <a:avLst/>
          </a:prstGeom>
          <a:noFill/>
          <a:ln/>
        </p:spPr>
        <p:txBody>
          <a:bodyPr wrap="square" lIns="0" tIns="0" rIns="0" bIns="0" rtlCol="0" anchor="ctr"/>
          <a:lstStyle/>
          <a:p>
            <a:pPr marL="0" indent="0">
              <a:buNone/>
            </a:pPr>
            <a:r>
              <a:rPr lang="en-US" sz="1400" b="1" dirty="0">
                <a:solidFill>
                  <a:schemeClr val="tx1"/>
                </a:solidFill>
              </a:rPr>
              <a:t>Customer pays</a:t>
            </a:r>
            <a:endParaRPr lang="en-US" sz="1400" dirty="0"/>
          </a:p>
        </p:txBody>
      </p:sp>
      <p:sp>
        <p:nvSpPr>
          <p:cNvPr id="8" name="Text 6"/>
          <p:cNvSpPr txBox="1"/>
          <p:nvPr/>
        </p:nvSpPr>
        <p:spPr>
          <a:xfrm>
            <a:off x="713232" y="2130552"/>
            <a:ext cx="1737360" cy="502920"/>
          </a:xfrm>
          <a:prstGeom prst="rect">
            <a:avLst/>
          </a:prstGeom>
          <a:noFill/>
          <a:ln/>
        </p:spPr>
        <p:txBody>
          <a:bodyPr wrap="square" lIns="0" tIns="0" rIns="0" bIns="0" rtlCol="0" anchor="t"/>
          <a:lstStyle/>
          <a:p>
            <a:pPr marL="0" indent="0">
              <a:buNone/>
            </a:pPr>
            <a:r>
              <a:rPr lang="en-US" sz="1200" dirty="0">
                <a:solidFill>
                  <a:schemeClr val="tx2"/>
                </a:solidFill>
              </a:rPr>
              <a:t>order.placed, signed, with an event id</a:t>
            </a:r>
            <a:endParaRPr lang="en-US" sz="1200" dirty="0"/>
          </a:p>
        </p:txBody>
      </p:sp>
      <p:sp>
        <p:nvSpPr>
          <p:cNvPr id="9" name="Shape 7"/>
          <p:cNvSpPr/>
          <p:nvPr/>
        </p:nvSpPr>
        <p:spPr>
          <a:xfrm>
            <a:off x="2578608" y="2103120"/>
            <a:ext cx="219456" cy="0"/>
          </a:xfrm>
          <a:prstGeom prst="line">
            <a:avLst/>
          </a:prstGeom>
          <a:noFill/>
          <a:ln w="15875">
            <a:solidFill>
              <a:schemeClr val="tx1"/>
            </a:solidFill>
            <a:prstDash val="solid"/>
            <a:tailEnd type="triangle"/>
          </a:ln>
        </p:spPr>
        <p:txBody>
          <a:bodyPr/>
          <a:lstStyle/>
          <a:p>
            <a:endParaRPr lang="en-US"/>
          </a:p>
        </p:txBody>
      </p:sp>
      <p:sp>
        <p:nvSpPr>
          <p:cNvPr id="10" name="Inbox"/>
          <p:cNvSpPr/>
          <p:nvPr/>
        </p:nvSpPr>
        <p:spPr>
          <a:xfrm>
            <a:off x="2816352" y="1508760"/>
            <a:ext cx="2011680" cy="1188720"/>
          </a:xfrm>
          <a:prstGeom prst="roundRect">
            <a:avLst>
              <a:gd name="adj" fmla="val 6154"/>
            </a:avLst>
          </a:prstGeom>
          <a:solidFill>
            <a:schemeClr val="bg1"/>
          </a:solidFill>
          <a:ln w="9525">
            <a:solidFill>
              <a:srgbClr val="E3E6EB"/>
            </a:solidFill>
            <a:prstDash val="solid"/>
          </a:ln>
        </p:spPr>
        <p:txBody>
          <a:bodyPr/>
          <a:lstStyle/>
          <a:p>
            <a:endParaRPr lang="en-US"/>
          </a:p>
        </p:txBody>
      </p:sp>
      <p:sp>
        <p:nvSpPr>
          <p:cNvPr id="11" name="step 2"/>
          <p:cNvSpPr/>
          <p:nvPr/>
        </p:nvSpPr>
        <p:spPr>
          <a:xfrm>
            <a:off x="2980944" y="1673352"/>
            <a:ext cx="329184" cy="329184"/>
          </a:xfrm>
          <a:prstGeom prst="ellipse">
            <a:avLst/>
          </a:prstGeom>
          <a:solidFill>
            <a:schemeClr val="tx1"/>
          </a:solidFill>
          <a:ln/>
        </p:spPr>
        <p:txBody>
          <a:bodyPr/>
          <a:lstStyle/>
          <a:p>
            <a:endParaRPr lang="en-US"/>
          </a:p>
        </p:txBody>
      </p:sp>
      <p:sp>
        <p:nvSpPr>
          <p:cNvPr id="12" name="Text 10"/>
          <p:cNvSpPr txBox="1"/>
          <p:nvPr/>
        </p:nvSpPr>
        <p:spPr>
          <a:xfrm>
            <a:off x="2980944" y="16733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3" name="Text 11"/>
          <p:cNvSpPr txBox="1"/>
          <p:nvPr/>
        </p:nvSpPr>
        <p:spPr>
          <a:xfrm>
            <a:off x="3410712" y="1664208"/>
            <a:ext cx="1371600" cy="384048"/>
          </a:xfrm>
          <a:prstGeom prst="rect">
            <a:avLst/>
          </a:prstGeom>
          <a:noFill/>
          <a:ln/>
        </p:spPr>
        <p:txBody>
          <a:bodyPr wrap="square" lIns="0" tIns="0" rIns="0" bIns="0" rtlCol="0" anchor="ctr"/>
          <a:lstStyle/>
          <a:p>
            <a:pPr marL="0" indent="0">
              <a:buNone/>
            </a:pPr>
            <a:r>
              <a:rPr lang="en-US" sz="1400" b="1" dirty="0">
                <a:solidFill>
                  <a:schemeClr val="tx1"/>
                </a:solidFill>
              </a:rPr>
              <a:t>Inbox</a:t>
            </a:r>
            <a:endParaRPr lang="en-US" sz="1400" dirty="0"/>
          </a:p>
        </p:txBody>
      </p:sp>
      <p:sp>
        <p:nvSpPr>
          <p:cNvPr id="14" name="Text 12"/>
          <p:cNvSpPr txBox="1"/>
          <p:nvPr/>
        </p:nvSpPr>
        <p:spPr>
          <a:xfrm>
            <a:off x="2980944" y="2130552"/>
            <a:ext cx="1737360" cy="502920"/>
          </a:xfrm>
          <a:prstGeom prst="rect">
            <a:avLst/>
          </a:prstGeom>
          <a:noFill/>
          <a:ln/>
        </p:spPr>
        <p:txBody>
          <a:bodyPr wrap="square" lIns="0" tIns="0" rIns="0" bIns="0" rtlCol="0" anchor="t"/>
          <a:lstStyle/>
          <a:p>
            <a:pPr marL="0" indent="0">
              <a:buNone/>
            </a:pPr>
            <a:r>
              <a:rPr lang="en-US" sz="1200" dirty="0">
                <a:solidFill>
                  <a:schemeClr val="tx2"/>
                </a:solidFill>
              </a:rPr>
              <a:t>verify, save, answer 202</a:t>
            </a:r>
            <a:endParaRPr lang="en-US" sz="1200" dirty="0"/>
          </a:p>
        </p:txBody>
      </p:sp>
      <p:sp>
        <p:nvSpPr>
          <p:cNvPr id="15" name="Shape 13"/>
          <p:cNvSpPr/>
          <p:nvPr/>
        </p:nvSpPr>
        <p:spPr>
          <a:xfrm>
            <a:off x="4846320" y="2103120"/>
            <a:ext cx="219456" cy="0"/>
          </a:xfrm>
          <a:prstGeom prst="line">
            <a:avLst/>
          </a:prstGeom>
          <a:noFill/>
          <a:ln w="15875">
            <a:solidFill>
              <a:schemeClr val="tx1"/>
            </a:solidFill>
            <a:prstDash val="solid"/>
            <a:tailEnd type="triangle"/>
          </a:ln>
        </p:spPr>
        <p:txBody>
          <a:bodyPr/>
          <a:lstStyle/>
          <a:p>
            <a:endParaRPr lang="en-US"/>
          </a:p>
        </p:txBody>
      </p:sp>
      <p:sp>
        <p:nvSpPr>
          <p:cNvPr id="16" name="Worker"/>
          <p:cNvSpPr/>
          <p:nvPr/>
        </p:nvSpPr>
        <p:spPr>
          <a:xfrm>
            <a:off x="5084064" y="1508760"/>
            <a:ext cx="2011680" cy="1188720"/>
          </a:xfrm>
          <a:prstGeom prst="roundRect">
            <a:avLst>
              <a:gd name="adj" fmla="val 6154"/>
            </a:avLst>
          </a:prstGeom>
          <a:solidFill>
            <a:schemeClr val="bg1"/>
          </a:solidFill>
          <a:ln w="9525">
            <a:solidFill>
              <a:srgbClr val="E3E6EB"/>
            </a:solidFill>
            <a:prstDash val="solid"/>
          </a:ln>
        </p:spPr>
        <p:txBody>
          <a:bodyPr/>
          <a:lstStyle/>
          <a:p>
            <a:endParaRPr lang="en-US"/>
          </a:p>
        </p:txBody>
      </p:sp>
      <p:sp>
        <p:nvSpPr>
          <p:cNvPr id="17" name="step 3"/>
          <p:cNvSpPr/>
          <p:nvPr/>
        </p:nvSpPr>
        <p:spPr>
          <a:xfrm>
            <a:off x="5248656" y="1673352"/>
            <a:ext cx="329184" cy="329184"/>
          </a:xfrm>
          <a:prstGeom prst="ellipse">
            <a:avLst/>
          </a:prstGeom>
          <a:solidFill>
            <a:schemeClr val="tx1"/>
          </a:solidFill>
          <a:ln/>
        </p:spPr>
        <p:txBody>
          <a:bodyPr/>
          <a:lstStyle/>
          <a:p>
            <a:endParaRPr lang="en-US"/>
          </a:p>
        </p:txBody>
      </p:sp>
      <p:sp>
        <p:nvSpPr>
          <p:cNvPr id="18" name="Text 16"/>
          <p:cNvSpPr txBox="1"/>
          <p:nvPr/>
        </p:nvSpPr>
        <p:spPr>
          <a:xfrm>
            <a:off x="5248656" y="16733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9" name="Text 17"/>
          <p:cNvSpPr txBox="1"/>
          <p:nvPr/>
        </p:nvSpPr>
        <p:spPr>
          <a:xfrm>
            <a:off x="5678424" y="1664208"/>
            <a:ext cx="1371600" cy="384048"/>
          </a:xfrm>
          <a:prstGeom prst="rect">
            <a:avLst/>
          </a:prstGeom>
          <a:noFill/>
          <a:ln/>
        </p:spPr>
        <p:txBody>
          <a:bodyPr wrap="square" lIns="0" tIns="0" rIns="0" bIns="0" rtlCol="0" anchor="ctr"/>
          <a:lstStyle/>
          <a:p>
            <a:pPr marL="0" indent="0">
              <a:buNone/>
            </a:pPr>
            <a:r>
              <a:rPr lang="en-US" sz="1400" b="1" dirty="0">
                <a:solidFill>
                  <a:schemeClr val="tx1"/>
                </a:solidFill>
              </a:rPr>
              <a:t>Worker</a:t>
            </a:r>
            <a:endParaRPr lang="en-US" sz="1400" dirty="0"/>
          </a:p>
        </p:txBody>
      </p:sp>
      <p:sp>
        <p:nvSpPr>
          <p:cNvPr id="20" name="Text 18"/>
          <p:cNvSpPr txBox="1"/>
          <p:nvPr/>
        </p:nvSpPr>
        <p:spPr>
          <a:xfrm>
            <a:off x="5248656" y="2130552"/>
            <a:ext cx="1737360" cy="502920"/>
          </a:xfrm>
          <a:prstGeom prst="rect">
            <a:avLst/>
          </a:prstGeom>
          <a:noFill/>
          <a:ln/>
        </p:spPr>
        <p:txBody>
          <a:bodyPr wrap="square" lIns="0" tIns="0" rIns="0" bIns="0" rtlCol="0" anchor="t"/>
          <a:lstStyle/>
          <a:p>
            <a:pPr marL="0" indent="0">
              <a:buNone/>
            </a:pPr>
            <a:r>
              <a:rPr lang="en-US" sz="1200" dirty="0">
                <a:solidFill>
                  <a:schemeClr val="tx2"/>
                </a:solidFill>
              </a:rPr>
              <a:t>claims it, takes the order's lock</a:t>
            </a:r>
            <a:endParaRPr lang="en-US" sz="1200" dirty="0"/>
          </a:p>
        </p:txBody>
      </p:sp>
      <p:sp>
        <p:nvSpPr>
          <p:cNvPr id="21" name="Shape 19"/>
          <p:cNvSpPr/>
          <p:nvPr/>
        </p:nvSpPr>
        <p:spPr>
          <a:xfrm>
            <a:off x="7114032" y="2103120"/>
            <a:ext cx="219456" cy="0"/>
          </a:xfrm>
          <a:prstGeom prst="line">
            <a:avLst/>
          </a:prstGeom>
          <a:noFill/>
          <a:ln w="15875">
            <a:solidFill>
              <a:schemeClr val="tx1"/>
            </a:solidFill>
            <a:prstDash val="solid"/>
            <a:tailEnd type="triangle"/>
          </a:ln>
        </p:spPr>
        <p:txBody>
          <a:bodyPr/>
          <a:lstStyle/>
          <a:p>
            <a:endParaRPr lang="en-US"/>
          </a:p>
        </p:txBody>
      </p:sp>
      <p:sp>
        <p:nvSpPr>
          <p:cNvPr id="22" name="Warehouse reserve"/>
          <p:cNvSpPr/>
          <p:nvPr/>
        </p:nvSpPr>
        <p:spPr>
          <a:xfrm>
            <a:off x="7351776" y="1508760"/>
            <a:ext cx="2011680" cy="1188720"/>
          </a:xfrm>
          <a:prstGeom prst="roundRect">
            <a:avLst>
              <a:gd name="adj" fmla="val 6154"/>
            </a:avLst>
          </a:prstGeom>
          <a:solidFill>
            <a:srgbClr val="FBF1DF"/>
          </a:solidFill>
          <a:ln w="9525">
            <a:solidFill>
              <a:srgbClr val="E9CF9F"/>
            </a:solidFill>
            <a:prstDash val="solid"/>
          </a:ln>
        </p:spPr>
        <p:txBody>
          <a:bodyPr/>
          <a:lstStyle/>
          <a:p>
            <a:endParaRPr lang="en-US"/>
          </a:p>
        </p:txBody>
      </p:sp>
      <p:sp>
        <p:nvSpPr>
          <p:cNvPr id="23" name="step 4"/>
          <p:cNvSpPr/>
          <p:nvPr/>
        </p:nvSpPr>
        <p:spPr>
          <a:xfrm>
            <a:off x="7516368" y="1673352"/>
            <a:ext cx="329184" cy="329184"/>
          </a:xfrm>
          <a:prstGeom prst="ellipse">
            <a:avLst/>
          </a:prstGeom>
          <a:solidFill>
            <a:schemeClr val="tx1"/>
          </a:solidFill>
          <a:ln/>
        </p:spPr>
        <p:txBody>
          <a:bodyPr/>
          <a:lstStyle/>
          <a:p>
            <a:endParaRPr lang="en-US"/>
          </a:p>
        </p:txBody>
      </p:sp>
      <p:sp>
        <p:nvSpPr>
          <p:cNvPr id="24" name="Text 22"/>
          <p:cNvSpPr txBox="1"/>
          <p:nvPr/>
        </p:nvSpPr>
        <p:spPr>
          <a:xfrm>
            <a:off x="7516368" y="16733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5" name="Text 23"/>
          <p:cNvSpPr txBox="1"/>
          <p:nvPr/>
        </p:nvSpPr>
        <p:spPr>
          <a:xfrm>
            <a:off x="7946136" y="1664208"/>
            <a:ext cx="1371600" cy="384048"/>
          </a:xfrm>
          <a:prstGeom prst="rect">
            <a:avLst/>
          </a:prstGeom>
          <a:noFill/>
          <a:ln/>
        </p:spPr>
        <p:txBody>
          <a:bodyPr wrap="square" lIns="0" tIns="0" rIns="0" bIns="0" rtlCol="0" anchor="ctr"/>
          <a:lstStyle/>
          <a:p>
            <a:pPr marL="0" indent="0">
              <a:buNone/>
            </a:pPr>
            <a:r>
              <a:rPr lang="en-US" sz="1400" b="1" dirty="0">
                <a:solidFill>
                  <a:schemeClr val="tx1"/>
                </a:solidFill>
              </a:rPr>
              <a:t>Warehouse reserve</a:t>
            </a:r>
            <a:endParaRPr lang="en-US" sz="1400" dirty="0"/>
          </a:p>
        </p:txBody>
      </p:sp>
      <p:sp>
        <p:nvSpPr>
          <p:cNvPr id="26" name="Text 24"/>
          <p:cNvSpPr txBox="1"/>
          <p:nvPr/>
        </p:nvSpPr>
        <p:spPr>
          <a:xfrm>
            <a:off x="7516368" y="2130552"/>
            <a:ext cx="1737360" cy="502920"/>
          </a:xfrm>
          <a:prstGeom prst="rect">
            <a:avLst/>
          </a:prstGeom>
          <a:noFill/>
          <a:ln/>
        </p:spPr>
        <p:txBody>
          <a:bodyPr wrap="square" lIns="0" tIns="0" rIns="0" bIns="0" rtlCol="0" anchor="t"/>
          <a:lstStyle/>
          <a:p>
            <a:pPr marL="0" indent="0">
              <a:buNone/>
            </a:pPr>
            <a:r>
              <a:rPr lang="en-US" sz="1200" dirty="0">
                <a:solidFill>
                  <a:schemeClr val="tx2"/>
                </a:solidFill>
              </a:rPr>
              <a:t>Idempotency-Key: shop-1001</a:t>
            </a:r>
            <a:endParaRPr lang="en-US" sz="1200" dirty="0"/>
          </a:p>
        </p:txBody>
      </p:sp>
      <p:sp>
        <p:nvSpPr>
          <p:cNvPr id="27" name="Shape 25"/>
          <p:cNvSpPr/>
          <p:nvPr/>
        </p:nvSpPr>
        <p:spPr>
          <a:xfrm>
            <a:off x="9381744" y="2103120"/>
            <a:ext cx="219456" cy="0"/>
          </a:xfrm>
          <a:prstGeom prst="line">
            <a:avLst/>
          </a:prstGeom>
          <a:noFill/>
          <a:ln w="15875">
            <a:solidFill>
              <a:schemeClr val="tx1"/>
            </a:solidFill>
            <a:prstDash val="solid"/>
            <a:tailEnd type="triangle"/>
          </a:ln>
        </p:spPr>
        <p:txBody>
          <a:bodyPr/>
          <a:lstStyle/>
          <a:p>
            <a:endParaRPr lang="en-US"/>
          </a:p>
        </p:txBody>
      </p:sp>
      <p:sp>
        <p:nvSpPr>
          <p:cNvPr id="28" name="Stock pushed"/>
          <p:cNvSpPr/>
          <p:nvPr/>
        </p:nvSpPr>
        <p:spPr>
          <a:xfrm>
            <a:off x="9619488" y="1508760"/>
            <a:ext cx="2011680" cy="1188720"/>
          </a:xfrm>
          <a:prstGeom prst="roundRect">
            <a:avLst>
              <a:gd name="adj" fmla="val 6154"/>
            </a:avLst>
          </a:prstGeom>
          <a:solidFill>
            <a:schemeClr val="bg1"/>
          </a:solidFill>
          <a:ln w="9525">
            <a:solidFill>
              <a:srgbClr val="E3E6EB"/>
            </a:solidFill>
            <a:prstDash val="solid"/>
          </a:ln>
        </p:spPr>
        <p:txBody>
          <a:bodyPr/>
          <a:lstStyle/>
          <a:p>
            <a:endParaRPr lang="en-US"/>
          </a:p>
        </p:txBody>
      </p:sp>
      <p:sp>
        <p:nvSpPr>
          <p:cNvPr id="29" name="step 5"/>
          <p:cNvSpPr/>
          <p:nvPr/>
        </p:nvSpPr>
        <p:spPr>
          <a:xfrm>
            <a:off x="9784080" y="1673352"/>
            <a:ext cx="329184" cy="329184"/>
          </a:xfrm>
          <a:prstGeom prst="ellipse">
            <a:avLst/>
          </a:prstGeom>
          <a:solidFill>
            <a:schemeClr val="tx1"/>
          </a:solidFill>
          <a:ln/>
        </p:spPr>
        <p:txBody>
          <a:bodyPr/>
          <a:lstStyle/>
          <a:p>
            <a:endParaRPr lang="en-US"/>
          </a:p>
        </p:txBody>
      </p:sp>
      <p:sp>
        <p:nvSpPr>
          <p:cNvPr id="30" name="Text 28"/>
          <p:cNvSpPr txBox="1"/>
          <p:nvPr/>
        </p:nvSpPr>
        <p:spPr>
          <a:xfrm>
            <a:off x="9784080" y="16733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31" name="Text 29"/>
          <p:cNvSpPr txBox="1"/>
          <p:nvPr/>
        </p:nvSpPr>
        <p:spPr>
          <a:xfrm>
            <a:off x="10213848" y="1664208"/>
            <a:ext cx="1371600" cy="384048"/>
          </a:xfrm>
          <a:prstGeom prst="rect">
            <a:avLst/>
          </a:prstGeom>
          <a:noFill/>
          <a:ln/>
        </p:spPr>
        <p:txBody>
          <a:bodyPr wrap="square" lIns="0" tIns="0" rIns="0" bIns="0" rtlCol="0" anchor="ctr"/>
          <a:lstStyle/>
          <a:p>
            <a:pPr marL="0" indent="0">
              <a:buNone/>
            </a:pPr>
            <a:r>
              <a:rPr lang="en-US" sz="1400" b="1" dirty="0">
                <a:solidFill>
                  <a:schemeClr val="tx1"/>
                </a:solidFill>
              </a:rPr>
              <a:t>Stock pushed</a:t>
            </a:r>
            <a:endParaRPr lang="en-US" sz="1400" dirty="0"/>
          </a:p>
        </p:txBody>
      </p:sp>
      <p:sp>
        <p:nvSpPr>
          <p:cNvPr id="32" name="Text 30"/>
          <p:cNvSpPr txBox="1"/>
          <p:nvPr/>
        </p:nvSpPr>
        <p:spPr>
          <a:xfrm>
            <a:off x="9784080" y="2130552"/>
            <a:ext cx="1737360" cy="502920"/>
          </a:xfrm>
          <a:prstGeom prst="rect">
            <a:avLst/>
          </a:prstGeom>
          <a:noFill/>
          <a:ln/>
        </p:spPr>
        <p:txBody>
          <a:bodyPr wrap="square" lIns="0" tIns="0" rIns="0" bIns="0" rtlCol="0" anchor="t"/>
          <a:lstStyle/>
          <a:p>
            <a:pPr marL="0" indent="0">
              <a:buNone/>
            </a:pPr>
            <a:r>
              <a:rPr lang="en-US" sz="1200" dirty="0">
                <a:solidFill>
                  <a:schemeClr val="tx2"/>
                </a:solidFill>
              </a:rPr>
              <a:t>new figure to the shop and eMAG</a:t>
            </a:r>
            <a:endParaRPr lang="en-US" sz="1200" dirty="0"/>
          </a:p>
        </p:txBody>
      </p:sp>
      <p:sp>
        <p:nvSpPr>
          <p:cNvPr id="33" name="Text 31"/>
          <p:cNvSpPr txBox="1"/>
          <p:nvPr/>
        </p:nvSpPr>
        <p:spPr>
          <a:xfrm>
            <a:off x="548640" y="3017520"/>
            <a:ext cx="6858000" cy="274320"/>
          </a:xfrm>
          <a:prstGeom prst="rect">
            <a:avLst/>
          </a:prstGeom>
          <a:noFill/>
          <a:ln/>
        </p:spPr>
        <p:txBody>
          <a:bodyPr wrap="square" lIns="0" tIns="0" rIns="0" bIns="0" rtlCol="0" anchor="t"/>
          <a:lstStyle/>
          <a:p>
            <a:pPr marL="0" indent="0">
              <a:buNone/>
            </a:pPr>
            <a:r>
              <a:rPr lang="en-US" sz="1400" b="1" dirty="0">
                <a:solidFill>
                  <a:schemeClr val="tx1"/>
                </a:solidFill>
              </a:rPr>
              <a:t>Step 4 when the warehouse is struggling</a:t>
            </a:r>
            <a:endParaRPr lang="en-US" sz="1400" dirty="0"/>
          </a:p>
        </p:txBody>
      </p:sp>
      <p:sp>
        <p:nvSpPr>
          <p:cNvPr id="34" name="tag 503 · Retry-After: 2"/>
          <p:cNvSpPr/>
          <p:nvPr/>
        </p:nvSpPr>
        <p:spPr>
          <a:xfrm>
            <a:off x="548640" y="3401568"/>
            <a:ext cx="1953158" cy="290779"/>
          </a:xfrm>
          <a:prstGeom prst="roundRect">
            <a:avLst>
              <a:gd name="adj" fmla="val 12579"/>
            </a:avLst>
          </a:prstGeom>
          <a:solidFill>
            <a:srgbClr val="FFF3D6"/>
          </a:solidFill>
          <a:ln/>
        </p:spPr>
        <p:txBody>
          <a:bodyPr/>
          <a:lstStyle/>
          <a:p>
            <a:endParaRPr lang="en-US"/>
          </a:p>
        </p:txBody>
      </p:sp>
      <p:sp>
        <p:nvSpPr>
          <p:cNvPr id="35" name="Text 33"/>
          <p:cNvSpPr txBox="1"/>
          <p:nvPr/>
        </p:nvSpPr>
        <p:spPr>
          <a:xfrm>
            <a:off x="548640" y="3401568"/>
            <a:ext cx="1953158" cy="290779"/>
          </a:xfrm>
          <a:prstGeom prst="rect">
            <a:avLst/>
          </a:prstGeom>
          <a:noFill/>
          <a:ln/>
        </p:spPr>
        <p:txBody>
          <a:bodyPr wrap="square" lIns="0" tIns="0" rIns="0" bIns="0" rtlCol="0" anchor="ctr"/>
          <a:lstStyle/>
          <a:p>
            <a:pPr marL="0" indent="0" algn="ctr">
              <a:buNone/>
            </a:pPr>
            <a:r>
              <a:rPr lang="en-US" sz="1200" b="1" dirty="0">
                <a:solidFill>
                  <a:srgbClr val="8A5300"/>
                </a:solidFill>
              </a:rPr>
              <a:t>503 · Retry-After: 2</a:t>
            </a:r>
            <a:endParaRPr lang="en-US" sz="1200" dirty="0"/>
          </a:p>
        </p:txBody>
      </p:sp>
      <p:sp>
        <p:nvSpPr>
          <p:cNvPr id="36" name="Shape 34"/>
          <p:cNvSpPr/>
          <p:nvPr/>
        </p:nvSpPr>
        <p:spPr>
          <a:xfrm>
            <a:off x="2556662" y="3546958"/>
            <a:ext cx="219456" cy="0"/>
          </a:xfrm>
          <a:prstGeom prst="line">
            <a:avLst/>
          </a:prstGeom>
          <a:noFill/>
          <a:ln w="12700">
            <a:solidFill>
              <a:schemeClr val="tx2"/>
            </a:solidFill>
            <a:prstDash val="solid"/>
            <a:tailEnd type="triangle"/>
          </a:ln>
        </p:spPr>
        <p:txBody>
          <a:bodyPr/>
          <a:lstStyle/>
          <a:p>
            <a:endParaRPr lang="en-US"/>
          </a:p>
        </p:txBody>
      </p:sp>
      <p:sp>
        <p:nvSpPr>
          <p:cNvPr id="37" name="tag wait 2 s"/>
          <p:cNvSpPr/>
          <p:nvPr/>
        </p:nvSpPr>
        <p:spPr>
          <a:xfrm>
            <a:off x="2830982" y="3401568"/>
            <a:ext cx="912937" cy="290779"/>
          </a:xfrm>
          <a:prstGeom prst="roundRect">
            <a:avLst>
              <a:gd name="adj" fmla="val 12579"/>
            </a:avLst>
          </a:prstGeom>
          <a:solidFill>
            <a:srgbClr val="F1F3F6"/>
          </a:solidFill>
          <a:ln/>
        </p:spPr>
        <p:txBody>
          <a:bodyPr/>
          <a:lstStyle/>
          <a:p>
            <a:endParaRPr lang="en-US"/>
          </a:p>
        </p:txBody>
      </p:sp>
      <p:sp>
        <p:nvSpPr>
          <p:cNvPr id="38" name="Text 36"/>
          <p:cNvSpPr txBox="1"/>
          <p:nvPr/>
        </p:nvSpPr>
        <p:spPr>
          <a:xfrm>
            <a:off x="2830982" y="3401568"/>
            <a:ext cx="912937" cy="290779"/>
          </a:xfrm>
          <a:prstGeom prst="rect">
            <a:avLst/>
          </a:prstGeom>
          <a:noFill/>
          <a:ln/>
        </p:spPr>
        <p:txBody>
          <a:bodyPr wrap="square" lIns="0" tIns="0" rIns="0" bIns="0" rtlCol="0" anchor="ctr"/>
          <a:lstStyle/>
          <a:p>
            <a:pPr marL="0" indent="0" algn="ctr">
              <a:buNone/>
            </a:pPr>
            <a:r>
              <a:rPr lang="en-US" sz="1200" b="1" dirty="0">
                <a:solidFill>
                  <a:srgbClr val="5B6472"/>
                </a:solidFill>
              </a:rPr>
              <a:t>wait 2 s</a:t>
            </a:r>
            <a:endParaRPr lang="en-US" sz="1200" dirty="0"/>
          </a:p>
        </p:txBody>
      </p:sp>
      <p:sp>
        <p:nvSpPr>
          <p:cNvPr id="39" name="Shape 37"/>
          <p:cNvSpPr/>
          <p:nvPr/>
        </p:nvSpPr>
        <p:spPr>
          <a:xfrm>
            <a:off x="3798783" y="3546958"/>
            <a:ext cx="219456" cy="0"/>
          </a:xfrm>
          <a:prstGeom prst="line">
            <a:avLst/>
          </a:prstGeom>
          <a:noFill/>
          <a:ln w="12700">
            <a:solidFill>
              <a:schemeClr val="tx2"/>
            </a:solidFill>
            <a:prstDash val="solid"/>
            <a:tailEnd type="triangle"/>
          </a:ln>
        </p:spPr>
        <p:txBody>
          <a:bodyPr/>
          <a:lstStyle/>
          <a:p>
            <a:endParaRPr lang="en-US"/>
          </a:p>
        </p:txBody>
      </p:sp>
      <p:sp>
        <p:nvSpPr>
          <p:cNvPr id="40" name="tag 503"/>
          <p:cNvSpPr/>
          <p:nvPr/>
        </p:nvSpPr>
        <p:spPr>
          <a:xfrm>
            <a:off x="4073103" y="3401568"/>
            <a:ext cx="479511" cy="290779"/>
          </a:xfrm>
          <a:prstGeom prst="roundRect">
            <a:avLst>
              <a:gd name="adj" fmla="val 12579"/>
            </a:avLst>
          </a:prstGeom>
          <a:solidFill>
            <a:srgbClr val="FFF3D6"/>
          </a:solidFill>
          <a:ln/>
        </p:spPr>
        <p:txBody>
          <a:bodyPr/>
          <a:lstStyle/>
          <a:p>
            <a:endParaRPr lang="en-US"/>
          </a:p>
        </p:txBody>
      </p:sp>
      <p:sp>
        <p:nvSpPr>
          <p:cNvPr id="41" name="Text 39"/>
          <p:cNvSpPr txBox="1"/>
          <p:nvPr/>
        </p:nvSpPr>
        <p:spPr>
          <a:xfrm>
            <a:off x="4073103" y="3401568"/>
            <a:ext cx="479511" cy="290779"/>
          </a:xfrm>
          <a:prstGeom prst="rect">
            <a:avLst/>
          </a:prstGeom>
          <a:noFill/>
          <a:ln/>
        </p:spPr>
        <p:txBody>
          <a:bodyPr wrap="square" lIns="0" tIns="0" rIns="0" bIns="0" rtlCol="0" anchor="ctr"/>
          <a:lstStyle/>
          <a:p>
            <a:pPr marL="0" indent="0" algn="ctr">
              <a:buNone/>
            </a:pPr>
            <a:r>
              <a:rPr lang="en-US" sz="1200" b="1" dirty="0">
                <a:solidFill>
                  <a:srgbClr val="8A5300"/>
                </a:solidFill>
              </a:rPr>
              <a:t>503</a:t>
            </a:r>
            <a:endParaRPr lang="en-US" sz="1200" dirty="0"/>
          </a:p>
        </p:txBody>
      </p:sp>
      <p:sp>
        <p:nvSpPr>
          <p:cNvPr id="42" name="Shape 40"/>
          <p:cNvSpPr/>
          <p:nvPr/>
        </p:nvSpPr>
        <p:spPr>
          <a:xfrm>
            <a:off x="4607479" y="3546958"/>
            <a:ext cx="219456" cy="0"/>
          </a:xfrm>
          <a:prstGeom prst="line">
            <a:avLst/>
          </a:prstGeom>
          <a:noFill/>
          <a:ln w="12700">
            <a:solidFill>
              <a:schemeClr val="tx2"/>
            </a:solidFill>
            <a:prstDash val="solid"/>
            <a:tailEnd type="triangle"/>
          </a:ln>
        </p:spPr>
        <p:txBody>
          <a:bodyPr/>
          <a:lstStyle/>
          <a:p>
            <a:endParaRPr lang="en-US"/>
          </a:p>
        </p:txBody>
      </p:sp>
      <p:sp>
        <p:nvSpPr>
          <p:cNvPr id="43" name="tag wait 2 s"/>
          <p:cNvSpPr/>
          <p:nvPr/>
        </p:nvSpPr>
        <p:spPr>
          <a:xfrm>
            <a:off x="4881799" y="3401568"/>
            <a:ext cx="912937" cy="290779"/>
          </a:xfrm>
          <a:prstGeom prst="roundRect">
            <a:avLst>
              <a:gd name="adj" fmla="val 12579"/>
            </a:avLst>
          </a:prstGeom>
          <a:solidFill>
            <a:srgbClr val="F1F3F6"/>
          </a:solidFill>
          <a:ln/>
        </p:spPr>
        <p:txBody>
          <a:bodyPr/>
          <a:lstStyle/>
          <a:p>
            <a:endParaRPr lang="en-US"/>
          </a:p>
        </p:txBody>
      </p:sp>
      <p:sp>
        <p:nvSpPr>
          <p:cNvPr id="44" name="Text 42"/>
          <p:cNvSpPr txBox="1"/>
          <p:nvPr/>
        </p:nvSpPr>
        <p:spPr>
          <a:xfrm>
            <a:off x="4881799" y="3401568"/>
            <a:ext cx="912937" cy="290779"/>
          </a:xfrm>
          <a:prstGeom prst="rect">
            <a:avLst/>
          </a:prstGeom>
          <a:noFill/>
          <a:ln/>
        </p:spPr>
        <p:txBody>
          <a:bodyPr wrap="square" lIns="0" tIns="0" rIns="0" bIns="0" rtlCol="0" anchor="ctr"/>
          <a:lstStyle/>
          <a:p>
            <a:pPr marL="0" indent="0" algn="ctr">
              <a:buNone/>
            </a:pPr>
            <a:r>
              <a:rPr lang="en-US" sz="1200" b="1" dirty="0">
                <a:solidFill>
                  <a:srgbClr val="5B6472"/>
                </a:solidFill>
              </a:rPr>
              <a:t>wait 2 s</a:t>
            </a:r>
            <a:endParaRPr lang="en-US" sz="1200" dirty="0"/>
          </a:p>
        </p:txBody>
      </p:sp>
      <p:sp>
        <p:nvSpPr>
          <p:cNvPr id="45" name="Shape 43"/>
          <p:cNvSpPr/>
          <p:nvPr/>
        </p:nvSpPr>
        <p:spPr>
          <a:xfrm>
            <a:off x="5849600" y="3546958"/>
            <a:ext cx="219456" cy="0"/>
          </a:xfrm>
          <a:prstGeom prst="line">
            <a:avLst/>
          </a:prstGeom>
          <a:noFill/>
          <a:ln w="12700">
            <a:solidFill>
              <a:schemeClr val="tx2"/>
            </a:solidFill>
            <a:prstDash val="solid"/>
            <a:tailEnd type="triangle"/>
          </a:ln>
        </p:spPr>
        <p:txBody>
          <a:bodyPr/>
          <a:lstStyle/>
          <a:p>
            <a:endParaRPr lang="en-US"/>
          </a:p>
        </p:txBody>
      </p:sp>
      <p:sp>
        <p:nvSpPr>
          <p:cNvPr id="46" name="tag 201"/>
          <p:cNvSpPr/>
          <p:nvPr/>
        </p:nvSpPr>
        <p:spPr>
          <a:xfrm>
            <a:off x="6123920" y="3401568"/>
            <a:ext cx="479511" cy="290779"/>
          </a:xfrm>
          <a:prstGeom prst="roundRect">
            <a:avLst>
              <a:gd name="adj" fmla="val 12579"/>
            </a:avLst>
          </a:prstGeom>
          <a:solidFill>
            <a:srgbClr val="E6F4EC"/>
          </a:solidFill>
          <a:ln/>
        </p:spPr>
        <p:txBody>
          <a:bodyPr/>
          <a:lstStyle/>
          <a:p>
            <a:endParaRPr lang="en-US"/>
          </a:p>
        </p:txBody>
      </p:sp>
      <p:sp>
        <p:nvSpPr>
          <p:cNvPr id="47" name="Text 45"/>
          <p:cNvSpPr txBox="1"/>
          <p:nvPr/>
        </p:nvSpPr>
        <p:spPr>
          <a:xfrm>
            <a:off x="6123920" y="3401568"/>
            <a:ext cx="479511" cy="290779"/>
          </a:xfrm>
          <a:prstGeom prst="rect">
            <a:avLst/>
          </a:prstGeom>
          <a:noFill/>
          <a:ln/>
        </p:spPr>
        <p:txBody>
          <a:bodyPr wrap="square" lIns="0" tIns="0" rIns="0" bIns="0" rtlCol="0" anchor="ctr"/>
          <a:lstStyle/>
          <a:p>
            <a:pPr marL="0" indent="0" algn="ctr">
              <a:buNone/>
            </a:pPr>
            <a:r>
              <a:rPr lang="en-US" sz="1200" b="1" dirty="0">
                <a:solidFill>
                  <a:srgbClr val="127A4B"/>
                </a:solidFill>
              </a:rPr>
              <a:t>201</a:t>
            </a:r>
            <a:endParaRPr lang="en-US" sz="1200" dirty="0"/>
          </a:p>
        </p:txBody>
      </p:sp>
      <p:sp>
        <p:nvSpPr>
          <p:cNvPr id="48" name="tag 201"/>
          <p:cNvSpPr/>
          <p:nvPr/>
        </p:nvSpPr>
        <p:spPr>
          <a:xfrm>
            <a:off x="548640" y="3950208"/>
            <a:ext cx="479511" cy="290779"/>
          </a:xfrm>
          <a:prstGeom prst="roundRect">
            <a:avLst>
              <a:gd name="adj" fmla="val 12579"/>
            </a:avLst>
          </a:prstGeom>
          <a:solidFill>
            <a:srgbClr val="E6F4EC"/>
          </a:solidFill>
          <a:ln/>
        </p:spPr>
        <p:txBody>
          <a:bodyPr/>
          <a:lstStyle/>
          <a:p>
            <a:endParaRPr lang="en-US"/>
          </a:p>
        </p:txBody>
      </p:sp>
      <p:sp>
        <p:nvSpPr>
          <p:cNvPr id="49" name="Text 47"/>
          <p:cNvSpPr txBox="1"/>
          <p:nvPr/>
        </p:nvSpPr>
        <p:spPr>
          <a:xfrm>
            <a:off x="548640" y="3950208"/>
            <a:ext cx="479511" cy="290779"/>
          </a:xfrm>
          <a:prstGeom prst="rect">
            <a:avLst/>
          </a:prstGeom>
          <a:noFill/>
          <a:ln/>
        </p:spPr>
        <p:txBody>
          <a:bodyPr wrap="square" lIns="0" tIns="0" rIns="0" bIns="0" rtlCol="0" anchor="ctr"/>
          <a:lstStyle/>
          <a:p>
            <a:pPr marL="0" indent="0" algn="ctr">
              <a:buNone/>
            </a:pPr>
            <a:r>
              <a:rPr lang="en-US" sz="1200" b="1" dirty="0">
                <a:solidFill>
                  <a:srgbClr val="127A4B"/>
                </a:solidFill>
              </a:rPr>
              <a:t>201</a:t>
            </a:r>
            <a:endParaRPr lang="en-US" sz="1200" dirty="0"/>
          </a:p>
        </p:txBody>
      </p:sp>
      <p:sp>
        <p:nvSpPr>
          <p:cNvPr id="50" name="Text 48"/>
          <p:cNvSpPr txBox="1"/>
          <p:nvPr/>
        </p:nvSpPr>
        <p:spPr>
          <a:xfrm>
            <a:off x="1463040" y="3931920"/>
            <a:ext cx="5669280" cy="594360"/>
          </a:xfrm>
          <a:prstGeom prst="rect">
            <a:avLst/>
          </a:prstGeom>
          <a:noFill/>
          <a:ln/>
        </p:spPr>
        <p:txBody>
          <a:bodyPr wrap="square" lIns="0" tIns="0" rIns="0" bIns="0" rtlCol="0" anchor="t"/>
          <a:lstStyle/>
          <a:p>
            <a:pPr marL="0" indent="0">
              <a:buNone/>
            </a:pPr>
            <a:r>
              <a:rPr lang="en-US" sz="1400" b="1" dirty="0">
                <a:solidFill>
                  <a:schemeClr val="tx1"/>
                </a:solidFill>
              </a:rPr>
              <a:t>Reserved. </a:t>
            </a:r>
            <a:r>
              <a:rPr lang="en-US" sz="1400" dirty="0">
                <a:solidFill>
                  <a:srgbClr val="3D4552"/>
                </a:solidFill>
              </a:rPr>
              <a:t>The reconciler pushes the new figure for that product to both channels.</a:t>
            </a:r>
            <a:endParaRPr lang="en-US" sz="1400" dirty="0"/>
          </a:p>
        </p:txBody>
      </p:sp>
      <p:sp>
        <p:nvSpPr>
          <p:cNvPr id="51" name="tag 409"/>
          <p:cNvSpPr/>
          <p:nvPr/>
        </p:nvSpPr>
        <p:spPr>
          <a:xfrm>
            <a:off x="548640" y="4663440"/>
            <a:ext cx="479511" cy="290779"/>
          </a:xfrm>
          <a:prstGeom prst="roundRect">
            <a:avLst>
              <a:gd name="adj" fmla="val 12579"/>
            </a:avLst>
          </a:prstGeom>
          <a:solidFill>
            <a:srgbClr val="FDE3DE"/>
          </a:solidFill>
          <a:ln/>
        </p:spPr>
        <p:txBody>
          <a:bodyPr/>
          <a:lstStyle/>
          <a:p>
            <a:endParaRPr lang="en-US"/>
          </a:p>
        </p:txBody>
      </p:sp>
      <p:sp>
        <p:nvSpPr>
          <p:cNvPr id="52" name="Text 50"/>
          <p:cNvSpPr txBox="1"/>
          <p:nvPr/>
        </p:nvSpPr>
        <p:spPr>
          <a:xfrm>
            <a:off x="548640" y="4663440"/>
            <a:ext cx="479511" cy="290779"/>
          </a:xfrm>
          <a:prstGeom prst="rect">
            <a:avLst/>
          </a:prstGeom>
          <a:noFill/>
          <a:ln/>
        </p:spPr>
        <p:txBody>
          <a:bodyPr wrap="square" lIns="0" tIns="0" rIns="0" bIns="0" rtlCol="0" anchor="ctr"/>
          <a:lstStyle/>
          <a:p>
            <a:pPr marL="0" indent="0" algn="ctr">
              <a:buNone/>
            </a:pPr>
            <a:r>
              <a:rPr lang="en-US" sz="1200" b="1" dirty="0">
                <a:solidFill>
                  <a:srgbClr val="9F1D10"/>
                </a:solidFill>
              </a:rPr>
              <a:t>409</a:t>
            </a:r>
            <a:endParaRPr lang="en-US" sz="1200" dirty="0"/>
          </a:p>
        </p:txBody>
      </p:sp>
      <p:sp>
        <p:nvSpPr>
          <p:cNvPr id="53" name="Text 51"/>
          <p:cNvSpPr txBox="1"/>
          <p:nvPr/>
        </p:nvSpPr>
        <p:spPr>
          <a:xfrm>
            <a:off x="1463040" y="4645152"/>
            <a:ext cx="5669280" cy="594360"/>
          </a:xfrm>
          <a:prstGeom prst="rect">
            <a:avLst/>
          </a:prstGeom>
          <a:noFill/>
          <a:ln/>
        </p:spPr>
        <p:txBody>
          <a:bodyPr wrap="square" lIns="0" tIns="0" rIns="0" bIns="0" rtlCol="0" anchor="t"/>
          <a:lstStyle/>
          <a:p>
            <a:pPr marL="0" indent="0">
              <a:buNone/>
            </a:pPr>
            <a:r>
              <a:rPr lang="en-US" sz="1400" b="1" dirty="0">
                <a:solidFill>
                  <a:schemeClr val="tx1"/>
                </a:solidFill>
              </a:rPr>
              <a:t>Sold out. </a:t>
            </a:r>
            <a:r>
              <a:rPr lang="en-US" sz="1400" dirty="0">
                <a:solidFill>
                  <a:srgbClr val="3D4552"/>
                </a:solidFill>
              </a:rPr>
              <a:t>Review item; a person decides: retry later, cancel, or close.</a:t>
            </a:r>
            <a:endParaRPr lang="en-US" sz="1400" dirty="0"/>
          </a:p>
        </p:txBody>
      </p:sp>
      <p:sp>
        <p:nvSpPr>
          <p:cNvPr id="54" name="tag 5 tries"/>
          <p:cNvSpPr/>
          <p:nvPr/>
        </p:nvSpPr>
        <p:spPr>
          <a:xfrm>
            <a:off x="548640" y="5376672"/>
            <a:ext cx="826252" cy="290779"/>
          </a:xfrm>
          <a:prstGeom prst="roundRect">
            <a:avLst>
              <a:gd name="adj" fmla="val 12579"/>
            </a:avLst>
          </a:prstGeom>
          <a:solidFill>
            <a:srgbClr val="FFF3D6"/>
          </a:solidFill>
          <a:ln/>
        </p:spPr>
        <p:txBody>
          <a:bodyPr/>
          <a:lstStyle/>
          <a:p>
            <a:endParaRPr lang="en-US"/>
          </a:p>
        </p:txBody>
      </p:sp>
      <p:sp>
        <p:nvSpPr>
          <p:cNvPr id="55" name="Text 53"/>
          <p:cNvSpPr txBox="1"/>
          <p:nvPr/>
        </p:nvSpPr>
        <p:spPr>
          <a:xfrm>
            <a:off x="548640" y="5376672"/>
            <a:ext cx="826252" cy="290779"/>
          </a:xfrm>
          <a:prstGeom prst="rect">
            <a:avLst/>
          </a:prstGeom>
          <a:noFill/>
          <a:ln/>
        </p:spPr>
        <p:txBody>
          <a:bodyPr wrap="square" lIns="0" tIns="0" rIns="0" bIns="0" rtlCol="0" anchor="ctr"/>
          <a:lstStyle/>
          <a:p>
            <a:pPr marL="0" indent="0" algn="ctr">
              <a:buNone/>
            </a:pPr>
            <a:r>
              <a:rPr lang="en-US" sz="1200" b="1" dirty="0">
                <a:solidFill>
                  <a:srgbClr val="8A5300"/>
                </a:solidFill>
              </a:rPr>
              <a:t>5 tries</a:t>
            </a:r>
            <a:endParaRPr lang="en-US" sz="1200" dirty="0"/>
          </a:p>
        </p:txBody>
      </p:sp>
      <p:sp>
        <p:nvSpPr>
          <p:cNvPr id="56" name="Text 54"/>
          <p:cNvSpPr txBox="1"/>
          <p:nvPr/>
        </p:nvSpPr>
        <p:spPr>
          <a:xfrm>
            <a:off x="1463040" y="5358384"/>
            <a:ext cx="5669280" cy="594360"/>
          </a:xfrm>
          <a:prstGeom prst="rect">
            <a:avLst/>
          </a:prstGeom>
          <a:noFill/>
          <a:ln/>
        </p:spPr>
        <p:txBody>
          <a:bodyPr wrap="square" lIns="0" tIns="0" rIns="0" bIns="0" rtlCol="0" anchor="t"/>
          <a:lstStyle/>
          <a:p>
            <a:pPr marL="0" indent="0">
              <a:buNone/>
            </a:pPr>
            <a:r>
              <a:rPr lang="en-US" sz="1400" b="1" dirty="0">
                <a:solidFill>
                  <a:schemeClr val="tx1"/>
                </a:solidFill>
              </a:rPr>
              <a:t>Warehouse outage. </a:t>
            </a:r>
            <a:r>
              <a:rPr lang="en-US" sz="1400" dirty="0">
                <a:solidFill>
                  <a:srgbClr val="3D4552"/>
                </a:solidFill>
              </a:rPr>
              <a:t>Review item: Retry, Retry all, or the auto-retry rule once the warehouse answers.</a:t>
            </a:r>
            <a:endParaRPr lang="en-US" sz="1400" dirty="0"/>
          </a:p>
        </p:txBody>
      </p:sp>
      <p:pic>
        <p:nvPicPr>
          <p:cNvPr id="57" name="Image 0" descr="History of a shop order while the warehouse was not answering: received, four retries 2 seconds apart, failed after 5 tries, sent to review"/>
          <p:cNvPicPr>
            <a:picLocks noChangeAspect="1"/>
          </p:cNvPicPr>
          <p:nvPr/>
        </p:nvPicPr>
        <p:blipFill>
          <a:blip r:embed="rId3"/>
          <a:stretch>
            <a:fillRect/>
          </a:stretch>
        </p:blipFill>
        <p:spPr>
          <a:xfrm>
            <a:off x="7589520" y="3017520"/>
            <a:ext cx="4050792" cy="2988649"/>
          </a:xfrm>
          <a:prstGeom prst="rect">
            <a:avLst/>
          </a:prstGeom>
        </p:spPr>
      </p:pic>
      <p:sp>
        <p:nvSpPr>
          <p:cNvPr id="58" name="frame"/>
          <p:cNvSpPr/>
          <p:nvPr/>
        </p:nvSpPr>
        <p:spPr>
          <a:xfrm>
            <a:off x="7589520" y="3017520"/>
            <a:ext cx="4050792" cy="2988649"/>
          </a:xfrm>
          <a:prstGeom prst="rect">
            <a:avLst/>
          </a:prstGeom>
          <a:noFill/>
          <a:ln w="9525">
            <a:solidFill>
              <a:srgbClr val="E3E6EB"/>
            </a:solidFill>
            <a:prstDash val="solid"/>
          </a:ln>
        </p:spPr>
        <p:txBody>
          <a:bodyPr/>
          <a:lstStyle/>
          <a:p>
            <a:endParaRPr lang="en-US"/>
          </a:p>
        </p:txBody>
      </p:sp>
      <p:sp>
        <p:nvSpPr>
          <p:cNvPr id="59" name="Text 56"/>
          <p:cNvSpPr txBox="1"/>
          <p:nvPr/>
        </p:nvSpPr>
        <p:spPr>
          <a:xfrm>
            <a:off x="7589520" y="6079321"/>
            <a:ext cx="4050792" cy="411480"/>
          </a:xfrm>
          <a:prstGeom prst="rect">
            <a:avLst/>
          </a:prstGeom>
          <a:noFill/>
          <a:ln/>
        </p:spPr>
        <p:txBody>
          <a:bodyPr wrap="square" lIns="0" tIns="0" rIns="0" bIns="0" rtlCol="0" anchor="t"/>
          <a:lstStyle/>
          <a:p>
            <a:pPr marL="0" indent="0">
              <a:buNone/>
            </a:pPr>
            <a:r>
              <a:rPr lang="en-US" sz="1100" dirty="0">
                <a:solidFill>
                  <a:schemeClr val="tx2"/>
                </a:solidFill>
              </a:rPr>
              <a:t>A real order's history: four retries 2 s apart, then review. A person retried it later and it was reserved.</a:t>
            </a:r>
            <a:endParaRPr lang="en-US" sz="1100" dirty="0"/>
          </a:p>
        </p:txBody>
      </p:sp>
      <p:sp>
        <p:nvSpPr>
          <p:cNvPr id="60"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HOW IT WORKS</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Stock: pull the truth, push it everywhere</a:t>
            </a:r>
            <a:endParaRPr lang="en-US" sz="3200" dirty="0"/>
          </a:p>
        </p:txBody>
      </p:sp>
      <p:sp>
        <p:nvSpPr>
          <p:cNvPr id="4" name="Text 2"/>
          <p:cNvSpPr txBox="1"/>
          <p:nvPr/>
        </p:nvSpPr>
        <p:spPr>
          <a:xfrm>
            <a:off x="548640" y="1481328"/>
            <a:ext cx="5029200" cy="274320"/>
          </a:xfrm>
          <a:prstGeom prst="rect">
            <a:avLst/>
          </a:prstGeom>
          <a:noFill/>
          <a:ln/>
        </p:spPr>
        <p:txBody>
          <a:bodyPr wrap="square" lIns="0" tIns="0" rIns="0" bIns="0" rtlCol="0" anchor="t"/>
          <a:lstStyle/>
          <a:p>
            <a:pPr marL="0" indent="0">
              <a:buNone/>
            </a:pPr>
            <a:r>
              <a:rPr lang="en-US" sz="1600" b="1" dirty="0">
                <a:solidFill>
                  <a:schemeClr val="tx1"/>
                </a:solidFill>
              </a:rPr>
              <a:t>When it runs</a:t>
            </a:r>
            <a:endParaRPr lang="en-US" sz="1600" dirty="0"/>
          </a:p>
        </p:txBody>
      </p:sp>
      <p:sp>
        <p:nvSpPr>
          <p:cNvPr id="5" name="tag at startup"/>
          <p:cNvSpPr/>
          <p:nvPr/>
        </p:nvSpPr>
        <p:spPr>
          <a:xfrm>
            <a:off x="548640" y="1874520"/>
            <a:ext cx="1086307" cy="290779"/>
          </a:xfrm>
          <a:prstGeom prst="roundRect">
            <a:avLst>
              <a:gd name="adj" fmla="val 12579"/>
            </a:avLst>
          </a:prstGeom>
          <a:solidFill>
            <a:srgbClr val="F1F3F6"/>
          </a:solidFill>
          <a:ln/>
        </p:spPr>
        <p:txBody>
          <a:bodyPr/>
          <a:lstStyle/>
          <a:p>
            <a:endParaRPr lang="en-US"/>
          </a:p>
        </p:txBody>
      </p:sp>
      <p:sp>
        <p:nvSpPr>
          <p:cNvPr id="6" name="Text 4"/>
          <p:cNvSpPr txBox="1"/>
          <p:nvPr/>
        </p:nvSpPr>
        <p:spPr>
          <a:xfrm>
            <a:off x="548640" y="1874520"/>
            <a:ext cx="1086307" cy="290779"/>
          </a:xfrm>
          <a:prstGeom prst="rect">
            <a:avLst/>
          </a:prstGeom>
          <a:noFill/>
          <a:ln/>
        </p:spPr>
        <p:txBody>
          <a:bodyPr wrap="square" lIns="0" tIns="0" rIns="0" bIns="0" rtlCol="0" anchor="ctr"/>
          <a:lstStyle/>
          <a:p>
            <a:pPr marL="0" indent="0" algn="ctr">
              <a:buNone/>
            </a:pPr>
            <a:r>
              <a:rPr lang="en-US" sz="1200" b="1" dirty="0">
                <a:solidFill>
                  <a:srgbClr val="5B6472"/>
                </a:solidFill>
              </a:rPr>
              <a:t>at startup</a:t>
            </a:r>
            <a:endParaRPr lang="en-US" sz="1200" dirty="0"/>
          </a:p>
        </p:txBody>
      </p:sp>
      <p:sp>
        <p:nvSpPr>
          <p:cNvPr id="7" name="tag every 10 s"/>
          <p:cNvSpPr/>
          <p:nvPr/>
        </p:nvSpPr>
        <p:spPr>
          <a:xfrm>
            <a:off x="1744675" y="1874520"/>
            <a:ext cx="1086307" cy="290779"/>
          </a:xfrm>
          <a:prstGeom prst="roundRect">
            <a:avLst>
              <a:gd name="adj" fmla="val 12579"/>
            </a:avLst>
          </a:prstGeom>
          <a:solidFill>
            <a:srgbClr val="F1F3F6"/>
          </a:solidFill>
          <a:ln/>
        </p:spPr>
        <p:txBody>
          <a:bodyPr/>
          <a:lstStyle/>
          <a:p>
            <a:endParaRPr lang="en-US"/>
          </a:p>
        </p:txBody>
      </p:sp>
      <p:sp>
        <p:nvSpPr>
          <p:cNvPr id="8" name="Text 6"/>
          <p:cNvSpPr txBox="1"/>
          <p:nvPr/>
        </p:nvSpPr>
        <p:spPr>
          <a:xfrm>
            <a:off x="1744675" y="1874520"/>
            <a:ext cx="1086307" cy="290779"/>
          </a:xfrm>
          <a:prstGeom prst="rect">
            <a:avLst/>
          </a:prstGeom>
          <a:noFill/>
          <a:ln/>
        </p:spPr>
        <p:txBody>
          <a:bodyPr wrap="square" lIns="0" tIns="0" rIns="0" bIns="0" rtlCol="0" anchor="ctr"/>
          <a:lstStyle/>
          <a:p>
            <a:pPr marL="0" indent="0" algn="ctr">
              <a:buNone/>
            </a:pPr>
            <a:r>
              <a:rPr lang="en-US" sz="1200" b="1" dirty="0">
                <a:solidFill>
                  <a:srgbClr val="5B6472"/>
                </a:solidFill>
              </a:rPr>
              <a:t>every 10 s</a:t>
            </a:r>
            <a:endParaRPr lang="en-US" sz="1200" dirty="0"/>
          </a:p>
        </p:txBody>
      </p:sp>
      <p:sp>
        <p:nvSpPr>
          <p:cNvPr id="9" name="tag on a warehouse recount"/>
          <p:cNvSpPr/>
          <p:nvPr/>
        </p:nvSpPr>
        <p:spPr>
          <a:xfrm>
            <a:off x="2940710" y="1874520"/>
            <a:ext cx="2126529" cy="290779"/>
          </a:xfrm>
          <a:prstGeom prst="roundRect">
            <a:avLst>
              <a:gd name="adj" fmla="val 12579"/>
            </a:avLst>
          </a:prstGeom>
          <a:solidFill>
            <a:srgbClr val="F1F3F6"/>
          </a:solidFill>
          <a:ln/>
        </p:spPr>
        <p:txBody>
          <a:bodyPr/>
          <a:lstStyle/>
          <a:p>
            <a:endParaRPr lang="en-US"/>
          </a:p>
        </p:txBody>
      </p:sp>
      <p:sp>
        <p:nvSpPr>
          <p:cNvPr id="10" name="Text 8"/>
          <p:cNvSpPr txBox="1"/>
          <p:nvPr/>
        </p:nvSpPr>
        <p:spPr>
          <a:xfrm>
            <a:off x="2940710" y="1874520"/>
            <a:ext cx="2126529" cy="290779"/>
          </a:xfrm>
          <a:prstGeom prst="rect">
            <a:avLst/>
          </a:prstGeom>
          <a:noFill/>
          <a:ln/>
        </p:spPr>
        <p:txBody>
          <a:bodyPr wrap="square" lIns="0" tIns="0" rIns="0" bIns="0" rtlCol="0" anchor="ctr"/>
          <a:lstStyle/>
          <a:p>
            <a:pPr marL="0" indent="0" algn="ctr">
              <a:buNone/>
            </a:pPr>
            <a:r>
              <a:rPr lang="en-US" sz="1200" b="1" dirty="0">
                <a:solidFill>
                  <a:srgbClr val="5B6472"/>
                </a:solidFill>
              </a:rPr>
              <a:t>on a warehouse recount</a:t>
            </a:r>
            <a:endParaRPr lang="en-US" sz="1200" dirty="0"/>
          </a:p>
        </p:txBody>
      </p:sp>
      <p:sp>
        <p:nvSpPr>
          <p:cNvPr id="11" name="tag after every reservation or cancel"/>
          <p:cNvSpPr/>
          <p:nvPr/>
        </p:nvSpPr>
        <p:spPr>
          <a:xfrm>
            <a:off x="548640" y="2258568"/>
            <a:ext cx="3080065" cy="290779"/>
          </a:xfrm>
          <a:prstGeom prst="roundRect">
            <a:avLst>
              <a:gd name="adj" fmla="val 12579"/>
            </a:avLst>
          </a:prstGeom>
          <a:solidFill>
            <a:srgbClr val="F1F3F6"/>
          </a:solidFill>
          <a:ln/>
        </p:spPr>
        <p:txBody>
          <a:bodyPr/>
          <a:lstStyle/>
          <a:p>
            <a:endParaRPr lang="en-US"/>
          </a:p>
        </p:txBody>
      </p:sp>
      <p:sp>
        <p:nvSpPr>
          <p:cNvPr id="12" name="Text 10"/>
          <p:cNvSpPr txBox="1"/>
          <p:nvPr/>
        </p:nvSpPr>
        <p:spPr>
          <a:xfrm>
            <a:off x="548640" y="2258568"/>
            <a:ext cx="3080065" cy="290779"/>
          </a:xfrm>
          <a:prstGeom prst="rect">
            <a:avLst/>
          </a:prstGeom>
          <a:noFill/>
          <a:ln/>
        </p:spPr>
        <p:txBody>
          <a:bodyPr wrap="square" lIns="0" tIns="0" rIns="0" bIns="0" rtlCol="0" anchor="ctr"/>
          <a:lstStyle/>
          <a:p>
            <a:pPr marL="0" indent="0" algn="ctr">
              <a:buNone/>
            </a:pPr>
            <a:r>
              <a:rPr lang="en-US" sz="1200" b="1" dirty="0">
                <a:solidFill>
                  <a:srgbClr val="5B6472"/>
                </a:solidFill>
              </a:rPr>
              <a:t>after every reservation or cancel</a:t>
            </a:r>
            <a:endParaRPr lang="en-US" sz="1200" dirty="0"/>
          </a:p>
        </p:txBody>
      </p:sp>
      <p:sp>
        <p:nvSpPr>
          <p:cNvPr id="13" name="Text 11"/>
          <p:cNvSpPr txBox="1"/>
          <p:nvPr/>
        </p:nvSpPr>
        <p:spPr>
          <a:xfrm>
            <a:off x="548640" y="2788920"/>
            <a:ext cx="5029200" cy="274320"/>
          </a:xfrm>
          <a:prstGeom prst="rect">
            <a:avLst/>
          </a:prstGeom>
          <a:noFill/>
          <a:ln/>
        </p:spPr>
        <p:txBody>
          <a:bodyPr wrap="square" lIns="0" tIns="0" rIns="0" bIns="0" rtlCol="0" anchor="t"/>
          <a:lstStyle/>
          <a:p>
            <a:pPr marL="0" indent="0">
              <a:buNone/>
            </a:pPr>
            <a:r>
              <a:rPr lang="en-US" sz="1600" b="1" dirty="0">
                <a:solidFill>
                  <a:schemeClr val="tx1"/>
                </a:solidFill>
              </a:rPr>
              <a:t>What it pushes</a:t>
            </a:r>
            <a:endParaRPr lang="en-US" sz="1600" dirty="0"/>
          </a:p>
        </p:txBody>
      </p:sp>
      <p:sp>
        <p:nvSpPr>
          <p:cNvPr id="14" name="formula"/>
          <p:cNvSpPr/>
          <p:nvPr/>
        </p:nvSpPr>
        <p:spPr>
          <a:xfrm>
            <a:off x="548640" y="3154680"/>
            <a:ext cx="5029200" cy="502920"/>
          </a:xfrm>
          <a:prstGeom prst="roundRect">
            <a:avLst>
              <a:gd name="adj" fmla="val 14545"/>
            </a:avLst>
          </a:prstGeom>
          <a:solidFill>
            <a:srgbClr val="F1F3F6"/>
          </a:solidFill>
          <a:ln/>
        </p:spPr>
        <p:txBody>
          <a:bodyPr/>
          <a:lstStyle/>
          <a:p>
            <a:endParaRPr lang="en-US"/>
          </a:p>
        </p:txBody>
      </p:sp>
      <p:sp>
        <p:nvSpPr>
          <p:cNvPr id="15" name="Text 13"/>
          <p:cNvSpPr txBox="1"/>
          <p:nvPr/>
        </p:nvSpPr>
        <p:spPr>
          <a:xfrm>
            <a:off x="713232" y="3154680"/>
            <a:ext cx="4754880" cy="502920"/>
          </a:xfrm>
          <a:prstGeom prst="rect">
            <a:avLst/>
          </a:prstGeom>
          <a:noFill/>
          <a:ln/>
        </p:spPr>
        <p:txBody>
          <a:bodyPr wrap="square" lIns="0" tIns="0" rIns="0" bIns="0" rtlCol="0" anchor="ctr"/>
          <a:lstStyle/>
          <a:p>
            <a:pPr marL="0" indent="0">
              <a:buNone/>
            </a:pPr>
            <a:r>
              <a:rPr lang="en-US" sz="1300" b="1" dirty="0">
                <a:solidFill>
                  <a:schemeClr val="tx1"/>
                </a:solidFill>
                <a:latin typeface="Courier New" pitchFamily="34" charset="0"/>
                <a:ea typeface="Courier New" pitchFamily="34" charset="-122"/>
                <a:cs typeface="Courier New" pitchFamily="34" charset="-120"/>
              </a:rPr>
              <a:t>max(0, on_hand - reserved) - held back by a rule</a:t>
            </a:r>
            <a:endParaRPr lang="en-US" sz="1300" dirty="0"/>
          </a:p>
        </p:txBody>
      </p:sp>
      <p:sp>
        <p:nvSpPr>
          <p:cNvPr id="16" name="Text 14"/>
          <p:cNvSpPr txBox="1"/>
          <p:nvPr/>
        </p:nvSpPr>
        <p:spPr>
          <a:xfrm>
            <a:off x="548640" y="3886200"/>
            <a:ext cx="5029200" cy="210312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3D4552"/>
                </a:solidFill>
              </a:rPr>
              <a:t>Every product, every run, </a:t>
            </a:r>
            <a:r>
              <a:rPr lang="en-US" sz="1400" dirty="0">
                <a:solidFill>
                  <a:srgbClr val="3D4552"/>
                </a:solidFill>
              </a:rPr>
              <a:t>even when nothing seems to have changed. A restarted channel or a lost update is fixed on the next run.</a:t>
            </a:r>
            <a:endParaRPr lang="en-US" sz="1400" dirty="0"/>
          </a:p>
          <a:p>
            <a:pPr marL="177800" indent="-177800">
              <a:spcAft>
                <a:spcPts val="800"/>
              </a:spcAft>
              <a:buSzPct val="100000"/>
              <a:buChar char="•"/>
            </a:pPr>
            <a:r>
              <a:rPr lang="en-US" sz="1400" b="1" dirty="0">
                <a:solidFill>
                  <a:srgbClr val="3D4552"/>
                </a:solidFill>
              </a:rPr>
              <a:t>Events make it fast; the pull makes it correct.</a:t>
            </a:r>
            <a:endParaRPr lang="en-US" sz="1400" dirty="0"/>
          </a:p>
          <a:p>
            <a:pPr marL="177800" indent="-177800">
              <a:spcAft>
                <a:spcPts val="800"/>
              </a:spcAft>
              <a:buSzPct val="100000"/>
              <a:buChar char="•"/>
            </a:pPr>
            <a:r>
              <a:rPr lang="en-US" sz="1400" b="1" dirty="0">
                <a:solidFill>
                  <a:srgbClr val="3D4552"/>
                </a:solidFill>
              </a:rPr>
              <a:t>A recount below reserved </a:t>
            </a:r>
            <a:r>
              <a:rPr lang="en-US" sz="1400" dirty="0">
                <a:solidFill>
                  <a:srgbClr val="3D4552"/>
                </a:solidFill>
              </a:rPr>
              <a:t>caps both channels at 0 and sends only the newest orders the shelf cannot cover to review.</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89320" y="1481328"/>
          <a:ext cx="5650992" cy="2304288"/>
        </p:xfrm>
        <a:graphic>
          <a:graphicData uri="http://schemas.openxmlformats.org/drawingml/2006/table">
            <a:tbl>
              <a:tblPr/>
              <a:tblGrid>
                <a:gridCol w="1783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329184">
                <a:tc>
                  <a:txBody>
                    <a:bodyPr/>
                    <a:lstStyle/>
                    <a:p>
                      <a:pPr marL="0" indent="0">
                        <a:buNone/>
                      </a:pPr>
                      <a:r>
                        <a:rPr lang="en-US" sz="1100" b="1" dirty="0">
                          <a:solidFill>
                            <a:srgbClr val="5B6472"/>
                          </a:solidFill>
                        </a:rPr>
                        <a:t>Product</a:t>
                      </a:r>
                      <a:endParaRPr lang="en-US" sz="1100" dirty="0"/>
                    </a:p>
                  </a:txBody>
                  <a:tcPr marL="73152" marR="73152"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tc>
                  <a:txBody>
                    <a:bodyPr/>
                    <a:lstStyle/>
                    <a:p>
                      <a:pPr marL="0" indent="0" algn="r">
                        <a:buNone/>
                      </a:pPr>
                      <a:r>
                        <a:rPr lang="en-US" sz="1100" b="1" dirty="0">
                          <a:solidFill>
                            <a:srgbClr val="5B6472"/>
                          </a:solidFill>
                        </a:rPr>
                        <a:t>Free</a:t>
                      </a:r>
                      <a:endParaRPr lang="en-US" sz="1100" dirty="0"/>
                    </a:p>
                  </a:txBody>
                  <a:tcPr marL="73152" marR="73152"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tc>
                  <a:txBody>
                    <a:bodyPr/>
                    <a:lstStyle/>
                    <a:p>
                      <a:pPr marL="0" indent="0" algn="r">
                        <a:buNone/>
                      </a:pPr>
                      <a:r>
                        <a:rPr lang="en-US" sz="1100" b="1" dirty="0">
                          <a:solidFill>
                            <a:srgbClr val="5B6472"/>
                          </a:solidFill>
                        </a:rPr>
                        <a:t>To shop</a:t>
                      </a:r>
                      <a:endParaRPr lang="en-US" sz="1100" dirty="0"/>
                    </a:p>
                  </a:txBody>
                  <a:tcPr marL="73152" marR="73152"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tc>
                  <a:txBody>
                    <a:bodyPr/>
                    <a:lstStyle/>
                    <a:p>
                      <a:pPr marL="0" indent="0" algn="r">
                        <a:buNone/>
                      </a:pPr>
                      <a:r>
                        <a:rPr lang="en-US" sz="1100" b="1" dirty="0">
                          <a:solidFill>
                            <a:srgbClr val="5B6472"/>
                          </a:solidFill>
                        </a:rPr>
                        <a:t>To eMAG</a:t>
                      </a:r>
                      <a:endParaRPr lang="en-US" sz="1100" dirty="0"/>
                    </a:p>
                  </a:txBody>
                  <a:tcPr marL="73152" marR="73152"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tc>
                  <a:txBody>
                    <a:bodyPr/>
                    <a:lstStyle/>
                    <a:p>
                      <a:pPr marL="0" indent="0">
                        <a:buNone/>
                      </a:pPr>
                      <a:r>
                        <a:rPr lang="en-US" sz="1100" b="1" dirty="0">
                          <a:solidFill>
                            <a:srgbClr val="5B6472"/>
                          </a:solidFill>
                        </a:rPr>
                        <a:t>State</a:t>
                      </a:r>
                      <a:endParaRPr lang="en-US" sz="1100" dirty="0"/>
                    </a:p>
                  </a:txBody>
                  <a:tcPr marL="73152" marR="73152"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chemeClr val="tx1"/>
                          </a:solidFill>
                        </a:rPr>
                        <a:t>AirPods Pro 3</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chemeClr val="tx1"/>
                          </a:solidFill>
                        </a:rPr>
                        <a:t>37</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37</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37</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300" dirty="0">
                          <a:solidFill>
                            <a:schemeClr val="accent6"/>
                          </a:solidFill>
                        </a:rPr>
                        <a:t>sent to both</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300" dirty="0">
                          <a:solidFill>
                            <a:schemeClr val="tx1"/>
                          </a:solidFill>
                        </a:rPr>
                        <a:t>iPad A16</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chemeClr val="tx1"/>
                          </a:solidFill>
                        </a:rPr>
                        <a:t>14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14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14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300" dirty="0">
                          <a:solidFill>
                            <a:schemeClr val="accent6"/>
                          </a:solidFill>
                        </a:rPr>
                        <a:t>sent to both</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300" dirty="0">
                          <a:solidFill>
                            <a:schemeClr val="tx1"/>
                          </a:solidFill>
                        </a:rPr>
                        <a:t>iPhone 16 · 128GB</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chemeClr val="tx1"/>
                          </a:solidFill>
                        </a:rPr>
                        <a:t>24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24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24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300" dirty="0">
                          <a:solidFill>
                            <a:schemeClr val="accent6"/>
                          </a:solidFill>
                        </a:rPr>
                        <a:t>sent to both</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300" dirty="0">
                          <a:solidFill>
                            <a:schemeClr val="tx1"/>
                          </a:solidFill>
                        </a:rPr>
                        <a:t>iPhone 16 · 256GB</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chemeClr val="tx1"/>
                          </a:solidFill>
                        </a:rPr>
                        <a:t>9</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9</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9</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300" dirty="0">
                          <a:solidFill>
                            <a:schemeClr val="accent6"/>
                          </a:solidFill>
                        </a:rPr>
                        <a:t>sent to both</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300" dirty="0">
                          <a:solidFill>
                            <a:schemeClr val="tx1"/>
                          </a:solidFill>
                        </a:rPr>
                        <a:t>MacBook Air M4</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AF0"/>
                    </a:solidFill>
                  </a:tcPr>
                </a:tc>
                <a:tc>
                  <a:txBody>
                    <a:bodyPr/>
                    <a:lstStyle/>
                    <a:p>
                      <a:pPr marL="0" indent="0" algn="r">
                        <a:buNone/>
                      </a:pPr>
                      <a:r>
                        <a:rPr lang="en-US" sz="1300" b="1" dirty="0">
                          <a:solidFill>
                            <a:schemeClr val="tx1"/>
                          </a:solidFill>
                        </a:rPr>
                        <a:t>20</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AF0"/>
                    </a:solidFill>
                  </a:tcPr>
                </a:tc>
                <a:tc>
                  <a:txBody>
                    <a:bodyPr/>
                    <a:lstStyle/>
                    <a:p>
                      <a:pPr marL="0" indent="0" algn="r">
                        <a:buNone/>
                      </a:pPr>
                      <a:r>
                        <a:rPr lang="en-US" sz="1300" dirty="0">
                          <a:solidFill>
                            <a:schemeClr val="tx1"/>
                          </a:solidFill>
                        </a:rPr>
                        <a:t>20</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AF0"/>
                    </a:solidFill>
                  </a:tcPr>
                </a:tc>
                <a:tc>
                  <a:txBody>
                    <a:bodyPr/>
                    <a:lstStyle/>
                    <a:p>
                      <a:pPr marL="0" indent="0" algn="r">
                        <a:buNone/>
                      </a:pPr>
                      <a:r>
                        <a:rPr lang="en-US" sz="1300" b="1" dirty="0">
                          <a:solidFill>
                            <a:srgbClr val="8A5300"/>
                          </a:solidFill>
                        </a:rPr>
                        <a:t>20</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AF0"/>
                    </a:solidFill>
                  </a:tcPr>
                </a:tc>
                <a:tc>
                  <a:txBody>
                    <a:bodyPr/>
                    <a:lstStyle/>
                    <a:p>
                      <a:pPr marL="0" indent="0">
                        <a:buNone/>
                      </a:pPr>
                      <a:r>
                        <a:rPr lang="en-US" sz="1300" dirty="0">
                          <a:solidFill>
                            <a:srgbClr val="8A5300"/>
                          </a:solidFill>
                        </a:rPr>
                        <a:t>eMAG refused</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FFFAF0"/>
                    </a:solidFill>
                  </a:tcPr>
                </a:tc>
                <a:extLst>
                  <a:ext uri="{0D108BD9-81ED-4DB2-BD59-A6C34878D82A}">
                    <a16:rowId xmlns:a16="http://schemas.microsoft.com/office/drawing/2014/main" val="10005"/>
                  </a:ext>
                </a:extLst>
              </a:tr>
              <a:tr h="329184">
                <a:tc>
                  <a:txBody>
                    <a:bodyPr/>
                    <a:lstStyle/>
                    <a:p>
                      <a:pPr marL="0" indent="0">
                        <a:buNone/>
                      </a:pPr>
                      <a:r>
                        <a:rPr lang="en-US" sz="1300" dirty="0">
                          <a:solidFill>
                            <a:schemeClr val="tx1"/>
                          </a:solidFill>
                        </a:rPr>
                        <a:t>Apple Watch S10</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chemeClr val="tx1"/>
                          </a:solidFill>
                        </a:rPr>
                        <a:t>7</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7</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dirty="0">
                          <a:solidFill>
                            <a:schemeClr val="tx1"/>
                          </a:solidFill>
                        </a:rPr>
                        <a:t>7</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300" dirty="0">
                          <a:solidFill>
                            <a:schemeClr val="accent6"/>
                          </a:solidFill>
                        </a:rPr>
                        <a:t>sent to both</a:t>
                      </a:r>
                      <a:endParaRPr lang="en-US" sz="1300" dirty="0"/>
                    </a:p>
                  </a:txBody>
                  <a:tcPr marL="73152" marR="73152"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8" name="Text 15"/>
          <p:cNvSpPr txBox="1"/>
          <p:nvPr/>
        </p:nvSpPr>
        <p:spPr>
          <a:xfrm>
            <a:off x="5989320" y="3858768"/>
            <a:ext cx="5650992" cy="365760"/>
          </a:xfrm>
          <a:prstGeom prst="rect">
            <a:avLst/>
          </a:prstGeom>
          <a:noFill/>
          <a:ln/>
        </p:spPr>
        <p:txBody>
          <a:bodyPr wrap="square" lIns="0" tIns="0" rIns="0" bIns="0" rtlCol="0" anchor="t"/>
          <a:lstStyle/>
          <a:p>
            <a:pPr marL="0" indent="0">
              <a:buNone/>
            </a:pPr>
            <a:r>
              <a:rPr lang="en-US" sz="1100" dirty="0">
                <a:solidFill>
                  <a:schemeClr val="tx2"/>
                </a:solidFill>
              </a:rPr>
              <a:t>Free to sell against the last figure Glue sent each channel, from the Stock page in a dry run with eMAG refusing MacBook Air M4.</a:t>
            </a:r>
            <a:endParaRPr lang="en-US" sz="1100" dirty="0"/>
          </a:p>
        </p:txBody>
      </p:sp>
      <p:sp>
        <p:nvSpPr>
          <p:cNvPr id="19" name="Batch of 6"/>
          <p:cNvSpPr/>
          <p:nvPr/>
        </p:nvSpPr>
        <p:spPr>
          <a:xfrm>
            <a:off x="5989320" y="4471416"/>
            <a:ext cx="1298448" cy="896112"/>
          </a:xfrm>
          <a:prstGeom prst="roundRect">
            <a:avLst>
              <a:gd name="adj" fmla="val 8163"/>
            </a:avLst>
          </a:prstGeom>
          <a:solidFill>
            <a:schemeClr val="bg1"/>
          </a:solidFill>
          <a:ln w="9525">
            <a:solidFill>
              <a:srgbClr val="E3E6EB"/>
            </a:solidFill>
            <a:prstDash val="solid"/>
          </a:ln>
        </p:spPr>
        <p:txBody>
          <a:bodyPr/>
          <a:lstStyle/>
          <a:p>
            <a:endParaRPr lang="en-US"/>
          </a:p>
        </p:txBody>
      </p:sp>
      <p:sp>
        <p:nvSpPr>
          <p:cNvPr id="20" name="Text 17"/>
          <p:cNvSpPr txBox="1"/>
          <p:nvPr/>
        </p:nvSpPr>
        <p:spPr>
          <a:xfrm>
            <a:off x="6080760" y="4581144"/>
            <a:ext cx="1143000" cy="274320"/>
          </a:xfrm>
          <a:prstGeom prst="rect">
            <a:avLst/>
          </a:prstGeom>
          <a:noFill/>
          <a:ln/>
        </p:spPr>
        <p:txBody>
          <a:bodyPr wrap="square" lIns="0" tIns="0" rIns="0" bIns="0" rtlCol="0" anchor="t"/>
          <a:lstStyle/>
          <a:p>
            <a:pPr marL="0" indent="0">
              <a:buNone/>
            </a:pPr>
            <a:r>
              <a:rPr lang="en-US" sz="1300" b="1" dirty="0">
                <a:solidFill>
                  <a:schemeClr val="tx1"/>
                </a:solidFill>
              </a:rPr>
              <a:t>Batch of 6</a:t>
            </a:r>
            <a:endParaRPr lang="en-US" sz="1300" dirty="0"/>
          </a:p>
        </p:txBody>
      </p:sp>
      <p:sp>
        <p:nvSpPr>
          <p:cNvPr id="21" name="Text 18"/>
          <p:cNvSpPr txBox="1"/>
          <p:nvPr/>
        </p:nvSpPr>
        <p:spPr>
          <a:xfrm>
            <a:off x="6080760" y="4882896"/>
            <a:ext cx="1143000" cy="438912"/>
          </a:xfrm>
          <a:prstGeom prst="rect">
            <a:avLst/>
          </a:prstGeom>
          <a:noFill/>
          <a:ln/>
        </p:spPr>
        <p:txBody>
          <a:bodyPr wrap="square" lIns="0" tIns="0" rIns="0" bIns="0" rtlCol="0" anchor="t"/>
          <a:lstStyle/>
          <a:p>
            <a:pPr marL="0" indent="0">
              <a:buNone/>
            </a:pPr>
            <a:r>
              <a:rPr lang="en-US" sz="1100" dirty="0">
                <a:solidFill>
                  <a:schemeClr val="tx2"/>
                </a:solidFill>
              </a:rPr>
              <a:t>product_offer/save</a:t>
            </a:r>
            <a:endParaRPr lang="en-US" sz="1100" dirty="0"/>
          </a:p>
        </p:txBody>
      </p:sp>
      <p:sp>
        <p:nvSpPr>
          <p:cNvPr id="22" name="Shape 19"/>
          <p:cNvSpPr/>
          <p:nvPr/>
        </p:nvSpPr>
        <p:spPr>
          <a:xfrm>
            <a:off x="7296912" y="4919472"/>
            <a:ext cx="137160" cy="0"/>
          </a:xfrm>
          <a:prstGeom prst="line">
            <a:avLst/>
          </a:prstGeom>
          <a:noFill/>
          <a:ln w="12700">
            <a:solidFill>
              <a:schemeClr val="tx1"/>
            </a:solidFill>
            <a:prstDash val="solid"/>
            <a:tailEnd type="triangle"/>
          </a:ln>
        </p:spPr>
        <p:txBody>
          <a:bodyPr/>
          <a:lstStyle/>
          <a:p>
            <a:endParaRPr lang="en-US"/>
          </a:p>
        </p:txBody>
      </p:sp>
      <p:sp>
        <p:nvSpPr>
          <p:cNvPr id="23" name="5 applied"/>
          <p:cNvSpPr/>
          <p:nvPr/>
        </p:nvSpPr>
        <p:spPr>
          <a:xfrm>
            <a:off x="7443216" y="4471416"/>
            <a:ext cx="1298448" cy="896112"/>
          </a:xfrm>
          <a:prstGeom prst="roundRect">
            <a:avLst>
              <a:gd name="adj" fmla="val 8163"/>
            </a:avLst>
          </a:prstGeom>
          <a:solidFill>
            <a:schemeClr val="bg1"/>
          </a:solidFill>
          <a:ln w="9525">
            <a:solidFill>
              <a:srgbClr val="E3E6EB"/>
            </a:solidFill>
            <a:prstDash val="solid"/>
          </a:ln>
        </p:spPr>
        <p:txBody>
          <a:bodyPr/>
          <a:lstStyle/>
          <a:p>
            <a:endParaRPr lang="en-US"/>
          </a:p>
        </p:txBody>
      </p:sp>
      <p:sp>
        <p:nvSpPr>
          <p:cNvPr id="24" name="Text 21"/>
          <p:cNvSpPr txBox="1"/>
          <p:nvPr/>
        </p:nvSpPr>
        <p:spPr>
          <a:xfrm>
            <a:off x="7534656" y="4581144"/>
            <a:ext cx="1143000" cy="274320"/>
          </a:xfrm>
          <a:prstGeom prst="rect">
            <a:avLst/>
          </a:prstGeom>
          <a:noFill/>
          <a:ln/>
        </p:spPr>
        <p:txBody>
          <a:bodyPr wrap="square" lIns="0" tIns="0" rIns="0" bIns="0" rtlCol="0" anchor="t"/>
          <a:lstStyle/>
          <a:p>
            <a:pPr marL="0" indent="0">
              <a:buNone/>
            </a:pPr>
            <a:r>
              <a:rPr lang="en-US" sz="1300" b="1" dirty="0">
                <a:solidFill>
                  <a:schemeClr val="tx1"/>
                </a:solidFill>
              </a:rPr>
              <a:t>5 applied</a:t>
            </a:r>
            <a:endParaRPr lang="en-US" sz="1300" dirty="0"/>
          </a:p>
        </p:txBody>
      </p:sp>
      <p:sp>
        <p:nvSpPr>
          <p:cNvPr id="25" name="Text 22"/>
          <p:cNvSpPr txBox="1"/>
          <p:nvPr/>
        </p:nvSpPr>
        <p:spPr>
          <a:xfrm>
            <a:off x="7534656" y="4882896"/>
            <a:ext cx="1143000" cy="438912"/>
          </a:xfrm>
          <a:prstGeom prst="rect">
            <a:avLst/>
          </a:prstGeom>
          <a:noFill/>
          <a:ln/>
        </p:spPr>
        <p:txBody>
          <a:bodyPr wrap="square" lIns="0" tIns="0" rIns="0" bIns="0" rtlCol="0" anchor="t"/>
          <a:lstStyle/>
          <a:p>
            <a:pPr marL="0" indent="0">
              <a:buNone/>
            </a:pPr>
            <a:r>
              <a:rPr lang="en-US" sz="1100" dirty="0">
                <a:solidFill>
                  <a:schemeClr val="tx2"/>
                </a:solidFill>
              </a:rPr>
              <a:t>MacBook refused</a:t>
            </a:r>
            <a:endParaRPr lang="en-US" sz="1100" dirty="0"/>
          </a:p>
        </p:txBody>
      </p:sp>
      <p:sp>
        <p:nvSpPr>
          <p:cNvPr id="26" name="Shape 23"/>
          <p:cNvSpPr/>
          <p:nvPr/>
        </p:nvSpPr>
        <p:spPr>
          <a:xfrm>
            <a:off x="8750808" y="4919472"/>
            <a:ext cx="137160" cy="0"/>
          </a:xfrm>
          <a:prstGeom prst="line">
            <a:avLst/>
          </a:prstGeom>
          <a:noFill/>
          <a:ln w="12700">
            <a:solidFill>
              <a:schemeClr val="tx1"/>
            </a:solidFill>
            <a:prstDash val="solid"/>
            <a:tailEnd type="triangle"/>
          </a:ln>
        </p:spPr>
        <p:txBody>
          <a:bodyPr/>
          <a:lstStyle/>
          <a:p>
            <a:endParaRPr lang="en-US"/>
          </a:p>
        </p:txBody>
      </p:sp>
      <p:sp>
        <p:nvSpPr>
          <p:cNvPr id="27" name="MacBook dirty"/>
          <p:cNvSpPr/>
          <p:nvPr/>
        </p:nvSpPr>
        <p:spPr>
          <a:xfrm>
            <a:off x="8897112" y="4471416"/>
            <a:ext cx="1298448" cy="896112"/>
          </a:xfrm>
          <a:prstGeom prst="roundRect">
            <a:avLst>
              <a:gd name="adj" fmla="val 8163"/>
            </a:avLst>
          </a:prstGeom>
          <a:solidFill>
            <a:srgbClr val="FFF3D6"/>
          </a:solidFill>
          <a:ln w="9525">
            <a:solidFill>
              <a:srgbClr val="F2D9A4"/>
            </a:solidFill>
            <a:prstDash val="solid"/>
          </a:ln>
        </p:spPr>
        <p:txBody>
          <a:bodyPr/>
          <a:lstStyle/>
          <a:p>
            <a:endParaRPr lang="en-US"/>
          </a:p>
        </p:txBody>
      </p:sp>
      <p:sp>
        <p:nvSpPr>
          <p:cNvPr id="28" name="Text 25"/>
          <p:cNvSpPr txBox="1"/>
          <p:nvPr/>
        </p:nvSpPr>
        <p:spPr>
          <a:xfrm>
            <a:off x="8988552" y="4581144"/>
            <a:ext cx="1143000" cy="274320"/>
          </a:xfrm>
          <a:prstGeom prst="rect">
            <a:avLst/>
          </a:prstGeom>
          <a:noFill/>
          <a:ln/>
        </p:spPr>
        <p:txBody>
          <a:bodyPr wrap="square" lIns="0" tIns="0" rIns="0" bIns="0" rtlCol="0" anchor="t"/>
          <a:lstStyle/>
          <a:p>
            <a:pPr marL="0" indent="0">
              <a:buNone/>
            </a:pPr>
            <a:r>
              <a:rPr lang="en-US" sz="1300" b="1" dirty="0">
                <a:solidFill>
                  <a:schemeClr val="tx1"/>
                </a:solidFill>
              </a:rPr>
              <a:t>MacBook dirty</a:t>
            </a:r>
            <a:endParaRPr lang="en-US" sz="1300" dirty="0"/>
          </a:p>
        </p:txBody>
      </p:sp>
      <p:sp>
        <p:nvSpPr>
          <p:cNvPr id="29" name="Text 26"/>
          <p:cNvSpPr txBox="1"/>
          <p:nvPr/>
        </p:nvSpPr>
        <p:spPr>
          <a:xfrm>
            <a:off x="8988552" y="4882896"/>
            <a:ext cx="1143000" cy="438912"/>
          </a:xfrm>
          <a:prstGeom prst="rect">
            <a:avLst/>
          </a:prstGeom>
          <a:noFill/>
          <a:ln/>
        </p:spPr>
        <p:txBody>
          <a:bodyPr wrap="square" lIns="0" tIns="0" rIns="0" bIns="0" rtlCol="0" anchor="t"/>
          <a:lstStyle/>
          <a:p>
            <a:pPr marL="0" indent="0">
              <a:buNone/>
            </a:pPr>
            <a:r>
              <a:rPr lang="en-US" sz="1100" dirty="0">
                <a:solidFill>
                  <a:schemeClr val="tx2"/>
                </a:solidFill>
              </a:rPr>
              <a:t>stock_push_failed</a:t>
            </a:r>
            <a:endParaRPr lang="en-US" sz="1100" dirty="0"/>
          </a:p>
        </p:txBody>
      </p:sp>
      <p:sp>
        <p:nvSpPr>
          <p:cNvPr id="30" name="Shape 27"/>
          <p:cNvSpPr/>
          <p:nvPr/>
        </p:nvSpPr>
        <p:spPr>
          <a:xfrm>
            <a:off x="10204704" y="4919472"/>
            <a:ext cx="137160" cy="0"/>
          </a:xfrm>
          <a:prstGeom prst="line">
            <a:avLst/>
          </a:prstGeom>
          <a:noFill/>
          <a:ln w="12700">
            <a:solidFill>
              <a:schemeClr val="tx1"/>
            </a:solidFill>
            <a:prstDash val="solid"/>
            <a:tailEnd type="triangle"/>
          </a:ln>
        </p:spPr>
        <p:txBody>
          <a:bodyPr/>
          <a:lstStyle/>
          <a:p>
            <a:endParaRPr lang="en-US"/>
          </a:p>
        </p:txBody>
      </p:sp>
      <p:sp>
        <p:nvSpPr>
          <p:cNvPr id="31" name="Next run"/>
          <p:cNvSpPr/>
          <p:nvPr/>
        </p:nvSpPr>
        <p:spPr>
          <a:xfrm>
            <a:off x="10351008" y="4471416"/>
            <a:ext cx="1298448" cy="896112"/>
          </a:xfrm>
          <a:prstGeom prst="roundRect">
            <a:avLst>
              <a:gd name="adj" fmla="val 8163"/>
            </a:avLst>
          </a:prstGeom>
          <a:solidFill>
            <a:schemeClr val="bg1"/>
          </a:solidFill>
          <a:ln w="9525">
            <a:solidFill>
              <a:srgbClr val="E3E6EB"/>
            </a:solidFill>
            <a:prstDash val="solid"/>
          </a:ln>
        </p:spPr>
        <p:txBody>
          <a:bodyPr/>
          <a:lstStyle/>
          <a:p>
            <a:endParaRPr lang="en-US"/>
          </a:p>
        </p:txBody>
      </p:sp>
      <p:sp>
        <p:nvSpPr>
          <p:cNvPr id="32" name="Text 29"/>
          <p:cNvSpPr txBox="1"/>
          <p:nvPr/>
        </p:nvSpPr>
        <p:spPr>
          <a:xfrm>
            <a:off x="10442448" y="4581144"/>
            <a:ext cx="1143000" cy="274320"/>
          </a:xfrm>
          <a:prstGeom prst="rect">
            <a:avLst/>
          </a:prstGeom>
          <a:noFill/>
          <a:ln/>
        </p:spPr>
        <p:txBody>
          <a:bodyPr wrap="square" lIns="0" tIns="0" rIns="0" bIns="0" rtlCol="0" anchor="t"/>
          <a:lstStyle/>
          <a:p>
            <a:pPr marL="0" indent="0">
              <a:buNone/>
            </a:pPr>
            <a:r>
              <a:rPr lang="en-US" sz="1300" b="1" dirty="0">
                <a:solidFill>
                  <a:schemeClr val="tx1"/>
                </a:solidFill>
              </a:rPr>
              <a:t>Next run</a:t>
            </a:r>
            <a:endParaRPr lang="en-US" sz="1300" dirty="0"/>
          </a:p>
        </p:txBody>
      </p:sp>
      <p:sp>
        <p:nvSpPr>
          <p:cNvPr id="33" name="Text 30"/>
          <p:cNvSpPr txBox="1"/>
          <p:nvPr/>
        </p:nvSpPr>
        <p:spPr>
          <a:xfrm>
            <a:off x="10442448" y="4882896"/>
            <a:ext cx="1143000" cy="438912"/>
          </a:xfrm>
          <a:prstGeom prst="rect">
            <a:avLst/>
          </a:prstGeom>
          <a:noFill/>
          <a:ln/>
        </p:spPr>
        <p:txBody>
          <a:bodyPr wrap="square" lIns="0" tIns="0" rIns="0" bIns="0" rtlCol="0" anchor="t"/>
          <a:lstStyle/>
          <a:p>
            <a:pPr marL="0" indent="0">
              <a:buNone/>
            </a:pPr>
            <a:r>
              <a:rPr lang="en-US" sz="1100" dirty="0">
                <a:solidFill>
                  <a:schemeClr val="tx2"/>
                </a:solidFill>
              </a:rPr>
              <a:t>all 6 again, flag cleared</a:t>
            </a:r>
            <a:endParaRPr lang="en-US" sz="1100" dirty="0"/>
          </a:p>
        </p:txBody>
      </p:sp>
      <p:sp>
        <p:nvSpPr>
          <p:cNvPr id="34" name="Text 31"/>
          <p:cNvSpPr txBox="1"/>
          <p:nvPr/>
        </p:nvSpPr>
        <p:spPr>
          <a:xfrm>
            <a:off x="5989320" y="5477256"/>
            <a:ext cx="5650992" cy="274320"/>
          </a:xfrm>
          <a:prstGeom prst="rect">
            <a:avLst/>
          </a:prstGeom>
          <a:noFill/>
          <a:ln/>
        </p:spPr>
        <p:txBody>
          <a:bodyPr wrap="square" lIns="0" tIns="0" rIns="0" bIns="0" rtlCol="0" anchor="t"/>
          <a:lstStyle/>
          <a:p>
            <a:pPr marL="0" indent="0">
              <a:buNone/>
            </a:pPr>
            <a:r>
              <a:rPr lang="en-US" sz="1100" dirty="0">
                <a:solidFill>
                  <a:schemeClr val="tx2"/>
                </a:solidFill>
              </a:rPr>
              <a:t>A partial batch failure on eMAG, healed without anyone touching it.</a:t>
            </a:r>
            <a:endParaRPr lang="en-US" sz="1100" dirty="0"/>
          </a:p>
        </p:txBody>
      </p:sp>
      <p:sp>
        <p:nvSpPr>
          <p:cNvPr id="35"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8</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CONFLICTS</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The oversell, decided by a person</a:t>
            </a:r>
            <a:endParaRPr lang="en-US" sz="3200" dirty="0"/>
          </a:p>
        </p:txBody>
      </p:sp>
      <p:pic>
        <p:nvPicPr>
          <p:cNvPr id="4" name="Image 0" descr="Review queue card: an eMAG customer ordered a MacBook Air M4 but the last unit went to a shop order first, named under Got the unit; buttons Retry, Cancel on eMAG, Close without changes, and Suggest an action"/>
          <p:cNvPicPr>
            <a:picLocks noChangeAspect="1"/>
          </p:cNvPicPr>
          <p:nvPr/>
        </p:nvPicPr>
        <p:blipFill>
          <a:blip r:embed="rId3"/>
          <a:stretch>
            <a:fillRect/>
          </a:stretch>
        </p:blipFill>
        <p:spPr>
          <a:xfrm>
            <a:off x="548640" y="1463040"/>
            <a:ext cx="7863840" cy="1776594"/>
          </a:xfrm>
          <a:prstGeom prst="rect">
            <a:avLst/>
          </a:prstGeom>
        </p:spPr>
      </p:pic>
      <p:sp>
        <p:nvSpPr>
          <p:cNvPr id="5" name="frame"/>
          <p:cNvSpPr/>
          <p:nvPr/>
        </p:nvSpPr>
        <p:spPr>
          <a:xfrm>
            <a:off x="548640" y="1463040"/>
            <a:ext cx="7863840" cy="1776594"/>
          </a:xfrm>
          <a:prstGeom prst="rect">
            <a:avLst/>
          </a:prstGeom>
          <a:noFill/>
          <a:ln w="9525">
            <a:solidFill>
              <a:srgbClr val="E3E6EB"/>
            </a:solidFill>
            <a:prstDash val="solid"/>
          </a:ln>
        </p:spPr>
        <p:txBody>
          <a:bodyPr/>
          <a:lstStyle/>
          <a:p>
            <a:endParaRPr lang="en-US"/>
          </a:p>
        </p:txBody>
      </p:sp>
      <p:sp>
        <p:nvSpPr>
          <p:cNvPr id="6" name="why a person"/>
          <p:cNvSpPr/>
          <p:nvPr/>
        </p:nvSpPr>
        <p:spPr>
          <a:xfrm>
            <a:off x="8686800" y="1463040"/>
            <a:ext cx="2953512" cy="1776594"/>
          </a:xfrm>
          <a:prstGeom prst="roundRect">
            <a:avLst>
              <a:gd name="adj" fmla="val 4118"/>
            </a:avLst>
          </a:prstGeom>
          <a:solidFill>
            <a:schemeClr val="bg2"/>
          </a:solidFill>
          <a:ln/>
        </p:spPr>
        <p:txBody>
          <a:bodyPr/>
          <a:lstStyle/>
          <a:p>
            <a:endParaRPr lang="en-US"/>
          </a:p>
        </p:txBody>
      </p:sp>
      <p:sp>
        <p:nvSpPr>
          <p:cNvPr id="7" name="Text 4"/>
          <p:cNvSpPr txBox="1"/>
          <p:nvPr/>
        </p:nvSpPr>
        <p:spPr>
          <a:xfrm>
            <a:off x="8869680" y="1600200"/>
            <a:ext cx="2651760" cy="274320"/>
          </a:xfrm>
          <a:prstGeom prst="rect">
            <a:avLst/>
          </a:prstGeom>
          <a:noFill/>
          <a:ln/>
        </p:spPr>
        <p:txBody>
          <a:bodyPr wrap="square" lIns="0" tIns="0" rIns="0" bIns="0" rtlCol="0" anchor="t"/>
          <a:lstStyle/>
          <a:p>
            <a:pPr marL="0" indent="0">
              <a:buNone/>
            </a:pPr>
            <a:r>
              <a:rPr lang="en-US" sz="1500" b="1" dirty="0">
                <a:solidFill>
                  <a:schemeClr val="tx1"/>
                </a:solidFill>
              </a:rPr>
              <a:t>Why a person decides</a:t>
            </a:r>
            <a:endParaRPr lang="en-US" sz="1500" dirty="0"/>
          </a:p>
        </p:txBody>
      </p:sp>
      <p:sp>
        <p:nvSpPr>
          <p:cNvPr id="8" name="Text 5"/>
          <p:cNvSpPr txBox="1"/>
          <p:nvPr/>
        </p:nvSpPr>
        <p:spPr>
          <a:xfrm>
            <a:off x="8869680" y="1920240"/>
            <a:ext cx="2633472" cy="1227954"/>
          </a:xfrm>
          <a:prstGeom prst="rect">
            <a:avLst/>
          </a:prstGeom>
          <a:noFill/>
          <a:ln/>
        </p:spPr>
        <p:txBody>
          <a:bodyPr wrap="square" lIns="0" tIns="0" rIns="0" bIns="0" rtlCol="0" anchor="t"/>
          <a:lstStyle/>
          <a:p>
            <a:pPr marL="0" indent="0">
              <a:buNone/>
            </a:pPr>
            <a:r>
              <a:rPr lang="en-US" sz="1300" dirty="0">
                <a:solidFill>
                  <a:srgbClr val="3D4552"/>
                </a:solidFill>
              </a:rPr>
              <a:t>The customer has paid. Stock may arrive tomorrow. On eMAG a seller cancellation costs rating. That is a business call.</a:t>
            </a:r>
            <a:endParaRPr lang="en-US" sz="1300" dirty="0"/>
          </a:p>
        </p:txBody>
      </p:sp>
      <p:sp>
        <p:nvSpPr>
          <p:cNvPr id="9" name="Text 6"/>
          <p:cNvSpPr txBox="1"/>
          <p:nvPr/>
        </p:nvSpPr>
        <p:spPr>
          <a:xfrm>
            <a:off x="548640" y="3559674"/>
            <a:ext cx="3566160" cy="274320"/>
          </a:xfrm>
          <a:prstGeom prst="rect">
            <a:avLst/>
          </a:prstGeom>
          <a:noFill/>
          <a:ln/>
        </p:spPr>
        <p:txBody>
          <a:bodyPr wrap="square" lIns="0" tIns="0" rIns="0" bIns="0" rtlCol="0" anchor="t"/>
          <a:lstStyle/>
          <a:p>
            <a:pPr marL="0" indent="0">
              <a:buNone/>
            </a:pPr>
            <a:r>
              <a:rPr lang="en-US" sz="1500" b="1" dirty="0">
                <a:solidFill>
                  <a:schemeClr val="tx1"/>
                </a:solidFill>
              </a:rPr>
              <a:t>How it happens</a:t>
            </a:r>
            <a:endParaRPr lang="en-US" sz="1500" dirty="0"/>
          </a:p>
        </p:txBody>
      </p:sp>
      <p:sp>
        <p:nvSpPr>
          <p:cNvPr id="10" name="Text 7"/>
          <p:cNvSpPr txBox="1"/>
          <p:nvPr/>
        </p:nvSpPr>
        <p:spPr>
          <a:xfrm>
            <a:off x="548640" y="3907146"/>
            <a:ext cx="3566160" cy="2127894"/>
          </a:xfrm>
          <a:prstGeom prst="rect">
            <a:avLst/>
          </a:prstGeom>
          <a:noFill/>
          <a:ln/>
        </p:spPr>
        <p:txBody>
          <a:bodyPr wrap="square" lIns="0" tIns="0" rIns="0" bIns="0" rtlCol="0" anchor="t"/>
          <a:lstStyle/>
          <a:p>
            <a:pPr marL="228600" indent="-228600">
              <a:spcAft>
                <a:spcPts val="400"/>
              </a:spcAft>
              <a:buSzPct val="100000"/>
              <a:buFont typeface="+mj-lt"/>
              <a:buAutoNum type="arabicPeriod"/>
            </a:pPr>
            <a:r>
              <a:rPr lang="en-US" sz="1300" dirty="0">
                <a:solidFill>
                  <a:srgbClr val="3D4552"/>
                </a:solidFill>
              </a:rPr>
              <a:t>The last MacBook Air sells on the shop; the warehouse reserves it.</a:t>
            </a:r>
            <a:endParaRPr lang="en-US" sz="1300" dirty="0"/>
          </a:p>
          <a:p>
            <a:pPr marL="228600" indent="-228600">
              <a:spcAft>
                <a:spcPts val="400"/>
              </a:spcAft>
              <a:buSzPct val="100000"/>
              <a:buFont typeface="+mj-lt"/>
              <a:buAutoNum type="arabicPeriod"/>
            </a:pPr>
            <a:r>
              <a:rPr lang="en-US" sz="1300" dirty="0">
                <a:solidFill>
                  <a:srgbClr val="3D4552"/>
                </a:solidFill>
              </a:rPr>
              <a:t>eMAG has not applied the new figure yet and still shows 1.</a:t>
            </a:r>
            <a:endParaRPr lang="en-US" sz="1300" dirty="0"/>
          </a:p>
          <a:p>
            <a:pPr marL="228600" indent="-228600">
              <a:spcAft>
                <a:spcPts val="400"/>
              </a:spcAft>
              <a:buSzPct val="100000"/>
              <a:buFont typeface="+mj-lt"/>
              <a:buAutoNum type="arabicPeriod"/>
            </a:pPr>
            <a:r>
              <a:rPr lang="en-US" sz="1300" dirty="0">
                <a:solidFill>
                  <a:srgbClr val="3D4552"/>
                </a:solidFill>
              </a:rPr>
              <a:t>An eMAG customer buys it; the warehouse answers 409.</a:t>
            </a:r>
            <a:endParaRPr lang="en-US" sz="1300" dirty="0"/>
          </a:p>
          <a:p>
            <a:pPr marL="228600" indent="-228600">
              <a:spcAft>
                <a:spcPts val="400"/>
              </a:spcAft>
              <a:buSzPct val="100000"/>
              <a:buFont typeface="+mj-lt"/>
              <a:buAutoNum type="arabicPeriod"/>
            </a:pPr>
            <a:r>
              <a:rPr lang="en-US" sz="1300" dirty="0">
                <a:solidFill>
                  <a:srgbClr val="3D4552"/>
                </a:solidFill>
              </a:rPr>
              <a:t>Glue acknowledges it on eMAG and queues it as sold out, naming the order that got the unit.</a:t>
            </a:r>
            <a:endParaRPr lang="en-US" sz="1300" dirty="0"/>
          </a:p>
        </p:txBody>
      </p:sp>
      <p:sp>
        <p:nvSpPr>
          <p:cNvPr id="11" name="Text 8"/>
          <p:cNvSpPr txBox="1"/>
          <p:nvPr/>
        </p:nvSpPr>
        <p:spPr>
          <a:xfrm>
            <a:off x="4297680" y="3559674"/>
            <a:ext cx="3566160" cy="274320"/>
          </a:xfrm>
          <a:prstGeom prst="rect">
            <a:avLst/>
          </a:prstGeom>
          <a:noFill/>
          <a:ln/>
        </p:spPr>
        <p:txBody>
          <a:bodyPr wrap="square" lIns="0" tIns="0" rIns="0" bIns="0" rtlCol="0" anchor="t"/>
          <a:lstStyle/>
          <a:p>
            <a:pPr marL="0" indent="0">
              <a:buNone/>
            </a:pPr>
            <a:r>
              <a:rPr lang="en-US" sz="1500" b="1" dirty="0">
                <a:solidFill>
                  <a:schemeClr val="tx1"/>
                </a:solidFill>
              </a:rPr>
              <a:t>Causes in the queue</a:t>
            </a:r>
            <a:endParaRPr lang="en-US" sz="1500" dirty="0"/>
          </a:p>
        </p:txBody>
      </p:sp>
      <p:sp>
        <p:nvSpPr>
          <p:cNvPr id="12" name="Text 9"/>
          <p:cNvSpPr txBox="1"/>
          <p:nvPr/>
        </p:nvSpPr>
        <p:spPr>
          <a:xfrm>
            <a:off x="4297680" y="3907146"/>
            <a:ext cx="3566160" cy="212789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rgbClr val="3D4552"/>
                </a:solidFill>
              </a:rPr>
              <a:t>Warehouse outage: </a:t>
            </a:r>
            <a:r>
              <a:rPr lang="en-US" sz="1300" dirty="0">
                <a:solidFill>
                  <a:srgbClr val="3D4552"/>
                </a:solidFill>
              </a:rPr>
              <a:t>the warehouse did not answer</a:t>
            </a:r>
            <a:endParaRPr lang="en-US" sz="1300" dirty="0"/>
          </a:p>
          <a:p>
            <a:pPr marL="177800" indent="-177800">
              <a:spcAft>
                <a:spcPts val="400"/>
              </a:spcAft>
              <a:buSzPct val="100000"/>
              <a:buChar char="•"/>
            </a:pPr>
            <a:r>
              <a:rPr lang="en-US" sz="1300" b="1" dirty="0">
                <a:solidFill>
                  <a:srgbClr val="3D4552"/>
                </a:solidFill>
              </a:rPr>
              <a:t>Sold out: </a:t>
            </a:r>
            <a:r>
              <a:rPr lang="en-US" sz="1300" dirty="0">
                <a:solidFill>
                  <a:srgbClr val="3D4552"/>
                </a:solidFill>
              </a:rPr>
              <a:t>the other channel won</a:t>
            </a:r>
            <a:endParaRPr lang="en-US" sz="1300" dirty="0"/>
          </a:p>
          <a:p>
            <a:pPr marL="177800" indent="-177800">
              <a:spcAft>
                <a:spcPts val="400"/>
              </a:spcAft>
              <a:buSzPct val="100000"/>
              <a:buChar char="•"/>
            </a:pPr>
            <a:r>
              <a:rPr lang="en-US" sz="1300" b="1" dirty="0">
                <a:solidFill>
                  <a:srgbClr val="3D4552"/>
                </a:solidFill>
              </a:rPr>
              <a:t>Shelf count too low: </a:t>
            </a:r>
            <a:r>
              <a:rPr lang="en-US" sz="1300" dirty="0">
                <a:solidFill>
                  <a:srgbClr val="3D4552"/>
                </a:solidFill>
              </a:rPr>
              <a:t>the newest orders a short shelf cannot cover</a:t>
            </a:r>
            <a:endParaRPr lang="en-US" sz="1300" dirty="0"/>
          </a:p>
          <a:p>
            <a:pPr marL="177800" indent="-177800">
              <a:spcAft>
                <a:spcPts val="400"/>
              </a:spcAft>
              <a:buSzPct val="100000"/>
              <a:buChar char="•"/>
            </a:pPr>
            <a:r>
              <a:rPr lang="en-US" sz="1300" b="1" dirty="0">
                <a:solidFill>
                  <a:srgbClr val="3D4552"/>
                </a:solidFill>
              </a:rPr>
              <a:t>Other: </a:t>
            </a:r>
            <a:r>
              <a:rPr lang="en-US" sz="1300" dirty="0">
                <a:solidFill>
                  <a:srgbClr val="3D4552"/>
                </a:solidFill>
              </a:rPr>
              <a:t>shown with what Glue saw</a:t>
            </a:r>
            <a:endParaRPr lang="en-US" sz="1300" dirty="0"/>
          </a:p>
        </p:txBody>
      </p:sp>
      <p:sp>
        <p:nvSpPr>
          <p:cNvPr id="13" name="Text 10"/>
          <p:cNvSpPr txBox="1"/>
          <p:nvPr/>
        </p:nvSpPr>
        <p:spPr>
          <a:xfrm>
            <a:off x="8046720" y="3559674"/>
            <a:ext cx="3566160" cy="274320"/>
          </a:xfrm>
          <a:prstGeom prst="rect">
            <a:avLst/>
          </a:prstGeom>
          <a:noFill/>
          <a:ln/>
        </p:spPr>
        <p:txBody>
          <a:bodyPr wrap="square" lIns="0" tIns="0" rIns="0" bIns="0" rtlCol="0" anchor="t"/>
          <a:lstStyle/>
          <a:p>
            <a:pPr marL="0" indent="0">
              <a:buNone/>
            </a:pPr>
            <a:r>
              <a:rPr lang="en-US" sz="1500" b="1" dirty="0">
                <a:solidFill>
                  <a:schemeClr val="tx1"/>
                </a:solidFill>
              </a:rPr>
              <a:t>What each action does</a:t>
            </a:r>
            <a:endParaRPr lang="en-US" sz="1500" dirty="0"/>
          </a:p>
        </p:txBody>
      </p:sp>
      <p:sp>
        <p:nvSpPr>
          <p:cNvPr id="14" name="Text 11"/>
          <p:cNvSpPr txBox="1"/>
          <p:nvPr/>
        </p:nvSpPr>
        <p:spPr>
          <a:xfrm>
            <a:off x="8046720" y="3907146"/>
            <a:ext cx="3566160" cy="212789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rgbClr val="3D4552"/>
                </a:solidFill>
              </a:rPr>
              <a:t>Retry: </a:t>
            </a:r>
            <a:r>
              <a:rPr lang="en-US" sz="1300" dirty="0">
                <a:solidFill>
                  <a:srgbClr val="3D4552"/>
                </a:solidFill>
              </a:rPr>
              <a:t>sends it again, never reserves twice</a:t>
            </a:r>
            <a:endParaRPr lang="en-US" sz="1300" dirty="0"/>
          </a:p>
          <a:p>
            <a:pPr marL="177800" indent="-177800">
              <a:spcAft>
                <a:spcPts val="400"/>
              </a:spcAft>
              <a:buSzPct val="100000"/>
              <a:buChar char="•"/>
            </a:pPr>
            <a:r>
              <a:rPr lang="en-US" sz="1300" b="1" dirty="0">
                <a:solidFill>
                  <a:srgbClr val="3D4552"/>
                </a:solidFill>
              </a:rPr>
              <a:t>Cancel: </a:t>
            </a:r>
            <a:r>
              <a:rPr lang="en-US" sz="1300" dirty="0">
                <a:solidFill>
                  <a:srgbClr val="3D4552"/>
                </a:solidFill>
              </a:rPr>
              <a:t>after a confirm, on its channel; the customer is refunded</a:t>
            </a:r>
            <a:endParaRPr lang="en-US" sz="1300" dirty="0"/>
          </a:p>
          <a:p>
            <a:pPr marL="177800" indent="-177800">
              <a:spcAft>
                <a:spcPts val="400"/>
              </a:spcAft>
              <a:buSzPct val="100000"/>
              <a:buChar char="•"/>
            </a:pPr>
            <a:r>
              <a:rPr lang="en-US" sz="1300" b="1" dirty="0">
                <a:solidFill>
                  <a:srgbClr val="3D4552"/>
                </a:solidFill>
              </a:rPr>
              <a:t>Close without changes: </a:t>
            </a:r>
            <a:r>
              <a:rPr lang="en-US" sz="1300" dirty="0">
                <a:solidFill>
                  <a:srgbClr val="3D4552"/>
                </a:solidFill>
              </a:rPr>
              <a:t>handled elsewhere</a:t>
            </a:r>
            <a:endParaRPr lang="en-US" sz="1300" dirty="0"/>
          </a:p>
        </p:txBody>
      </p:sp>
      <p:sp>
        <p:nvSpPr>
          <p:cNvPr id="25"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9</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ROBUSTNESS</a:t>
            </a:r>
            <a:endParaRPr lang="en-US" sz="1100" dirty="0"/>
          </a:p>
        </p:txBody>
      </p:sp>
      <p:sp>
        <p:nvSpPr>
          <p:cNvPr id="4"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When things fail: retries, duplicates, crashes</a:t>
            </a:r>
            <a:endParaRPr lang="en-US" sz="3200" dirty="0"/>
          </a:p>
        </p:txBody>
      </p:sp>
      <p:sp>
        <p:nvSpPr>
          <p:cNvPr id="5" name="Oldest pending event"/>
          <p:cNvSpPr/>
          <p:nvPr/>
        </p:nvSpPr>
        <p:spPr>
          <a:xfrm>
            <a:off x="548640" y="1463040"/>
            <a:ext cx="3593592" cy="3337560"/>
          </a:xfrm>
          <a:prstGeom prst="roundRect">
            <a:avLst>
              <a:gd name="adj" fmla="val 2191"/>
            </a:avLst>
          </a:prstGeom>
          <a:solidFill>
            <a:schemeClr val="bg1"/>
          </a:solidFill>
          <a:ln w="9525">
            <a:solidFill>
              <a:srgbClr val="E3E6EB"/>
            </a:solidFill>
            <a:prstDash val="solid"/>
          </a:ln>
        </p:spPr>
        <p:txBody>
          <a:bodyPr/>
          <a:lstStyle/>
          <a:p>
            <a:endParaRPr lang="en-US"/>
          </a:p>
        </p:txBody>
      </p:sp>
      <p:sp>
        <p:nvSpPr>
          <p:cNvPr id="6" name="Text 4"/>
          <p:cNvSpPr txBox="1"/>
          <p:nvPr/>
        </p:nvSpPr>
        <p:spPr>
          <a:xfrm>
            <a:off x="749808" y="1627632"/>
            <a:ext cx="3191256" cy="365760"/>
          </a:xfrm>
          <a:prstGeom prst="rect">
            <a:avLst/>
          </a:prstGeom>
          <a:noFill/>
          <a:ln/>
        </p:spPr>
        <p:txBody>
          <a:bodyPr wrap="square" lIns="0" tIns="0" rIns="0" bIns="0" rtlCol="0" anchor="t"/>
          <a:lstStyle/>
          <a:p>
            <a:pPr marL="0" indent="0">
              <a:buNone/>
            </a:pPr>
            <a:r>
              <a:rPr lang="en-US" sz="1300" b="1" dirty="0">
                <a:solidFill>
                  <a:schemeClr val="tx1"/>
                </a:solidFill>
              </a:rPr>
              <a:t>Retries</a:t>
            </a:r>
            <a:endParaRPr lang="en-US" sz="1300" dirty="0"/>
          </a:p>
        </p:txBody>
      </p:sp>
      <p:sp>
        <p:nvSpPr>
          <p:cNvPr id="7" name="Text 19"/>
          <p:cNvSpPr txBox="1"/>
          <p:nvPr/>
        </p:nvSpPr>
        <p:spPr>
          <a:xfrm>
            <a:off x="749808" y="2029968"/>
            <a:ext cx="3191256" cy="2633472"/>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rgbClr val="3D4552"/>
                </a:solidFill>
              </a:rPr>
              <a:t>One policy for every call out: </a:t>
            </a:r>
            <a:r>
              <a:rPr lang="en-US" sz="1300" dirty="0">
                <a:solidFill>
                  <a:srgbClr val="3D4552"/>
                </a:solidFill>
              </a:rPr>
              <a:t>5 tries, 2 s timeout</a:t>
            </a:r>
            <a:endParaRPr lang="en-US" sz="1300" dirty="0"/>
          </a:p>
          <a:p>
            <a:pPr marL="177800" indent="-177800">
              <a:spcAft>
                <a:spcPts val="500"/>
              </a:spcAft>
              <a:buSzPct val="100000"/>
              <a:buChar char="•"/>
            </a:pPr>
            <a:r>
              <a:rPr lang="en-US" sz="1300" b="1" dirty="0">
                <a:solidFill>
                  <a:srgbClr val="3D4552"/>
                </a:solidFill>
              </a:rPr>
              <a:t>Backoff </a:t>
            </a:r>
            <a:r>
              <a:rPr lang="en-US" sz="1300" dirty="0">
                <a:solidFill>
                  <a:srgbClr val="3D4552"/>
                </a:solidFill>
              </a:rPr>
              <a:t>from 0.5 s with jitter; Retry-After honoured, capped at 30 s</a:t>
            </a:r>
            <a:endParaRPr lang="en-US" sz="1300" dirty="0"/>
          </a:p>
          <a:p>
            <a:pPr marL="177800" indent="-177800">
              <a:spcAft>
                <a:spcPts val="500"/>
              </a:spcAft>
              <a:buSzPct val="100000"/>
              <a:buChar char="•"/>
            </a:pPr>
            <a:r>
              <a:rPr lang="en-US" sz="1300" b="1" dirty="0">
                <a:solidFill>
                  <a:srgbClr val="3D4552"/>
                </a:solidFill>
              </a:rPr>
              <a:t>Out of tries: </a:t>
            </a:r>
            <a:r>
              <a:rPr lang="en-US" sz="1300" dirty="0">
                <a:solidFill>
                  <a:srgbClr val="3D4552"/>
                </a:solidFill>
              </a:rPr>
              <a:t>the order goes to the review queue; Retry all once the warehouse is back</a:t>
            </a:r>
            <a:endParaRPr lang="en-US" sz="1300" dirty="0"/>
          </a:p>
        </p:txBody>
      </p:sp>
      <p:sp>
        <p:nvSpPr>
          <p:cNvPr id="8" name="Oldest pending event"/>
          <p:cNvSpPr/>
          <p:nvPr/>
        </p:nvSpPr>
        <p:spPr>
          <a:xfrm>
            <a:off x="4297680" y="1463040"/>
            <a:ext cx="3593592" cy="3337560"/>
          </a:xfrm>
          <a:prstGeom prst="roundRect">
            <a:avLst>
              <a:gd name="adj" fmla="val 2191"/>
            </a:avLst>
          </a:prstGeom>
          <a:solidFill>
            <a:schemeClr val="bg1"/>
          </a:solidFill>
          <a:ln w="9525">
            <a:solidFill>
              <a:srgbClr val="E3E6EB"/>
            </a:solidFill>
            <a:prstDash val="solid"/>
          </a:ln>
        </p:spPr>
        <p:txBody>
          <a:bodyPr/>
          <a:lstStyle/>
          <a:p>
            <a:endParaRPr lang="en-US"/>
          </a:p>
        </p:txBody>
      </p:sp>
      <p:sp>
        <p:nvSpPr>
          <p:cNvPr id="9" name="Text 4"/>
          <p:cNvSpPr txBox="1"/>
          <p:nvPr/>
        </p:nvSpPr>
        <p:spPr>
          <a:xfrm>
            <a:off x="4498848" y="1627632"/>
            <a:ext cx="3191256" cy="365760"/>
          </a:xfrm>
          <a:prstGeom prst="rect">
            <a:avLst/>
          </a:prstGeom>
          <a:noFill/>
          <a:ln/>
        </p:spPr>
        <p:txBody>
          <a:bodyPr wrap="square" lIns="0" tIns="0" rIns="0" bIns="0" rtlCol="0" anchor="t"/>
          <a:lstStyle/>
          <a:p>
            <a:pPr marL="0" indent="0">
              <a:buNone/>
            </a:pPr>
            <a:r>
              <a:rPr lang="en-US" sz="1300" b="1" dirty="0">
                <a:solidFill>
                  <a:schemeClr val="tx1"/>
                </a:solidFill>
              </a:rPr>
              <a:t>Duplicates</a:t>
            </a:r>
            <a:endParaRPr lang="en-US" sz="1300" dirty="0"/>
          </a:p>
        </p:txBody>
      </p:sp>
      <p:sp>
        <p:nvSpPr>
          <p:cNvPr id="10" name="Text 19"/>
          <p:cNvSpPr txBox="1"/>
          <p:nvPr/>
        </p:nvSpPr>
        <p:spPr>
          <a:xfrm>
            <a:off x="4498848" y="2029968"/>
            <a:ext cx="3191256" cy="2633472"/>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rgbClr val="3D4552"/>
                </a:solidFill>
              </a:rPr>
              <a:t>Event id per source: </a:t>
            </a:r>
            <a:r>
              <a:rPr lang="en-US" sz="1300" dirty="0">
                <a:solidFill>
                  <a:srgbClr val="3D4552"/>
                </a:solidFill>
              </a:rPr>
              <a:t>a repeat is dropped at the inbox</a:t>
            </a:r>
            <a:endParaRPr lang="en-US" sz="1300" dirty="0"/>
          </a:p>
          <a:p>
            <a:pPr marL="177800" indent="-177800">
              <a:spcAft>
                <a:spcPts val="500"/>
              </a:spcAft>
              <a:buSzPct val="100000"/>
              <a:buChar char="•"/>
            </a:pPr>
            <a:r>
              <a:rPr lang="en-US" sz="1300" b="1" dirty="0">
                <a:solidFill>
                  <a:srgbClr val="3D4552"/>
                </a:solidFill>
              </a:rPr>
              <a:t>Channel order id: </a:t>
            </a:r>
            <a:r>
              <a:rPr lang="en-US" sz="1300" dirty="0">
                <a:solidFill>
                  <a:srgbClr val="3D4552"/>
                </a:solidFill>
              </a:rPr>
              <a:t>a redelivery under a new id is recognised</a:t>
            </a:r>
            <a:endParaRPr lang="en-US" sz="1300" dirty="0"/>
          </a:p>
          <a:p>
            <a:pPr marL="177800" indent="-177800">
              <a:spcAft>
                <a:spcPts val="500"/>
              </a:spcAft>
              <a:buSzPct val="100000"/>
              <a:buChar char="•"/>
            </a:pPr>
            <a:r>
              <a:rPr lang="en-US" sz="1300" b="1" dirty="0">
                <a:solidFill>
                  <a:srgbClr val="3D4552"/>
                </a:solidFill>
              </a:rPr>
              <a:t>Idempotency-Key: </a:t>
            </a:r>
            <a:r>
              <a:rPr lang="en-US" sz="1300" dirty="0">
                <a:solidFill>
                  <a:srgbClr val="3D4552"/>
                </a:solidFill>
              </a:rPr>
              <a:t>the warehouse replays its first answer</a:t>
            </a:r>
            <a:endParaRPr lang="en-US" sz="1300" dirty="0"/>
          </a:p>
          <a:p>
            <a:pPr marL="177800" indent="-177800">
              <a:spcAft>
                <a:spcPts val="500"/>
              </a:spcAft>
              <a:buSzPct val="100000"/>
              <a:buChar char="•"/>
            </a:pPr>
            <a:r>
              <a:rPr lang="en-US" sz="1300" b="1" dirty="0">
                <a:solidFill>
                  <a:srgbClr val="3D4552"/>
                </a:solidFill>
              </a:rPr>
              <a:t>Together: </a:t>
            </a:r>
            <a:r>
              <a:rPr lang="en-US" sz="1300" dirty="0">
                <a:solidFill>
                  <a:srgbClr val="3D4552"/>
                </a:solidFill>
              </a:rPr>
              <a:t>effectively once</a:t>
            </a:r>
            <a:endParaRPr lang="en-US" sz="1300" dirty="0"/>
          </a:p>
        </p:txBody>
      </p:sp>
      <p:sp>
        <p:nvSpPr>
          <p:cNvPr id="11" name="Oldest pending event"/>
          <p:cNvSpPr/>
          <p:nvPr/>
        </p:nvSpPr>
        <p:spPr>
          <a:xfrm>
            <a:off x="8046720" y="1463040"/>
            <a:ext cx="3593592" cy="3337560"/>
          </a:xfrm>
          <a:prstGeom prst="roundRect">
            <a:avLst>
              <a:gd name="adj" fmla="val 2191"/>
            </a:avLst>
          </a:prstGeom>
          <a:solidFill>
            <a:schemeClr val="bg1"/>
          </a:solidFill>
          <a:ln w="9525">
            <a:solidFill>
              <a:srgbClr val="E3E6EB"/>
            </a:solidFill>
            <a:prstDash val="solid"/>
          </a:ln>
        </p:spPr>
        <p:txBody>
          <a:bodyPr/>
          <a:lstStyle/>
          <a:p>
            <a:endParaRPr lang="en-US"/>
          </a:p>
        </p:txBody>
      </p:sp>
      <p:sp>
        <p:nvSpPr>
          <p:cNvPr id="12" name="Text 4"/>
          <p:cNvSpPr txBox="1"/>
          <p:nvPr/>
        </p:nvSpPr>
        <p:spPr>
          <a:xfrm>
            <a:off x="8247888" y="1627632"/>
            <a:ext cx="3191256" cy="365760"/>
          </a:xfrm>
          <a:prstGeom prst="rect">
            <a:avLst/>
          </a:prstGeom>
          <a:noFill/>
          <a:ln/>
        </p:spPr>
        <p:txBody>
          <a:bodyPr wrap="square" lIns="0" tIns="0" rIns="0" bIns="0" rtlCol="0" anchor="t"/>
          <a:lstStyle/>
          <a:p>
            <a:pPr marL="0" indent="0">
              <a:buNone/>
            </a:pPr>
            <a:r>
              <a:rPr lang="en-US" sz="1300" b="1" dirty="0">
                <a:solidFill>
                  <a:schemeClr val="tx1"/>
                </a:solidFill>
              </a:rPr>
              <a:t>Crashes</a:t>
            </a:r>
            <a:endParaRPr lang="en-US" sz="1300" dirty="0"/>
          </a:p>
        </p:txBody>
      </p:sp>
      <p:sp>
        <p:nvSpPr>
          <p:cNvPr id="13" name="Text 3"/>
          <p:cNvSpPr txBox="1"/>
          <p:nvPr/>
        </p:nvSpPr>
        <p:spPr>
          <a:xfrm>
            <a:off x="8247888" y="2029968"/>
            <a:ext cx="3191256" cy="685800"/>
          </a:xfrm>
          <a:prstGeom prst="rect">
            <a:avLst/>
          </a:prstGeom>
          <a:noFill/>
          <a:ln/>
        </p:spPr>
        <p:txBody>
          <a:bodyPr wrap="square" lIns="0" tIns="0" rIns="0" bIns="0" rtlCol="0" anchor="t"/>
          <a:lstStyle/>
          <a:p>
            <a:pPr marL="0" indent="0">
              <a:buNone/>
            </a:pPr>
            <a:r>
              <a:rPr lang="en-US" sz="3600" b="1" dirty="0">
                <a:solidFill>
                  <a:schemeClr val="accent1"/>
                </a:solidFill>
              </a:rPr>
              <a:t>41 → 0</a:t>
            </a:r>
            <a:endParaRPr lang="en-US" sz="3600" dirty="0"/>
          </a:p>
        </p:txBody>
      </p:sp>
      <p:sp>
        <p:nvSpPr>
          <p:cNvPr id="14" name="Text 4"/>
          <p:cNvSpPr txBox="1"/>
          <p:nvPr/>
        </p:nvSpPr>
        <p:spPr>
          <a:xfrm>
            <a:off x="8247888" y="2743200"/>
            <a:ext cx="3191256" cy="411480"/>
          </a:xfrm>
          <a:prstGeom prst="rect">
            <a:avLst/>
          </a:prstGeom>
          <a:noFill/>
          <a:ln/>
        </p:spPr>
        <p:txBody>
          <a:bodyPr wrap="square" lIns="0" tIns="0" rIns="0" bIns="0" rtlCol="0" anchor="t"/>
          <a:lstStyle/>
          <a:p>
            <a:pPr marL="0" indent="0">
              <a:buNone/>
            </a:pPr>
            <a:r>
              <a:rPr lang="en-US" sz="1300" dirty="0">
                <a:solidFill>
                  <a:srgbClr val="3D4552"/>
                </a:solidFill>
              </a:rPr>
              <a:t>stops that broke something, before and after the fix</a:t>
            </a:r>
            <a:endParaRPr lang="en-US" sz="1300" dirty="0"/>
          </a:p>
        </p:txBody>
      </p:sp>
      <p:sp>
        <p:nvSpPr>
          <p:cNvPr id="15" name="Text 19"/>
          <p:cNvSpPr txBox="1"/>
          <p:nvPr/>
        </p:nvSpPr>
        <p:spPr>
          <a:xfrm>
            <a:off x="8247888" y="3218688"/>
            <a:ext cx="3191256" cy="1444751"/>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rgbClr val="3D4552"/>
                </a:solidFill>
              </a:rPr>
              <a:t>Glue was stopped </a:t>
            </a:r>
            <a:r>
              <a:rPr lang="en-US" sz="1300" dirty="0">
                <a:solidFill>
                  <a:srgbClr val="3D4552"/>
                </a:solidFill>
              </a:rPr>
              <a:t>before each of 132 database writes in 11 flows, then restarted</a:t>
            </a:r>
            <a:endParaRPr lang="en-US" sz="1300" dirty="0"/>
          </a:p>
          <a:p>
            <a:pPr marL="177800" indent="-177800">
              <a:spcAft>
                <a:spcPts val="500"/>
              </a:spcAft>
              <a:buSzPct val="100000"/>
              <a:buChar char="•"/>
            </a:pPr>
            <a:r>
              <a:rPr lang="en-US" sz="1300" b="1" dirty="0">
                <a:solidFill>
                  <a:srgbClr val="3D4552"/>
                </a:solidFill>
              </a:rPr>
              <a:t>Each state change </a:t>
            </a:r>
            <a:r>
              <a:rPr lang="en-US" sz="1300" dirty="0">
                <a:solidFill>
                  <a:srgbClr val="3D4552"/>
                </a:solidFill>
              </a:rPr>
              <a:t>is saved with its audit row in one transaction</a:t>
            </a:r>
            <a:endParaRPr lang="en-US" sz="1300" dirty="0"/>
          </a:p>
          <a:p>
            <a:pPr marL="177800" indent="-177800">
              <a:spcAft>
                <a:spcPts val="500"/>
              </a:spcAft>
              <a:buSzPct val="100000"/>
              <a:buChar char="•"/>
            </a:pPr>
            <a:r>
              <a:rPr lang="en-US" sz="1300" b="1" dirty="0">
                <a:solidFill>
                  <a:srgbClr val="3D4552"/>
                </a:solidFill>
              </a:rPr>
              <a:t>Proof: </a:t>
            </a:r>
            <a:r>
              <a:rPr lang="en-US" sz="1300" dirty="0">
                <a:solidFill>
                  <a:srgbClr val="3D4552"/>
                </a:solidFill>
              </a:rPr>
              <a:t>tests/test_crash_points.py</a:t>
            </a:r>
            <a:endParaRPr lang="en-US" sz="1300" dirty="0"/>
          </a:p>
        </p:txBody>
      </p:sp>
      <p:sp>
        <p:nvSpPr>
          <p:cNvPr id="16" name="Text 14"/>
          <p:cNvSpPr txBox="1"/>
          <p:nvPr/>
        </p:nvSpPr>
        <p:spPr>
          <a:xfrm>
            <a:off x="548640" y="4937760"/>
            <a:ext cx="11091672" cy="274320"/>
          </a:xfrm>
          <a:prstGeom prst="rect">
            <a:avLst/>
          </a:prstGeom>
          <a:noFill/>
          <a:ln/>
        </p:spPr>
        <p:txBody>
          <a:bodyPr wrap="square" lIns="0" tIns="0" rIns="0" bIns="0" rtlCol="0" anchor="t"/>
          <a:lstStyle/>
          <a:p>
            <a:pPr marL="0" indent="0">
              <a:buNone/>
            </a:pPr>
            <a:r>
              <a:rPr lang="en-US" sz="1100" dirty="0">
                <a:solidFill>
                  <a:schemeClr val="tx2"/>
                </a:solidFill>
              </a:rPr>
              <a:t>The detail is in the README and docs/architecture.md.</a:t>
            </a:r>
            <a:endParaRPr lang="en-US" sz="1100" dirty="0"/>
          </a:p>
        </p:txBody>
      </p:sp>
      <p:sp>
        <p:nvSpPr>
          <p:cNvPr id="17"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12</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OPERATIONS</a:t>
            </a:r>
            <a:endParaRPr lang="en-US" sz="1100" dirty="0"/>
          </a:p>
        </p:txBody>
      </p:sp>
      <p:sp>
        <p:nvSpPr>
          <p:cNvPr id="4"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Operating it: what on-call sees, and how it scales</a:t>
            </a:r>
            <a:endParaRPr lang="en-US" sz="3200" dirty="0"/>
          </a:p>
        </p:txBody>
      </p:sp>
      <p:sp>
        <p:nvSpPr>
          <p:cNvPr id="5" name="~527"/>
          <p:cNvSpPr/>
          <p:nvPr/>
        </p:nvSpPr>
        <p:spPr>
          <a:xfrm>
            <a:off x="548640" y="1463040"/>
            <a:ext cx="2651760" cy="1417320"/>
          </a:xfrm>
          <a:prstGeom prst="roundRect">
            <a:avLst>
              <a:gd name="adj" fmla="val 5161"/>
            </a:avLst>
          </a:prstGeom>
          <a:solidFill>
            <a:schemeClr val="bg2"/>
          </a:solidFill>
          <a:ln/>
        </p:spPr>
        <p:txBody>
          <a:bodyPr/>
          <a:lstStyle/>
          <a:p>
            <a:endParaRPr lang="en-US"/>
          </a:p>
        </p:txBody>
      </p:sp>
      <p:sp>
        <p:nvSpPr>
          <p:cNvPr id="6" name="Text 3"/>
          <p:cNvSpPr txBox="1"/>
          <p:nvPr/>
        </p:nvSpPr>
        <p:spPr>
          <a:xfrm>
            <a:off x="731520" y="1572768"/>
            <a:ext cx="2377440" cy="685800"/>
          </a:xfrm>
          <a:prstGeom prst="rect">
            <a:avLst/>
          </a:prstGeom>
          <a:noFill/>
          <a:ln/>
        </p:spPr>
        <p:txBody>
          <a:bodyPr wrap="square" lIns="0" tIns="0" rIns="0" bIns="0" rtlCol="0" anchor="t"/>
          <a:lstStyle/>
          <a:p>
            <a:pPr marL="0" indent="0">
              <a:buNone/>
            </a:pPr>
            <a:r>
              <a:rPr lang="en-US" sz="3600" b="1" dirty="0">
                <a:solidFill>
                  <a:schemeClr val="accent1"/>
                </a:solidFill>
              </a:rPr>
              <a:t>~527</a:t>
            </a:r>
            <a:endParaRPr lang="en-US" sz="3600" dirty="0"/>
          </a:p>
        </p:txBody>
      </p:sp>
      <p:sp>
        <p:nvSpPr>
          <p:cNvPr id="7" name="Text 4"/>
          <p:cNvSpPr txBox="1"/>
          <p:nvPr/>
        </p:nvSpPr>
        <p:spPr>
          <a:xfrm>
            <a:off x="731520" y="2286000"/>
            <a:ext cx="2377440" cy="502920"/>
          </a:xfrm>
          <a:prstGeom prst="rect">
            <a:avLst/>
          </a:prstGeom>
          <a:noFill/>
          <a:ln/>
        </p:spPr>
        <p:txBody>
          <a:bodyPr wrap="square" lIns="0" tIns="0" rIns="0" bIns="0" rtlCol="0" anchor="t"/>
          <a:lstStyle/>
          <a:p>
            <a:pPr marL="0" indent="0">
              <a:buNone/>
            </a:pPr>
            <a:r>
              <a:rPr lang="en-US" sz="1300" dirty="0">
                <a:solidFill>
                  <a:srgbClr val="3D4552"/>
                </a:solidFill>
              </a:rPr>
              <a:t>orders/s reserved, 10 worker slots</a:t>
            </a:r>
            <a:endParaRPr lang="en-US" sz="1300" dirty="0"/>
          </a:p>
        </p:txBody>
      </p:sp>
      <p:sp>
        <p:nvSpPr>
          <p:cNvPr id="8" name="3,800+"/>
          <p:cNvSpPr/>
          <p:nvPr/>
        </p:nvSpPr>
        <p:spPr>
          <a:xfrm>
            <a:off x="3364992" y="1463040"/>
            <a:ext cx="2651760" cy="1417320"/>
          </a:xfrm>
          <a:prstGeom prst="roundRect">
            <a:avLst>
              <a:gd name="adj" fmla="val 5161"/>
            </a:avLst>
          </a:prstGeom>
          <a:solidFill>
            <a:schemeClr val="bg2"/>
          </a:solidFill>
          <a:ln/>
        </p:spPr>
        <p:txBody>
          <a:bodyPr/>
          <a:lstStyle/>
          <a:p>
            <a:endParaRPr lang="en-US"/>
          </a:p>
        </p:txBody>
      </p:sp>
      <p:sp>
        <p:nvSpPr>
          <p:cNvPr id="9" name="Text 6"/>
          <p:cNvSpPr txBox="1"/>
          <p:nvPr/>
        </p:nvSpPr>
        <p:spPr>
          <a:xfrm>
            <a:off x="3547872" y="1572768"/>
            <a:ext cx="2377440" cy="685800"/>
          </a:xfrm>
          <a:prstGeom prst="rect">
            <a:avLst/>
          </a:prstGeom>
          <a:noFill/>
          <a:ln/>
        </p:spPr>
        <p:txBody>
          <a:bodyPr wrap="square" lIns="0" tIns="0" rIns="0" bIns="0" rtlCol="0" anchor="t"/>
          <a:lstStyle/>
          <a:p>
            <a:pPr marL="0" indent="0">
              <a:buNone/>
            </a:pPr>
            <a:r>
              <a:rPr lang="en-US" sz="3600" b="1" dirty="0">
                <a:solidFill>
                  <a:schemeClr val="accent1"/>
                </a:solidFill>
              </a:rPr>
              <a:t>3,800+</a:t>
            </a:r>
            <a:endParaRPr lang="en-US" sz="3600" dirty="0"/>
          </a:p>
        </p:txBody>
      </p:sp>
      <p:sp>
        <p:nvSpPr>
          <p:cNvPr id="10" name="Text 7"/>
          <p:cNvSpPr txBox="1"/>
          <p:nvPr/>
        </p:nvSpPr>
        <p:spPr>
          <a:xfrm>
            <a:off x="3547872" y="2286000"/>
            <a:ext cx="2377440" cy="502920"/>
          </a:xfrm>
          <a:prstGeom prst="rect">
            <a:avLst/>
          </a:prstGeom>
          <a:noFill/>
          <a:ln/>
        </p:spPr>
        <p:txBody>
          <a:bodyPr wrap="square" lIns="0" tIns="0" rIns="0" bIns="0" rtlCol="0" anchor="t"/>
          <a:lstStyle/>
          <a:p>
            <a:pPr marL="0" indent="0">
              <a:buNone/>
            </a:pPr>
            <a:r>
              <a:rPr lang="en-US" sz="1300" dirty="0">
                <a:solidFill>
                  <a:srgbClr val="3D4552"/>
                </a:solidFill>
              </a:rPr>
              <a:t>events/s accepted by the inbox</a:t>
            </a:r>
            <a:endParaRPr lang="en-US" sz="1300" dirty="0"/>
          </a:p>
        </p:txBody>
      </p:sp>
      <p:sp>
        <p:nvSpPr>
          <p:cNvPr id="11" name="0.31 s"/>
          <p:cNvSpPr/>
          <p:nvPr/>
        </p:nvSpPr>
        <p:spPr>
          <a:xfrm>
            <a:off x="6181344" y="1463040"/>
            <a:ext cx="2651760" cy="1417320"/>
          </a:xfrm>
          <a:prstGeom prst="roundRect">
            <a:avLst>
              <a:gd name="adj" fmla="val 5161"/>
            </a:avLst>
          </a:prstGeom>
          <a:solidFill>
            <a:schemeClr val="bg2"/>
          </a:solidFill>
          <a:ln/>
        </p:spPr>
        <p:txBody>
          <a:bodyPr/>
          <a:lstStyle/>
          <a:p>
            <a:endParaRPr lang="en-US"/>
          </a:p>
        </p:txBody>
      </p:sp>
      <p:sp>
        <p:nvSpPr>
          <p:cNvPr id="12" name="Text 9"/>
          <p:cNvSpPr txBox="1"/>
          <p:nvPr/>
        </p:nvSpPr>
        <p:spPr>
          <a:xfrm>
            <a:off x="6364224" y="1572768"/>
            <a:ext cx="2377440" cy="685800"/>
          </a:xfrm>
          <a:prstGeom prst="rect">
            <a:avLst/>
          </a:prstGeom>
          <a:noFill/>
          <a:ln/>
        </p:spPr>
        <p:txBody>
          <a:bodyPr wrap="square" lIns="0" tIns="0" rIns="0" bIns="0" rtlCol="0" anchor="t"/>
          <a:lstStyle/>
          <a:p>
            <a:pPr marL="0" indent="0">
              <a:buNone/>
            </a:pPr>
            <a:r>
              <a:rPr lang="en-US" sz="3600" b="1" dirty="0">
                <a:solidFill>
                  <a:schemeClr val="accent1"/>
                </a:solidFill>
              </a:rPr>
              <a:t>0.31 s</a:t>
            </a:r>
            <a:endParaRPr lang="en-US" sz="3600" dirty="0"/>
          </a:p>
        </p:txBody>
      </p:sp>
      <p:sp>
        <p:nvSpPr>
          <p:cNvPr id="13" name="Text 10"/>
          <p:cNvSpPr txBox="1"/>
          <p:nvPr/>
        </p:nvSpPr>
        <p:spPr>
          <a:xfrm>
            <a:off x="6364224" y="2286000"/>
            <a:ext cx="2377440" cy="502920"/>
          </a:xfrm>
          <a:prstGeom prst="rect">
            <a:avLst/>
          </a:prstGeom>
          <a:noFill/>
          <a:ln/>
        </p:spPr>
        <p:txBody>
          <a:bodyPr wrap="square" lIns="0" tIns="0" rIns="0" bIns="0" rtlCol="0" anchor="t"/>
          <a:lstStyle/>
          <a:p>
            <a:pPr marL="0" indent="0">
              <a:buNone/>
            </a:pPr>
            <a:r>
              <a:rPr lang="en-US" sz="1300" dirty="0">
                <a:solidFill>
                  <a:srgbClr val="3D4552"/>
                </a:solidFill>
              </a:rPr>
              <a:t>p50 received to reserved; p95 0.53 s (300 orders)</a:t>
            </a:r>
            <a:endParaRPr lang="en-US" sz="1300" dirty="0"/>
          </a:p>
        </p:txBody>
      </p:sp>
      <p:sp>
        <p:nvSpPr>
          <p:cNvPr id="14" name="20 → 527"/>
          <p:cNvSpPr/>
          <p:nvPr/>
        </p:nvSpPr>
        <p:spPr>
          <a:xfrm>
            <a:off x="8997696" y="1463040"/>
            <a:ext cx="2651760" cy="1417320"/>
          </a:xfrm>
          <a:prstGeom prst="roundRect">
            <a:avLst>
              <a:gd name="adj" fmla="val 5161"/>
            </a:avLst>
          </a:prstGeom>
          <a:solidFill>
            <a:schemeClr val="bg2"/>
          </a:solidFill>
          <a:ln/>
        </p:spPr>
        <p:txBody>
          <a:bodyPr/>
          <a:lstStyle/>
          <a:p>
            <a:endParaRPr lang="en-US"/>
          </a:p>
        </p:txBody>
      </p:sp>
      <p:sp>
        <p:nvSpPr>
          <p:cNvPr id="15" name="Text 12"/>
          <p:cNvSpPr txBox="1"/>
          <p:nvPr/>
        </p:nvSpPr>
        <p:spPr>
          <a:xfrm>
            <a:off x="9180576" y="1572768"/>
            <a:ext cx="2377440" cy="685800"/>
          </a:xfrm>
          <a:prstGeom prst="rect">
            <a:avLst/>
          </a:prstGeom>
          <a:noFill/>
          <a:ln/>
        </p:spPr>
        <p:txBody>
          <a:bodyPr wrap="square" lIns="0" tIns="0" rIns="0" bIns="0" rtlCol="0" anchor="t"/>
          <a:lstStyle/>
          <a:p>
            <a:pPr marL="0" indent="0">
              <a:buNone/>
            </a:pPr>
            <a:r>
              <a:rPr lang="en-US" sz="3600" b="1" dirty="0">
                <a:solidFill>
                  <a:schemeClr val="accent1"/>
                </a:solidFill>
              </a:rPr>
              <a:t>20 → 527</a:t>
            </a:r>
            <a:endParaRPr lang="en-US" sz="3600" dirty="0"/>
          </a:p>
        </p:txBody>
      </p:sp>
      <p:sp>
        <p:nvSpPr>
          <p:cNvPr id="16" name="Text 13"/>
          <p:cNvSpPr txBox="1"/>
          <p:nvPr/>
        </p:nvSpPr>
        <p:spPr>
          <a:xfrm>
            <a:off x="9180576" y="2286000"/>
            <a:ext cx="2377440" cy="502920"/>
          </a:xfrm>
          <a:prstGeom prst="rect">
            <a:avLst/>
          </a:prstGeom>
          <a:noFill/>
          <a:ln/>
        </p:spPr>
        <p:txBody>
          <a:bodyPr wrap="square" lIns="0" tIns="0" rIns="0" bIns="0" rtlCol="0" anchor="t"/>
          <a:lstStyle/>
          <a:p>
            <a:pPr marL="0" indent="0">
              <a:buNone/>
            </a:pPr>
            <a:r>
              <a:rPr lang="en-US" sz="1300" dirty="0">
                <a:solidFill>
                  <a:srgbClr val="3D4552"/>
                </a:solidFill>
              </a:rPr>
              <a:t>orders/s before and after the loop fix the probe found</a:t>
            </a:r>
            <a:endParaRPr lang="en-US" sz="1300" dirty="0"/>
          </a:p>
        </p:txBody>
      </p:sp>
      <p:sp>
        <p:nvSpPr>
          <p:cNvPr id="17" name="Text 14"/>
          <p:cNvSpPr txBox="1"/>
          <p:nvPr/>
        </p:nvSpPr>
        <p:spPr>
          <a:xfrm>
            <a:off x="548640" y="2971800"/>
            <a:ext cx="11094415" cy="411480"/>
          </a:xfrm>
          <a:prstGeom prst="rect">
            <a:avLst/>
          </a:prstGeom>
          <a:noFill/>
          <a:ln/>
        </p:spPr>
        <p:txBody>
          <a:bodyPr wrap="square" lIns="0" tIns="0" rIns="0" bIns="0" rtlCol="0" anchor="t"/>
          <a:lstStyle/>
          <a:p>
            <a:pPr marL="0" indent="0">
              <a:buNone/>
            </a:pPr>
            <a:r>
              <a:rPr lang="en-US" sz="1100" dirty="0">
                <a:solidFill>
                  <a:schemeClr val="tx2"/>
                </a:solidFill>
              </a:rPr>
              <a:t>In-process on a laptop (Apple M4 Pro): signed shop orders through the inbox and the real worker loop, mock warehouse, no network. 300 and 1,000 orders, each reserved once, no duplicates. scripts/load_probe.py</a:t>
            </a:r>
            <a:endParaRPr lang="en-US" sz="1100" dirty="0"/>
          </a:p>
        </p:txBody>
      </p:sp>
      <p:sp>
        <p:nvSpPr>
          <p:cNvPr id="18" name="Text 18"/>
          <p:cNvSpPr txBox="1"/>
          <p:nvPr/>
        </p:nvSpPr>
        <p:spPr>
          <a:xfrm>
            <a:off x="548640" y="3474720"/>
            <a:ext cx="5120640" cy="274320"/>
          </a:xfrm>
          <a:prstGeom prst="rect">
            <a:avLst/>
          </a:prstGeom>
          <a:noFill/>
          <a:ln/>
        </p:spPr>
        <p:txBody>
          <a:bodyPr wrap="square" lIns="0" tIns="0" rIns="0" bIns="0" rtlCol="0" anchor="t"/>
          <a:lstStyle/>
          <a:p>
            <a:pPr marL="0" indent="0">
              <a:buNone/>
            </a:pPr>
            <a:r>
              <a:rPr lang="en-US" sz="1500" b="1" dirty="0">
                <a:solidFill>
                  <a:schemeClr val="tx1"/>
                </a:solidFill>
              </a:rPr>
              <a:t>What on-call watches, on /metrics</a:t>
            </a:r>
            <a:endParaRPr lang="en-US" sz="1500" dirty="0"/>
          </a:p>
        </p:txBody>
      </p:sp>
      <p:sp>
        <p:nvSpPr>
          <p:cNvPr id="19" name="Text 19"/>
          <p:cNvSpPr txBox="1"/>
          <p:nvPr/>
        </p:nvSpPr>
        <p:spPr>
          <a:xfrm>
            <a:off x="548640" y="3822191"/>
            <a:ext cx="5120640" cy="1463040"/>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rgbClr val="3D4552"/>
                </a:solidFill>
              </a:rPr>
              <a:t>Oldest pending event: </a:t>
            </a:r>
            <a:r>
              <a:rPr lang="en-US" sz="1300" dirty="0">
                <a:solidFill>
                  <a:srgbClr val="3D4552"/>
                </a:solidFill>
              </a:rPr>
              <a:t>the worker keeps up</a:t>
            </a:r>
            <a:endParaRPr lang="en-US" sz="1300" dirty="0"/>
          </a:p>
          <a:p>
            <a:pPr marL="177800" indent="-177800">
              <a:spcAft>
                <a:spcPts val="500"/>
              </a:spcAft>
              <a:buSzPct val="100000"/>
              <a:buChar char="•"/>
            </a:pPr>
            <a:r>
              <a:rPr lang="en-US" sz="1300" b="1" dirty="0">
                <a:solidFill>
                  <a:srgbClr val="3D4552"/>
                </a:solidFill>
              </a:rPr>
              <a:t>Oldest review item: </a:t>
            </a:r>
            <a:r>
              <a:rPr lang="en-US" sz="1300" dirty="0">
                <a:solidFill>
                  <a:srgbClr val="3D4552"/>
                </a:solidFill>
              </a:rPr>
              <a:t>a paid order waits for a person</a:t>
            </a:r>
            <a:endParaRPr lang="en-US" sz="1300" dirty="0"/>
          </a:p>
          <a:p>
            <a:pPr marL="177800" indent="-177800">
              <a:spcAft>
                <a:spcPts val="500"/>
              </a:spcAft>
              <a:buSzPct val="100000"/>
              <a:buChar char="•"/>
            </a:pPr>
            <a:r>
              <a:rPr lang="en-US" sz="1300" b="1" dirty="0">
                <a:solidFill>
                  <a:srgbClr val="3D4552"/>
                </a:solidFill>
              </a:rPr>
              <a:t>Warehouse down, last good reconcile: </a:t>
            </a:r>
            <a:r>
              <a:rPr lang="en-US" sz="1300" dirty="0">
                <a:solidFill>
                  <a:srgbClr val="3D4552"/>
                </a:solidFill>
              </a:rPr>
              <a:t>stock is fresh</a:t>
            </a:r>
            <a:endParaRPr lang="en-US" sz="1300" dirty="0"/>
          </a:p>
          <a:p>
            <a:pPr marL="177800" indent="-177800">
              <a:spcAft>
                <a:spcPts val="500"/>
              </a:spcAft>
              <a:buSzPct val="100000"/>
              <a:buChar char="•"/>
            </a:pPr>
            <a:r>
              <a:rPr lang="en-US" sz="1300" b="1" dirty="0">
                <a:solidFill>
                  <a:srgbClr val="3D4552"/>
                </a:solidFill>
              </a:rPr>
              <a:t>First real bottleneck: </a:t>
            </a:r>
            <a:r>
              <a:rPr lang="en-US" sz="1300" dirty="0">
                <a:solidFill>
                  <a:srgbClr val="3D4552"/>
                </a:solidFill>
              </a:rPr>
              <a:t>eMAG's rate limit, not the glue</a:t>
            </a:r>
            <a:endParaRPr lang="en-US" sz="1300" dirty="0"/>
          </a:p>
        </p:txBody>
      </p:sp>
      <p:sp>
        <p:nvSpPr>
          <p:cNvPr id="20" name="alerts"/>
          <p:cNvSpPr/>
          <p:nvPr/>
        </p:nvSpPr>
        <p:spPr>
          <a:xfrm>
            <a:off x="5989320" y="3474720"/>
            <a:ext cx="5650992" cy="1783080"/>
          </a:xfrm>
          <a:prstGeom prst="roundRect">
            <a:avLst>
              <a:gd name="adj" fmla="val 4102"/>
            </a:avLst>
          </a:prstGeom>
          <a:solidFill>
            <a:schemeClr val="bg2"/>
          </a:solidFill>
          <a:ln/>
        </p:spPr>
        <p:txBody>
          <a:bodyPr/>
          <a:lstStyle/>
          <a:p>
            <a:endParaRPr lang="en-US"/>
          </a:p>
        </p:txBody>
      </p:sp>
      <p:sp>
        <p:nvSpPr>
          <p:cNvPr id="21" name="Text 23"/>
          <p:cNvSpPr txBox="1"/>
          <p:nvPr/>
        </p:nvSpPr>
        <p:spPr>
          <a:xfrm>
            <a:off x="6217920" y="3630168"/>
            <a:ext cx="5212080" cy="274320"/>
          </a:xfrm>
          <a:prstGeom prst="rect">
            <a:avLst/>
          </a:prstGeom>
          <a:noFill/>
          <a:ln/>
        </p:spPr>
        <p:txBody>
          <a:bodyPr wrap="square" lIns="0" tIns="0" rIns="0" bIns="0" rtlCol="0" anchor="t"/>
          <a:lstStyle/>
          <a:p>
            <a:pPr marL="0" indent="0">
              <a:buNone/>
            </a:pPr>
            <a:r>
              <a:rPr lang="en-US" sz="1500" b="1" dirty="0">
                <a:solidFill>
                  <a:schemeClr val="tx1"/>
                </a:solidFill>
              </a:rPr>
              <a:t>Alerts I would set, as sentences</a:t>
            </a:r>
            <a:endParaRPr lang="en-US" sz="1500" dirty="0"/>
          </a:p>
        </p:txBody>
      </p:sp>
      <p:sp>
        <p:nvSpPr>
          <p:cNvPr id="22" name="Text 24"/>
          <p:cNvSpPr txBox="1"/>
          <p:nvPr/>
        </p:nvSpPr>
        <p:spPr>
          <a:xfrm>
            <a:off x="6217920" y="4023360"/>
            <a:ext cx="5257800" cy="1463040"/>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rgbClr val="3D4552"/>
                </a:solidFill>
              </a:rPr>
              <a:t>Page: </a:t>
            </a:r>
            <a:r>
              <a:rPr lang="en-US" sz="1300" dirty="0">
                <a:solidFill>
                  <a:srgbClr val="3D4552"/>
                </a:solidFill>
              </a:rPr>
              <a:t>oldest pending event older than 60 s</a:t>
            </a:r>
            <a:endParaRPr lang="en-US" sz="1300" dirty="0"/>
          </a:p>
          <a:p>
            <a:pPr marL="177800" indent="-177800">
              <a:spcAft>
                <a:spcPts val="400"/>
              </a:spcAft>
              <a:buSzPct val="100000"/>
              <a:buChar char="•"/>
            </a:pPr>
            <a:r>
              <a:rPr lang="en-US" sz="1300" b="1" dirty="0">
                <a:solidFill>
                  <a:srgbClr val="3D4552"/>
                </a:solidFill>
              </a:rPr>
              <a:t>Page: </a:t>
            </a:r>
            <a:r>
              <a:rPr lang="en-US" sz="1300" dirty="0">
                <a:solidFill>
                  <a:srgbClr val="3D4552"/>
                </a:solidFill>
              </a:rPr>
              <a:t>warehouse down for more than 5 min</a:t>
            </a:r>
            <a:endParaRPr lang="en-US" sz="1300" dirty="0"/>
          </a:p>
          <a:p>
            <a:pPr marL="177800" indent="-177800">
              <a:spcAft>
                <a:spcPts val="400"/>
              </a:spcAft>
              <a:buSzPct val="100000"/>
              <a:buChar char="•"/>
            </a:pPr>
            <a:r>
              <a:rPr lang="en-US" sz="1300" b="1" dirty="0">
                <a:solidFill>
                  <a:srgbClr val="3D4552"/>
                </a:solidFill>
              </a:rPr>
              <a:t>Page: </a:t>
            </a:r>
            <a:r>
              <a:rPr lang="en-US" sz="1300" dirty="0">
                <a:solidFill>
                  <a:srgbClr val="3D4552"/>
                </a:solidFill>
              </a:rPr>
              <a:t>no good reconcile in 3 intervals, warehouse up</a:t>
            </a:r>
            <a:endParaRPr lang="en-US" sz="1300" dirty="0"/>
          </a:p>
          <a:p>
            <a:pPr marL="177800" indent="-177800">
              <a:spcAft>
                <a:spcPts val="400"/>
              </a:spcAft>
              <a:buSzPct val="100000"/>
              <a:buChar char="•"/>
            </a:pPr>
            <a:r>
              <a:rPr lang="en-US" sz="1300" b="1" dirty="0">
                <a:solidFill>
                  <a:srgbClr val="3D4552"/>
                </a:solidFill>
              </a:rPr>
              <a:t>Warn: </a:t>
            </a:r>
            <a:r>
              <a:rPr lang="en-US" sz="1300" dirty="0">
                <a:solidFill>
                  <a:srgbClr val="3D4552"/>
                </a:solidFill>
              </a:rPr>
              <a:t>a review item waiting 30 min in business hours</a:t>
            </a:r>
            <a:endParaRPr lang="en-US" sz="1300" dirty="0"/>
          </a:p>
        </p:txBody>
      </p:sp>
      <p:sp>
        <p:nvSpPr>
          <p:cNvPr id="23"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13</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OPERATIONS</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The local model explains; it never acts</a:t>
            </a:r>
            <a:endParaRPr lang="en-US" sz="3200" dirty="0"/>
          </a:p>
        </p:txBody>
      </p:sp>
      <p:pic>
        <p:nvPicPr>
          <p:cNvPr id="4" name="Image 0" descr="Assistant page: Is the warehouse working and Which orders need a decision, answered from live facts and the review queue; model panel with effort and token limits"/>
          <p:cNvPicPr>
            <a:picLocks noChangeAspect="1"/>
          </p:cNvPicPr>
          <p:nvPr/>
        </p:nvPicPr>
        <p:blipFill>
          <a:blip r:embed="rId3"/>
          <a:stretch>
            <a:fillRect/>
          </a:stretch>
        </p:blipFill>
        <p:spPr>
          <a:xfrm>
            <a:off x="548640" y="1463040"/>
            <a:ext cx="5760720" cy="3165934"/>
          </a:xfrm>
          <a:prstGeom prst="rect">
            <a:avLst/>
          </a:prstGeom>
        </p:spPr>
      </p:pic>
      <p:sp>
        <p:nvSpPr>
          <p:cNvPr id="5" name="frame"/>
          <p:cNvSpPr/>
          <p:nvPr/>
        </p:nvSpPr>
        <p:spPr>
          <a:xfrm>
            <a:off x="548640" y="1463040"/>
            <a:ext cx="5760720" cy="3165934"/>
          </a:xfrm>
          <a:prstGeom prst="rect">
            <a:avLst/>
          </a:prstGeom>
          <a:noFill/>
          <a:ln w="9525">
            <a:solidFill>
              <a:srgbClr val="E3E6EB"/>
            </a:solidFill>
            <a:prstDash val="solid"/>
          </a:ln>
        </p:spPr>
        <p:txBody>
          <a:bodyPr/>
          <a:lstStyle/>
          <a:p>
            <a:endParaRPr lang="en-US"/>
          </a:p>
        </p:txBody>
      </p:sp>
      <p:sp>
        <p:nvSpPr>
          <p:cNvPr id="6" name="Text 3"/>
          <p:cNvSpPr txBox="1"/>
          <p:nvPr/>
        </p:nvSpPr>
        <p:spPr>
          <a:xfrm>
            <a:off x="548640" y="4857574"/>
            <a:ext cx="5760720" cy="274320"/>
          </a:xfrm>
          <a:prstGeom prst="rect">
            <a:avLst/>
          </a:prstGeom>
          <a:noFill/>
          <a:ln/>
        </p:spPr>
        <p:txBody>
          <a:bodyPr wrap="square" lIns="0" tIns="0" rIns="0" bIns="0" rtlCol="0" anchor="t"/>
          <a:lstStyle/>
          <a:p>
            <a:pPr marL="0" indent="0">
              <a:buNone/>
            </a:pPr>
            <a:r>
              <a:rPr lang="en-US" sz="1400" b="1" dirty="0">
                <a:solidFill>
                  <a:schemeClr val="tx1"/>
                </a:solidFill>
              </a:rPr>
              <a:t>Triage on a review item</a:t>
            </a:r>
            <a:endParaRPr lang="en-US" sz="1400" dirty="0"/>
          </a:p>
        </p:txBody>
      </p:sp>
      <p:sp>
        <p:nvSpPr>
          <p:cNvPr id="7" name="Facts"/>
          <p:cNvSpPr/>
          <p:nvPr/>
        </p:nvSpPr>
        <p:spPr>
          <a:xfrm>
            <a:off x="548640" y="5195902"/>
            <a:ext cx="1325880" cy="914400"/>
          </a:xfrm>
          <a:prstGeom prst="roundRect">
            <a:avLst>
              <a:gd name="adj" fmla="val 8000"/>
            </a:avLst>
          </a:prstGeom>
          <a:solidFill>
            <a:schemeClr val="bg1"/>
          </a:solidFill>
          <a:ln w="9525">
            <a:solidFill>
              <a:srgbClr val="E3E6EB"/>
            </a:solidFill>
            <a:prstDash val="solid"/>
          </a:ln>
        </p:spPr>
        <p:txBody>
          <a:bodyPr/>
          <a:lstStyle/>
          <a:p>
            <a:endParaRPr lang="en-US"/>
          </a:p>
        </p:txBody>
      </p:sp>
      <p:sp>
        <p:nvSpPr>
          <p:cNvPr id="8" name="Text 5"/>
          <p:cNvSpPr txBox="1"/>
          <p:nvPr/>
        </p:nvSpPr>
        <p:spPr>
          <a:xfrm>
            <a:off x="640080" y="5287342"/>
            <a:ext cx="1170432" cy="256032"/>
          </a:xfrm>
          <a:prstGeom prst="rect">
            <a:avLst/>
          </a:prstGeom>
          <a:noFill/>
          <a:ln/>
        </p:spPr>
        <p:txBody>
          <a:bodyPr wrap="square" lIns="0" tIns="0" rIns="0" bIns="0" rtlCol="0" anchor="t"/>
          <a:lstStyle/>
          <a:p>
            <a:pPr marL="0" indent="0">
              <a:buNone/>
            </a:pPr>
            <a:r>
              <a:rPr lang="en-US" sz="1300" b="1" dirty="0">
                <a:solidFill>
                  <a:schemeClr val="tx1"/>
                </a:solidFill>
              </a:rPr>
              <a:t>Facts</a:t>
            </a:r>
            <a:endParaRPr lang="en-US" sz="1300" dirty="0"/>
          </a:p>
        </p:txBody>
      </p:sp>
      <p:sp>
        <p:nvSpPr>
          <p:cNvPr id="9" name="Text 6"/>
          <p:cNvSpPr txBox="1"/>
          <p:nvPr/>
        </p:nvSpPr>
        <p:spPr>
          <a:xfrm>
            <a:off x="640080" y="5561662"/>
            <a:ext cx="1170432" cy="502920"/>
          </a:xfrm>
          <a:prstGeom prst="rect">
            <a:avLst/>
          </a:prstGeom>
          <a:noFill/>
          <a:ln/>
        </p:spPr>
        <p:txBody>
          <a:bodyPr wrap="square" lIns="0" tIns="0" rIns="0" bIns="0" rtlCol="0" anchor="t"/>
          <a:lstStyle/>
          <a:p>
            <a:pPr marL="0" indent="0">
              <a:buNone/>
            </a:pPr>
            <a:r>
              <a:rPr lang="en-US" sz="1100" dirty="0">
                <a:solidFill>
                  <a:schemeClr val="tx2"/>
                </a:solidFill>
              </a:rPr>
              <a:t>order, stock, warehouse state</a:t>
            </a:r>
            <a:endParaRPr lang="en-US" sz="1100" dirty="0"/>
          </a:p>
        </p:txBody>
      </p:sp>
      <p:sp>
        <p:nvSpPr>
          <p:cNvPr id="10" name="Shape 7"/>
          <p:cNvSpPr/>
          <p:nvPr/>
        </p:nvSpPr>
        <p:spPr>
          <a:xfrm>
            <a:off x="1883664" y="5653102"/>
            <a:ext cx="118872" cy="0"/>
          </a:xfrm>
          <a:prstGeom prst="line">
            <a:avLst/>
          </a:prstGeom>
          <a:noFill/>
          <a:ln w="12700">
            <a:solidFill>
              <a:schemeClr val="tx1"/>
            </a:solidFill>
            <a:prstDash val="solid"/>
            <a:tailEnd type="triangle"/>
          </a:ln>
        </p:spPr>
        <p:txBody>
          <a:bodyPr/>
          <a:lstStyle/>
          <a:p>
            <a:endParaRPr lang="en-US"/>
          </a:p>
        </p:txBody>
      </p:sp>
      <p:sp>
        <p:nvSpPr>
          <p:cNvPr id="11" name="Rule, in code"/>
          <p:cNvSpPr/>
          <p:nvPr/>
        </p:nvSpPr>
        <p:spPr>
          <a:xfrm>
            <a:off x="2011680" y="5195902"/>
            <a:ext cx="1325880" cy="914400"/>
          </a:xfrm>
          <a:prstGeom prst="roundRect">
            <a:avLst>
              <a:gd name="adj" fmla="val 8000"/>
            </a:avLst>
          </a:prstGeom>
          <a:solidFill>
            <a:srgbClr val="E8EEFD"/>
          </a:solidFill>
          <a:ln w="9525">
            <a:solidFill>
              <a:srgbClr val="9DB4F0"/>
            </a:solidFill>
            <a:prstDash val="solid"/>
          </a:ln>
        </p:spPr>
        <p:txBody>
          <a:bodyPr/>
          <a:lstStyle/>
          <a:p>
            <a:endParaRPr lang="en-US"/>
          </a:p>
        </p:txBody>
      </p:sp>
      <p:sp>
        <p:nvSpPr>
          <p:cNvPr id="12" name="Text 9"/>
          <p:cNvSpPr txBox="1"/>
          <p:nvPr/>
        </p:nvSpPr>
        <p:spPr>
          <a:xfrm>
            <a:off x="2103120" y="5287342"/>
            <a:ext cx="1170432" cy="256032"/>
          </a:xfrm>
          <a:prstGeom prst="rect">
            <a:avLst/>
          </a:prstGeom>
          <a:noFill/>
          <a:ln/>
        </p:spPr>
        <p:txBody>
          <a:bodyPr wrap="square" lIns="0" tIns="0" rIns="0" bIns="0" rtlCol="0" anchor="t"/>
          <a:lstStyle/>
          <a:p>
            <a:pPr marL="0" indent="0">
              <a:buNone/>
            </a:pPr>
            <a:r>
              <a:rPr lang="en-US" sz="1300" b="1" dirty="0">
                <a:solidFill>
                  <a:schemeClr val="tx1"/>
                </a:solidFill>
              </a:rPr>
              <a:t>Rule, in code</a:t>
            </a:r>
            <a:endParaRPr lang="en-US" sz="1300" dirty="0"/>
          </a:p>
        </p:txBody>
      </p:sp>
      <p:sp>
        <p:nvSpPr>
          <p:cNvPr id="13" name="Text 10"/>
          <p:cNvSpPr txBox="1"/>
          <p:nvPr/>
        </p:nvSpPr>
        <p:spPr>
          <a:xfrm>
            <a:off x="2103120" y="5561662"/>
            <a:ext cx="1170432" cy="502920"/>
          </a:xfrm>
          <a:prstGeom prst="rect">
            <a:avLst/>
          </a:prstGeom>
          <a:noFill/>
          <a:ln/>
        </p:spPr>
        <p:txBody>
          <a:bodyPr wrap="square" lIns="0" tIns="0" rIns="0" bIns="0" rtlCol="0" anchor="t"/>
          <a:lstStyle/>
          <a:p>
            <a:pPr marL="0" indent="0">
              <a:buNone/>
            </a:pPr>
            <a:r>
              <a:rPr lang="en-US" sz="1100" dirty="0">
                <a:solidFill>
                  <a:schemeClr val="tx2"/>
                </a:solidFill>
              </a:rPr>
              <a:t>picks the choice</a:t>
            </a:r>
            <a:endParaRPr lang="en-US" sz="1100" dirty="0"/>
          </a:p>
        </p:txBody>
      </p:sp>
      <p:sp>
        <p:nvSpPr>
          <p:cNvPr id="14" name="Shape 11"/>
          <p:cNvSpPr/>
          <p:nvPr/>
        </p:nvSpPr>
        <p:spPr>
          <a:xfrm>
            <a:off x="3346704" y="5653102"/>
            <a:ext cx="118872" cy="0"/>
          </a:xfrm>
          <a:prstGeom prst="line">
            <a:avLst/>
          </a:prstGeom>
          <a:noFill/>
          <a:ln w="12700">
            <a:solidFill>
              <a:schemeClr val="tx1"/>
            </a:solidFill>
            <a:prstDash val="solid"/>
            <a:tailEnd type="triangle"/>
          </a:ln>
        </p:spPr>
        <p:txBody>
          <a:bodyPr/>
          <a:lstStyle/>
          <a:p>
            <a:endParaRPr lang="en-US"/>
          </a:p>
        </p:txBody>
      </p:sp>
      <p:sp>
        <p:nvSpPr>
          <p:cNvPr id="15" name="Model"/>
          <p:cNvSpPr/>
          <p:nvPr/>
        </p:nvSpPr>
        <p:spPr>
          <a:xfrm>
            <a:off x="3474720" y="5195902"/>
            <a:ext cx="1325880" cy="914400"/>
          </a:xfrm>
          <a:prstGeom prst="roundRect">
            <a:avLst>
              <a:gd name="adj" fmla="val 8000"/>
            </a:avLst>
          </a:prstGeom>
          <a:solidFill>
            <a:schemeClr val="bg1"/>
          </a:solidFill>
          <a:ln w="9525">
            <a:solidFill>
              <a:srgbClr val="E3E6EB"/>
            </a:solidFill>
            <a:prstDash val="solid"/>
          </a:ln>
        </p:spPr>
        <p:txBody>
          <a:bodyPr/>
          <a:lstStyle/>
          <a:p>
            <a:endParaRPr lang="en-US"/>
          </a:p>
        </p:txBody>
      </p:sp>
      <p:sp>
        <p:nvSpPr>
          <p:cNvPr id="16" name="Text 13"/>
          <p:cNvSpPr txBox="1"/>
          <p:nvPr/>
        </p:nvSpPr>
        <p:spPr>
          <a:xfrm>
            <a:off x="3566160" y="5287342"/>
            <a:ext cx="1170432" cy="256032"/>
          </a:xfrm>
          <a:prstGeom prst="rect">
            <a:avLst/>
          </a:prstGeom>
          <a:noFill/>
          <a:ln/>
        </p:spPr>
        <p:txBody>
          <a:bodyPr wrap="square" lIns="0" tIns="0" rIns="0" bIns="0" rtlCol="0" anchor="t"/>
          <a:lstStyle/>
          <a:p>
            <a:pPr marL="0" indent="0">
              <a:buNone/>
            </a:pPr>
            <a:r>
              <a:rPr lang="en-US" sz="1300" b="1" dirty="0">
                <a:solidFill>
                  <a:schemeClr val="tx1"/>
                </a:solidFill>
              </a:rPr>
              <a:t>Model</a:t>
            </a:r>
            <a:endParaRPr lang="en-US" sz="1300" dirty="0"/>
          </a:p>
        </p:txBody>
      </p:sp>
      <p:sp>
        <p:nvSpPr>
          <p:cNvPr id="17" name="Text 14"/>
          <p:cNvSpPr txBox="1"/>
          <p:nvPr/>
        </p:nvSpPr>
        <p:spPr>
          <a:xfrm>
            <a:off x="3566160" y="5561662"/>
            <a:ext cx="1170432" cy="502920"/>
          </a:xfrm>
          <a:prstGeom prst="rect">
            <a:avLst/>
          </a:prstGeom>
          <a:noFill/>
          <a:ln/>
        </p:spPr>
        <p:txBody>
          <a:bodyPr wrap="square" lIns="0" tIns="0" rIns="0" bIns="0" rtlCol="0" anchor="t"/>
          <a:lstStyle/>
          <a:p>
            <a:pPr marL="0" indent="0">
              <a:buNone/>
            </a:pPr>
            <a:r>
              <a:rPr lang="en-US" sz="1100" dirty="0">
                <a:solidFill>
                  <a:schemeClr val="tx2"/>
                </a:solidFill>
              </a:rPr>
              <a:t>writes the reason</a:t>
            </a:r>
            <a:endParaRPr lang="en-US" sz="1100" dirty="0"/>
          </a:p>
        </p:txBody>
      </p:sp>
      <p:sp>
        <p:nvSpPr>
          <p:cNvPr id="18" name="Shape 15"/>
          <p:cNvSpPr/>
          <p:nvPr/>
        </p:nvSpPr>
        <p:spPr>
          <a:xfrm>
            <a:off x="4809744" y="5653102"/>
            <a:ext cx="118872" cy="0"/>
          </a:xfrm>
          <a:prstGeom prst="line">
            <a:avLst/>
          </a:prstGeom>
          <a:noFill/>
          <a:ln w="12700">
            <a:solidFill>
              <a:schemeClr val="tx1"/>
            </a:solidFill>
            <a:prstDash val="solid"/>
            <a:tailEnd type="triangle"/>
          </a:ln>
        </p:spPr>
        <p:txBody>
          <a:bodyPr/>
          <a:lstStyle/>
          <a:p>
            <a:endParaRPr lang="en-US"/>
          </a:p>
        </p:txBody>
      </p:sp>
      <p:sp>
        <p:nvSpPr>
          <p:cNvPr id="19" name="Checked"/>
          <p:cNvSpPr/>
          <p:nvPr/>
        </p:nvSpPr>
        <p:spPr>
          <a:xfrm>
            <a:off x="4937760" y="5195902"/>
            <a:ext cx="1325880" cy="914400"/>
          </a:xfrm>
          <a:prstGeom prst="roundRect">
            <a:avLst>
              <a:gd name="adj" fmla="val 8000"/>
            </a:avLst>
          </a:prstGeom>
          <a:solidFill>
            <a:schemeClr val="bg1"/>
          </a:solidFill>
          <a:ln w="9525">
            <a:solidFill>
              <a:srgbClr val="E3E6EB"/>
            </a:solidFill>
            <a:prstDash val="solid"/>
          </a:ln>
        </p:spPr>
        <p:txBody>
          <a:bodyPr/>
          <a:lstStyle/>
          <a:p>
            <a:endParaRPr lang="en-US"/>
          </a:p>
        </p:txBody>
      </p:sp>
      <p:sp>
        <p:nvSpPr>
          <p:cNvPr id="20" name="Text 17"/>
          <p:cNvSpPr txBox="1"/>
          <p:nvPr/>
        </p:nvSpPr>
        <p:spPr>
          <a:xfrm>
            <a:off x="5029200" y="5287342"/>
            <a:ext cx="1170432" cy="256032"/>
          </a:xfrm>
          <a:prstGeom prst="rect">
            <a:avLst/>
          </a:prstGeom>
          <a:noFill/>
          <a:ln/>
        </p:spPr>
        <p:txBody>
          <a:bodyPr wrap="square" lIns="0" tIns="0" rIns="0" bIns="0" rtlCol="0" anchor="t"/>
          <a:lstStyle/>
          <a:p>
            <a:pPr marL="0" indent="0">
              <a:buNone/>
            </a:pPr>
            <a:r>
              <a:rPr lang="en-US" sz="1300" b="1" dirty="0">
                <a:solidFill>
                  <a:schemeClr val="tx1"/>
                </a:solidFill>
              </a:rPr>
              <a:t>Checked</a:t>
            </a:r>
            <a:endParaRPr lang="en-US" sz="1300" dirty="0"/>
          </a:p>
        </p:txBody>
      </p:sp>
      <p:sp>
        <p:nvSpPr>
          <p:cNvPr id="21" name="Text 18"/>
          <p:cNvSpPr txBox="1"/>
          <p:nvPr/>
        </p:nvSpPr>
        <p:spPr>
          <a:xfrm>
            <a:off x="5029200" y="5561662"/>
            <a:ext cx="1170432" cy="502920"/>
          </a:xfrm>
          <a:prstGeom prst="rect">
            <a:avLst/>
          </a:prstGeom>
          <a:noFill/>
          <a:ln/>
        </p:spPr>
        <p:txBody>
          <a:bodyPr wrap="square" lIns="0" tIns="0" rIns="0" bIns="0" rtlCol="0" anchor="t"/>
          <a:lstStyle/>
          <a:p>
            <a:pPr marL="0" indent="0">
              <a:buNone/>
            </a:pPr>
            <a:r>
              <a:rPr lang="en-US" sz="1100" dirty="0">
                <a:solidFill>
                  <a:schemeClr val="tx2"/>
                </a:solidFill>
              </a:rPr>
              <a:t>allowed choices only; never acts</a:t>
            </a:r>
            <a:endParaRPr lang="en-US" sz="1100" dirty="0"/>
          </a:p>
        </p:txBody>
      </p:sp>
      <p:sp>
        <p:nvSpPr>
          <p:cNvPr id="22" name="Text 19"/>
          <p:cNvSpPr txBox="1"/>
          <p:nvPr/>
        </p:nvSpPr>
        <p:spPr>
          <a:xfrm>
            <a:off x="6675120" y="1463040"/>
            <a:ext cx="4965192" cy="274320"/>
          </a:xfrm>
          <a:prstGeom prst="rect">
            <a:avLst/>
          </a:prstGeom>
          <a:noFill/>
          <a:ln/>
        </p:spPr>
        <p:txBody>
          <a:bodyPr wrap="square" lIns="0" tIns="0" rIns="0" bIns="0" rtlCol="0" anchor="t"/>
          <a:lstStyle/>
          <a:p>
            <a:pPr marL="0" indent="0">
              <a:buNone/>
            </a:pPr>
            <a:r>
              <a:rPr lang="en-US" sz="1500" b="1" dirty="0">
                <a:solidFill>
                  <a:schemeClr val="tx1"/>
                </a:solidFill>
              </a:rPr>
              <a:t>What it does</a:t>
            </a:r>
            <a:endParaRPr lang="en-US" sz="1500" dirty="0"/>
          </a:p>
        </p:txBody>
      </p:sp>
      <p:sp>
        <p:nvSpPr>
          <p:cNvPr id="23" name="Text 20"/>
          <p:cNvSpPr txBox="1"/>
          <p:nvPr/>
        </p:nvSpPr>
        <p:spPr>
          <a:xfrm>
            <a:off x="6675120" y="1810512"/>
            <a:ext cx="4965192"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D4552"/>
                </a:solidFill>
              </a:rPr>
              <a:t>Assistant: answers from a block of live facts and five read-only lookups, at temperature 0</a:t>
            </a:r>
            <a:endParaRPr lang="en-US" sz="1300" dirty="0"/>
          </a:p>
          <a:p>
            <a:pPr marL="177800" indent="-177800">
              <a:spcAft>
                <a:spcPts val="500"/>
              </a:spcAft>
              <a:buSzPct val="100000"/>
              <a:buChar char="•"/>
            </a:pPr>
            <a:r>
              <a:rPr lang="en-US" sz="1300" dirty="0">
                <a:solidFill>
                  <a:srgbClr val="3D4552"/>
                </a:solidFill>
              </a:rPr>
              <a:t>Triage: Suggest an action on a review card gives retry, cancel or close, with a short reason</a:t>
            </a:r>
            <a:endParaRPr lang="en-US" sz="1300" dirty="0"/>
          </a:p>
        </p:txBody>
      </p:sp>
      <p:sp>
        <p:nvSpPr>
          <p:cNvPr id="24" name="Text 21"/>
          <p:cNvSpPr txBox="1"/>
          <p:nvPr/>
        </p:nvSpPr>
        <p:spPr>
          <a:xfrm>
            <a:off x="6675120" y="3017520"/>
            <a:ext cx="4965192" cy="274320"/>
          </a:xfrm>
          <a:prstGeom prst="rect">
            <a:avLst/>
          </a:prstGeom>
          <a:noFill/>
          <a:ln/>
        </p:spPr>
        <p:txBody>
          <a:bodyPr wrap="square" lIns="0" tIns="0" rIns="0" bIns="0" rtlCol="0" anchor="t"/>
          <a:lstStyle/>
          <a:p>
            <a:pPr marL="0" indent="0">
              <a:buNone/>
            </a:pPr>
            <a:r>
              <a:rPr lang="en-US" sz="1500" b="1" dirty="0">
                <a:solidFill>
                  <a:schemeClr val="tx1"/>
                </a:solidFill>
              </a:rPr>
              <a:t>What it does not do</a:t>
            </a:r>
            <a:endParaRPr lang="en-US" sz="1500" dirty="0"/>
          </a:p>
        </p:txBody>
      </p:sp>
      <p:sp>
        <p:nvSpPr>
          <p:cNvPr id="25" name="Text 22"/>
          <p:cNvSpPr txBox="1"/>
          <p:nvPr/>
        </p:nvSpPr>
        <p:spPr>
          <a:xfrm>
            <a:off x="6675120" y="3364992"/>
            <a:ext cx="4965192" cy="731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D4552"/>
                </a:solidFill>
              </a:rPr>
              <a:t>Change anything: there is no tool that writes</a:t>
            </a:r>
            <a:endParaRPr lang="en-US" sz="1300" dirty="0"/>
          </a:p>
          <a:p>
            <a:pPr marL="177800" indent="-177800">
              <a:spcAft>
                <a:spcPts val="500"/>
              </a:spcAft>
              <a:buSzPct val="100000"/>
              <a:buChar char="•"/>
            </a:pPr>
            <a:r>
              <a:rPr lang="en-US" sz="1300" dirty="0">
                <a:solidFill>
                  <a:srgbClr val="3D4552"/>
                </a:solidFill>
              </a:rPr>
              <a:t>Decide: the suggestion is shown, audited, and a person still clicks</a:t>
            </a:r>
            <a:endParaRPr lang="en-US" sz="1300" dirty="0"/>
          </a:p>
        </p:txBody>
      </p:sp>
      <p:sp>
        <p:nvSpPr>
          <p:cNvPr id="26" name="Text 23"/>
          <p:cNvSpPr txBox="1"/>
          <p:nvPr/>
        </p:nvSpPr>
        <p:spPr>
          <a:xfrm>
            <a:off x="6675120" y="4343400"/>
            <a:ext cx="4965192" cy="274320"/>
          </a:xfrm>
          <a:prstGeom prst="rect">
            <a:avLst/>
          </a:prstGeom>
          <a:noFill/>
          <a:ln/>
        </p:spPr>
        <p:txBody>
          <a:bodyPr wrap="square" lIns="0" tIns="0" rIns="0" bIns="0" rtlCol="0" anchor="t"/>
          <a:lstStyle/>
          <a:p>
            <a:pPr marL="0" indent="0">
              <a:buNone/>
            </a:pPr>
            <a:r>
              <a:rPr lang="en-US" sz="1500" b="1" dirty="0">
                <a:solidFill>
                  <a:schemeClr val="tx1"/>
                </a:solidFill>
              </a:rPr>
              <a:t>Limits and first run</a:t>
            </a:r>
            <a:endParaRPr lang="en-US" sz="1500" dirty="0"/>
          </a:p>
        </p:txBody>
      </p:sp>
      <p:sp>
        <p:nvSpPr>
          <p:cNvPr id="27" name="Text 24"/>
          <p:cNvSpPr txBox="1"/>
          <p:nvPr/>
        </p:nvSpPr>
        <p:spPr>
          <a:xfrm>
            <a:off x="6675120" y="4690872"/>
            <a:ext cx="4965192"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D4552"/>
                </a:solidFill>
              </a:rPr>
              <a:t>Effort (2, 4 or 6 tool rounds), longest answer and a daily token budget that resets at midnight in Bucharest</a:t>
            </a:r>
            <a:endParaRPr lang="en-US" sz="1300" dirty="0"/>
          </a:p>
          <a:p>
            <a:pPr marL="177800" indent="-177800">
              <a:spcAft>
                <a:spcPts val="500"/>
              </a:spcAft>
              <a:buSzPct val="100000"/>
              <a:buChar char="•"/>
            </a:pPr>
            <a:r>
              <a:rPr lang="en-US" sz="1300" dirty="0">
                <a:solidFill>
                  <a:srgbClr val="3D4552"/>
                </a:solidFill>
              </a:rPr>
              <a:t>Ollama pulls qwen2.5:3b once, about 2 GB; Glue works meanwhile and shows progress</a:t>
            </a:r>
            <a:endParaRPr lang="en-US" sz="1300" dirty="0"/>
          </a:p>
          <a:p>
            <a:pPr marL="177800" indent="-177800">
              <a:spcAft>
                <a:spcPts val="500"/>
              </a:spcAft>
              <a:buSzPct val="100000"/>
              <a:buChar char="•"/>
            </a:pPr>
            <a:r>
              <a:rPr lang="en-US" sz="1300" dirty="0">
                <a:solidFill>
                  <a:srgbClr val="3D4552"/>
                </a:solidFill>
              </a:rPr>
              <a:t>Claude, GPT and Gemini are listed as coming soon</a:t>
            </a:r>
            <a:endParaRPr lang="en-US" sz="1300" dirty="0"/>
          </a:p>
        </p:txBody>
      </p:sp>
      <p:sp>
        <p:nvSpPr>
          <p:cNvPr id="28"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14</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PROCESS</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How it was built</a:t>
            </a:r>
            <a:endParaRPr lang="en-US" sz="3200" dirty="0"/>
          </a:p>
        </p:txBody>
      </p:sp>
      <p:sp>
        <p:nvSpPr>
          <p:cNvPr id="4" name="timeline"/>
          <p:cNvSpPr/>
          <p:nvPr/>
        </p:nvSpPr>
        <p:spPr>
          <a:xfrm>
            <a:off x="777240" y="1856232"/>
            <a:ext cx="9509499" cy="18288"/>
          </a:xfrm>
          <a:prstGeom prst="rect">
            <a:avLst/>
          </a:prstGeom>
          <a:solidFill>
            <a:srgbClr val="E3E6EB"/>
          </a:solidFill>
          <a:ln/>
        </p:spPr>
        <p:txBody>
          <a:bodyPr/>
          <a:lstStyle/>
          <a:p>
            <a:endParaRPr lang="en-US"/>
          </a:p>
        </p:txBody>
      </p:sp>
      <p:sp>
        <p:nvSpPr>
          <p:cNvPr id="5" name="step 1"/>
          <p:cNvSpPr/>
          <p:nvPr/>
        </p:nvSpPr>
        <p:spPr>
          <a:xfrm>
            <a:off x="594360" y="1645920"/>
            <a:ext cx="438912" cy="438912"/>
          </a:xfrm>
          <a:prstGeom prst="ellipse">
            <a:avLst/>
          </a:prstGeom>
          <a:solidFill>
            <a:schemeClr val="tx1"/>
          </a:solidFill>
          <a:ln/>
        </p:spPr>
        <p:txBody>
          <a:bodyPr/>
          <a:lstStyle/>
          <a:p>
            <a:endParaRPr lang="en-US"/>
          </a:p>
        </p:txBody>
      </p:sp>
      <p:sp>
        <p:nvSpPr>
          <p:cNvPr id="6" name="Text 4"/>
          <p:cNvSpPr txBox="1"/>
          <p:nvPr/>
        </p:nvSpPr>
        <p:spPr>
          <a:xfrm>
            <a:off x="594360"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548640"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Requirement</a:t>
            </a:r>
            <a:endParaRPr lang="en-US" sz="1400" dirty="0"/>
          </a:p>
        </p:txBody>
      </p:sp>
      <p:sp>
        <p:nvSpPr>
          <p:cNvPr id="8" name="Text 6"/>
          <p:cNvSpPr txBox="1"/>
          <p:nvPr/>
        </p:nvSpPr>
        <p:spPr>
          <a:xfrm>
            <a:off x="548640"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Sync orders and stock; handle conflicts, retries and partial failures.</a:t>
            </a:r>
            <a:endParaRPr lang="en-US" sz="1200" dirty="0"/>
          </a:p>
        </p:txBody>
      </p:sp>
      <p:sp>
        <p:nvSpPr>
          <p:cNvPr id="9" name="step 2"/>
          <p:cNvSpPr/>
          <p:nvPr/>
        </p:nvSpPr>
        <p:spPr>
          <a:xfrm>
            <a:off x="2179276" y="1645920"/>
            <a:ext cx="438912" cy="438912"/>
          </a:xfrm>
          <a:prstGeom prst="ellipse">
            <a:avLst/>
          </a:prstGeom>
          <a:solidFill>
            <a:schemeClr val="tx1"/>
          </a:solidFill>
          <a:ln/>
        </p:spPr>
        <p:txBody>
          <a:bodyPr/>
          <a:lstStyle/>
          <a:p>
            <a:endParaRPr lang="en-US"/>
          </a:p>
        </p:txBody>
      </p:sp>
      <p:sp>
        <p:nvSpPr>
          <p:cNvPr id="10" name="Text 8"/>
          <p:cNvSpPr txBox="1"/>
          <p:nvPr/>
        </p:nvSpPr>
        <p:spPr>
          <a:xfrm>
            <a:off x="2179276"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1" name="Text 9"/>
          <p:cNvSpPr txBox="1"/>
          <p:nvPr/>
        </p:nvSpPr>
        <p:spPr>
          <a:xfrm>
            <a:off x="2133556"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Scenario</a:t>
            </a:r>
            <a:endParaRPr lang="en-US" sz="1400" dirty="0"/>
          </a:p>
        </p:txBody>
      </p:sp>
      <p:sp>
        <p:nvSpPr>
          <p:cNvPr id="12" name="Text 10"/>
          <p:cNvSpPr txBox="1"/>
          <p:nvPr/>
        </p:nvSpPr>
        <p:spPr>
          <a:xfrm>
            <a:off x="2133556"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A real-shaped customer; the real APIs' delivery rules researched first.</a:t>
            </a:r>
            <a:endParaRPr lang="en-US" sz="1200" dirty="0"/>
          </a:p>
        </p:txBody>
      </p:sp>
      <p:sp>
        <p:nvSpPr>
          <p:cNvPr id="13" name="step 3"/>
          <p:cNvSpPr/>
          <p:nvPr/>
        </p:nvSpPr>
        <p:spPr>
          <a:xfrm>
            <a:off x="3764193" y="1645920"/>
            <a:ext cx="438912" cy="438912"/>
          </a:xfrm>
          <a:prstGeom prst="ellipse">
            <a:avLst/>
          </a:prstGeom>
          <a:solidFill>
            <a:schemeClr val="tx1"/>
          </a:solidFill>
          <a:ln/>
        </p:spPr>
        <p:txBody>
          <a:bodyPr/>
          <a:lstStyle/>
          <a:p>
            <a:endParaRPr lang="en-US"/>
          </a:p>
        </p:txBody>
      </p:sp>
      <p:sp>
        <p:nvSpPr>
          <p:cNvPr id="14" name="Text 12"/>
          <p:cNvSpPr txBox="1"/>
          <p:nvPr/>
        </p:nvSpPr>
        <p:spPr>
          <a:xfrm>
            <a:off x="3764193"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5" name="Text 13"/>
          <p:cNvSpPr txBox="1"/>
          <p:nvPr/>
        </p:nvSpPr>
        <p:spPr>
          <a:xfrm>
            <a:off x="3718473"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Design first</a:t>
            </a:r>
            <a:endParaRPr lang="en-US" sz="1400" dirty="0"/>
          </a:p>
        </p:txBody>
      </p:sp>
      <p:sp>
        <p:nvSpPr>
          <p:cNvPr id="16" name="Text 14"/>
          <p:cNvSpPr txBox="1"/>
          <p:nvPr/>
        </p:nvSpPr>
        <p:spPr>
          <a:xfrm>
            <a:off x="3718473"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Mockups of every screen, approved before any code.</a:t>
            </a:r>
            <a:endParaRPr lang="en-US" sz="1200" dirty="0"/>
          </a:p>
        </p:txBody>
      </p:sp>
      <p:sp>
        <p:nvSpPr>
          <p:cNvPr id="17" name="step 4"/>
          <p:cNvSpPr/>
          <p:nvPr/>
        </p:nvSpPr>
        <p:spPr>
          <a:xfrm>
            <a:off x="5349109" y="1645920"/>
            <a:ext cx="438912" cy="438912"/>
          </a:xfrm>
          <a:prstGeom prst="ellipse">
            <a:avLst/>
          </a:prstGeom>
          <a:solidFill>
            <a:schemeClr val="tx1"/>
          </a:solidFill>
          <a:ln/>
        </p:spPr>
        <p:txBody>
          <a:bodyPr/>
          <a:lstStyle/>
          <a:p>
            <a:endParaRPr lang="en-US"/>
          </a:p>
        </p:txBody>
      </p:sp>
      <p:sp>
        <p:nvSpPr>
          <p:cNvPr id="18" name="Text 16"/>
          <p:cNvSpPr txBox="1"/>
          <p:nvPr/>
        </p:nvSpPr>
        <p:spPr>
          <a:xfrm>
            <a:off x="5349109"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9" name="Text 17"/>
          <p:cNvSpPr txBox="1"/>
          <p:nvPr/>
        </p:nvSpPr>
        <p:spPr>
          <a:xfrm>
            <a:off x="5303389"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Written plan</a:t>
            </a:r>
            <a:endParaRPr lang="en-US" sz="1400" dirty="0"/>
          </a:p>
        </p:txBody>
      </p:sp>
      <p:sp>
        <p:nvSpPr>
          <p:cNvPr id="20" name="Text 18"/>
          <p:cNvSpPr txBox="1"/>
          <p:nvPr/>
        </p:nvSpPr>
        <p:spPr>
          <a:xfrm>
            <a:off x="5303389"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Small tasks with acceptance checks; the sync core before anything else.</a:t>
            </a:r>
            <a:endParaRPr lang="en-US" sz="1200" dirty="0"/>
          </a:p>
        </p:txBody>
      </p:sp>
      <p:sp>
        <p:nvSpPr>
          <p:cNvPr id="21" name="step 5"/>
          <p:cNvSpPr/>
          <p:nvPr/>
        </p:nvSpPr>
        <p:spPr>
          <a:xfrm>
            <a:off x="6934026" y="1645920"/>
            <a:ext cx="438912" cy="438912"/>
          </a:xfrm>
          <a:prstGeom prst="ellipse">
            <a:avLst/>
          </a:prstGeom>
          <a:solidFill>
            <a:schemeClr val="tx1"/>
          </a:solidFill>
          <a:ln/>
        </p:spPr>
        <p:txBody>
          <a:bodyPr/>
          <a:lstStyle/>
          <a:p>
            <a:endParaRPr lang="en-US"/>
          </a:p>
        </p:txBody>
      </p:sp>
      <p:sp>
        <p:nvSpPr>
          <p:cNvPr id="22" name="Text 20"/>
          <p:cNvSpPr txBox="1"/>
          <p:nvPr/>
        </p:nvSpPr>
        <p:spPr>
          <a:xfrm>
            <a:off x="6934026"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3" name="Text 21"/>
          <p:cNvSpPr txBox="1"/>
          <p:nvPr/>
        </p:nvSpPr>
        <p:spPr>
          <a:xfrm>
            <a:off x="6888306"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Task by task</a:t>
            </a:r>
            <a:endParaRPr lang="en-US" sz="1400" dirty="0"/>
          </a:p>
        </p:txBody>
      </p:sp>
      <p:sp>
        <p:nvSpPr>
          <p:cNvPr id="24" name="Text 22"/>
          <p:cNvSpPr txBox="1"/>
          <p:nvPr/>
        </p:nvSpPr>
        <p:spPr>
          <a:xfrm>
            <a:off x="6888306"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Each task reviewed independently, with fix rounds until clean.</a:t>
            </a:r>
            <a:endParaRPr lang="en-US" sz="1200" dirty="0"/>
          </a:p>
        </p:txBody>
      </p:sp>
      <p:sp>
        <p:nvSpPr>
          <p:cNvPr id="25" name="step 6"/>
          <p:cNvSpPr/>
          <p:nvPr/>
        </p:nvSpPr>
        <p:spPr>
          <a:xfrm>
            <a:off x="8518942" y="1645920"/>
            <a:ext cx="438912" cy="438912"/>
          </a:xfrm>
          <a:prstGeom prst="ellipse">
            <a:avLst/>
          </a:prstGeom>
          <a:solidFill>
            <a:schemeClr val="accent1"/>
          </a:solidFill>
          <a:ln/>
        </p:spPr>
        <p:txBody>
          <a:bodyPr/>
          <a:lstStyle/>
          <a:p>
            <a:endParaRPr lang="en-US"/>
          </a:p>
        </p:txBody>
      </p:sp>
      <p:sp>
        <p:nvSpPr>
          <p:cNvPr id="26" name="Text 24"/>
          <p:cNvSpPr txBox="1"/>
          <p:nvPr/>
        </p:nvSpPr>
        <p:spPr>
          <a:xfrm>
            <a:off x="8518942"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27" name="Text 25"/>
          <p:cNvSpPr txBox="1"/>
          <p:nvPr/>
        </p:nvSpPr>
        <p:spPr>
          <a:xfrm>
            <a:off x="8473222"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Analysis, then hardening</a:t>
            </a:r>
            <a:endParaRPr lang="en-US" sz="1400" dirty="0"/>
          </a:p>
        </p:txBody>
      </p:sp>
      <p:sp>
        <p:nvSpPr>
          <p:cNvPr id="28" name="Text 26"/>
          <p:cNvSpPr txBox="1"/>
          <p:nvPr/>
        </p:nvSpPr>
        <p:spPr>
          <a:xfrm>
            <a:off x="8473222"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A fresh review reproduced 8 core gaps as failing tests; a load probe found a 20 orders/s cap.</a:t>
            </a:r>
            <a:endParaRPr lang="en-US" sz="1200" dirty="0"/>
          </a:p>
        </p:txBody>
      </p:sp>
      <p:sp>
        <p:nvSpPr>
          <p:cNvPr id="29" name="step 7"/>
          <p:cNvSpPr/>
          <p:nvPr/>
        </p:nvSpPr>
        <p:spPr>
          <a:xfrm>
            <a:off x="10103859" y="1645920"/>
            <a:ext cx="438912" cy="438912"/>
          </a:xfrm>
          <a:prstGeom prst="ellipse">
            <a:avLst/>
          </a:prstGeom>
          <a:solidFill>
            <a:schemeClr val="accent1"/>
          </a:solidFill>
          <a:ln/>
        </p:spPr>
        <p:txBody>
          <a:bodyPr/>
          <a:lstStyle/>
          <a:p>
            <a:endParaRPr lang="en-US"/>
          </a:p>
        </p:txBody>
      </p:sp>
      <p:sp>
        <p:nvSpPr>
          <p:cNvPr id="30" name="Text 28"/>
          <p:cNvSpPr txBox="1"/>
          <p:nvPr/>
        </p:nvSpPr>
        <p:spPr>
          <a:xfrm>
            <a:off x="10103859" y="16459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7</a:t>
            </a:r>
            <a:endParaRPr lang="en-US" sz="1500" dirty="0"/>
          </a:p>
        </p:txBody>
      </p:sp>
      <p:sp>
        <p:nvSpPr>
          <p:cNvPr id="31" name="Text 29"/>
          <p:cNvSpPr txBox="1"/>
          <p:nvPr/>
        </p:nvSpPr>
        <p:spPr>
          <a:xfrm>
            <a:off x="10058139" y="2286000"/>
            <a:ext cx="1447756" cy="566928"/>
          </a:xfrm>
          <a:prstGeom prst="rect">
            <a:avLst/>
          </a:prstGeom>
          <a:noFill/>
          <a:ln/>
        </p:spPr>
        <p:txBody>
          <a:bodyPr wrap="square" lIns="0" tIns="0" rIns="0" bIns="0" rtlCol="0" anchor="t"/>
          <a:lstStyle/>
          <a:p>
            <a:pPr marL="0" indent="0">
              <a:buNone/>
            </a:pPr>
            <a:r>
              <a:rPr lang="en-US" sz="1400" b="1" dirty="0">
                <a:solidFill>
                  <a:schemeClr val="tx1"/>
                </a:solidFill>
              </a:rPr>
              <a:t>Final review and QA</a:t>
            </a:r>
            <a:endParaRPr lang="en-US" sz="1400" dirty="0"/>
          </a:p>
        </p:txBody>
      </p:sp>
      <p:sp>
        <p:nvSpPr>
          <p:cNvPr id="32" name="Text 30"/>
          <p:cNvSpPr txBox="1"/>
          <p:nvPr/>
        </p:nvSpPr>
        <p:spPr>
          <a:xfrm>
            <a:off x="10058139" y="2880360"/>
            <a:ext cx="1447756" cy="1463040"/>
          </a:xfrm>
          <a:prstGeom prst="rect">
            <a:avLst/>
          </a:prstGeom>
          <a:noFill/>
          <a:ln/>
        </p:spPr>
        <p:txBody>
          <a:bodyPr wrap="square" lIns="0" tIns="0" rIns="0" bIns="0" rtlCol="0" anchor="t"/>
          <a:lstStyle/>
          <a:p>
            <a:pPr marL="0" indent="0">
              <a:buNone/>
            </a:pPr>
            <a:r>
              <a:rPr lang="en-US" sz="1200" dirty="0">
                <a:solidFill>
                  <a:srgbClr val="3D4552"/>
                </a:solidFill>
              </a:rPr>
              <a:t>Whole-branch review, a last fix wave, browser checks, a run from a fresh clone.</a:t>
            </a:r>
            <a:endParaRPr lang="en-US" sz="1200" dirty="0"/>
          </a:p>
        </p:txBody>
      </p:sp>
      <p:sp>
        <p:nvSpPr>
          <p:cNvPr id="33" name="habits"/>
          <p:cNvSpPr/>
          <p:nvPr/>
        </p:nvSpPr>
        <p:spPr>
          <a:xfrm>
            <a:off x="548640" y="4297680"/>
            <a:ext cx="11094415" cy="1463040"/>
          </a:xfrm>
          <a:prstGeom prst="roundRect">
            <a:avLst>
              <a:gd name="adj" fmla="val 5000"/>
            </a:avLst>
          </a:prstGeom>
          <a:solidFill>
            <a:schemeClr val="bg2"/>
          </a:solidFill>
          <a:ln/>
        </p:spPr>
        <p:txBody>
          <a:bodyPr/>
          <a:lstStyle/>
          <a:p>
            <a:endParaRPr lang="en-US"/>
          </a:p>
        </p:txBody>
      </p:sp>
      <p:sp>
        <p:nvSpPr>
          <p:cNvPr id="34" name="Text 32"/>
          <p:cNvSpPr txBox="1"/>
          <p:nvPr/>
        </p:nvSpPr>
        <p:spPr>
          <a:xfrm>
            <a:off x="777240" y="4453128"/>
            <a:ext cx="3657600" cy="274320"/>
          </a:xfrm>
          <a:prstGeom prst="rect">
            <a:avLst/>
          </a:prstGeom>
          <a:noFill/>
          <a:ln/>
        </p:spPr>
        <p:txBody>
          <a:bodyPr wrap="square" lIns="0" tIns="0" rIns="0" bIns="0" rtlCol="0" anchor="t"/>
          <a:lstStyle/>
          <a:p>
            <a:pPr marL="0" indent="0">
              <a:buNone/>
            </a:pPr>
            <a:r>
              <a:rPr lang="en-US" sz="1500" b="1" dirty="0">
                <a:solidFill>
                  <a:schemeClr val="tx1"/>
                </a:solidFill>
              </a:rPr>
              <a:t>Habits throughout</a:t>
            </a:r>
            <a:endParaRPr lang="en-US" sz="1500" dirty="0"/>
          </a:p>
        </p:txBody>
      </p:sp>
      <p:sp>
        <p:nvSpPr>
          <p:cNvPr id="35" name="Text 33"/>
          <p:cNvSpPr txBox="1"/>
          <p:nvPr/>
        </p:nvSpPr>
        <p:spPr>
          <a:xfrm>
            <a:off x="777240" y="4846320"/>
            <a:ext cx="3383280" cy="274320"/>
          </a:xfrm>
          <a:prstGeom prst="rect">
            <a:avLst/>
          </a:prstGeom>
          <a:noFill/>
          <a:ln/>
        </p:spPr>
        <p:txBody>
          <a:bodyPr wrap="square" lIns="0" tIns="0" rIns="0" bIns="0" rtlCol="0" anchor="t"/>
          <a:lstStyle/>
          <a:p>
            <a:pPr marL="0" indent="0">
              <a:buNone/>
            </a:pPr>
            <a:r>
              <a:rPr lang="en-US" sz="1400" b="1" dirty="0">
                <a:solidFill>
                  <a:schemeClr val="accent1"/>
                </a:solidFill>
              </a:rPr>
              <a:t>Core first</a:t>
            </a:r>
            <a:endParaRPr lang="en-US" sz="1400" dirty="0"/>
          </a:p>
        </p:txBody>
      </p:sp>
      <p:sp>
        <p:nvSpPr>
          <p:cNvPr id="36" name="Text 34"/>
          <p:cNvSpPr txBox="1"/>
          <p:nvPr/>
        </p:nvSpPr>
        <p:spPr>
          <a:xfrm>
            <a:off x="777240" y="5148072"/>
            <a:ext cx="3383280" cy="548640"/>
          </a:xfrm>
          <a:prstGeom prst="rect">
            <a:avLst/>
          </a:prstGeom>
          <a:noFill/>
          <a:ln/>
        </p:spPr>
        <p:txBody>
          <a:bodyPr wrap="square" lIns="0" tIns="0" rIns="0" bIns="0" rtlCol="0" anchor="t"/>
          <a:lstStyle/>
          <a:p>
            <a:pPr marL="0" indent="0">
              <a:buNone/>
            </a:pPr>
            <a:r>
              <a:rPr lang="en-US" sz="1300" dirty="0">
                <a:solidFill>
                  <a:srgbClr val="3D4552"/>
                </a:solidFill>
              </a:rPr>
              <a:t>sync, conflicts and retries worked end to end before the console</a:t>
            </a:r>
            <a:endParaRPr lang="en-US" sz="1300" dirty="0"/>
          </a:p>
        </p:txBody>
      </p:sp>
      <p:sp>
        <p:nvSpPr>
          <p:cNvPr id="37" name="Text 35"/>
          <p:cNvSpPr txBox="1"/>
          <p:nvPr/>
        </p:nvSpPr>
        <p:spPr>
          <a:xfrm>
            <a:off x="4434840" y="4846320"/>
            <a:ext cx="3383280" cy="274320"/>
          </a:xfrm>
          <a:prstGeom prst="rect">
            <a:avLst/>
          </a:prstGeom>
          <a:noFill/>
          <a:ln/>
        </p:spPr>
        <p:txBody>
          <a:bodyPr wrap="square" lIns="0" tIns="0" rIns="0" bIns="0" rtlCol="0" anchor="t"/>
          <a:lstStyle/>
          <a:p>
            <a:pPr marL="0" indent="0">
              <a:buNone/>
            </a:pPr>
            <a:r>
              <a:rPr lang="en-US" sz="1400" b="1" dirty="0">
                <a:solidFill>
                  <a:schemeClr val="accent1"/>
                </a:solidFill>
              </a:rPr>
              <a:t>A failing test first</a:t>
            </a:r>
            <a:endParaRPr lang="en-US" sz="1400" dirty="0"/>
          </a:p>
        </p:txBody>
      </p:sp>
      <p:sp>
        <p:nvSpPr>
          <p:cNvPr id="38" name="Text 36"/>
          <p:cNvSpPr txBox="1"/>
          <p:nvPr/>
        </p:nvSpPr>
        <p:spPr>
          <a:xfrm>
            <a:off x="4434840" y="5148072"/>
            <a:ext cx="3383280" cy="548640"/>
          </a:xfrm>
          <a:prstGeom prst="rect">
            <a:avLst/>
          </a:prstGeom>
          <a:noFill/>
          <a:ln/>
        </p:spPr>
        <p:txBody>
          <a:bodyPr wrap="square" lIns="0" tIns="0" rIns="0" bIns="0" rtlCol="0" anchor="t"/>
          <a:lstStyle/>
          <a:p>
            <a:pPr marL="0" indent="0">
              <a:buNone/>
            </a:pPr>
            <a:r>
              <a:rPr lang="en-US" sz="1300" dirty="0">
                <a:solidFill>
                  <a:srgbClr val="3D4552"/>
                </a:solidFill>
              </a:rPr>
              <a:t>for every core gap; 18 planted bugs, each caught by the suite</a:t>
            </a:r>
            <a:endParaRPr lang="en-US" sz="1300" dirty="0"/>
          </a:p>
        </p:txBody>
      </p:sp>
      <p:sp>
        <p:nvSpPr>
          <p:cNvPr id="39" name="Text 37"/>
          <p:cNvSpPr txBox="1"/>
          <p:nvPr/>
        </p:nvSpPr>
        <p:spPr>
          <a:xfrm>
            <a:off x="8092440" y="4846320"/>
            <a:ext cx="3383280" cy="274320"/>
          </a:xfrm>
          <a:prstGeom prst="rect">
            <a:avLst/>
          </a:prstGeom>
          <a:noFill/>
          <a:ln/>
        </p:spPr>
        <p:txBody>
          <a:bodyPr wrap="square" lIns="0" tIns="0" rIns="0" bIns="0" rtlCol="0" anchor="t"/>
          <a:lstStyle/>
          <a:p>
            <a:pPr marL="0" indent="0">
              <a:buNone/>
            </a:pPr>
            <a:r>
              <a:rPr lang="en-US" sz="1400" b="1" dirty="0">
                <a:solidFill>
                  <a:schemeClr val="accent1"/>
                </a:solidFill>
              </a:rPr>
              <a:t>Checked against the code</a:t>
            </a:r>
            <a:endParaRPr lang="en-US" sz="1400" dirty="0"/>
          </a:p>
        </p:txBody>
      </p:sp>
      <p:sp>
        <p:nvSpPr>
          <p:cNvPr id="40" name="Text 38"/>
          <p:cNvSpPr txBox="1"/>
          <p:nvPr/>
        </p:nvSpPr>
        <p:spPr>
          <a:xfrm>
            <a:off x="8092440" y="5148072"/>
            <a:ext cx="3383280" cy="548640"/>
          </a:xfrm>
          <a:prstGeom prst="rect">
            <a:avLst/>
          </a:prstGeom>
          <a:noFill/>
          <a:ln/>
        </p:spPr>
        <p:txBody>
          <a:bodyPr wrap="square" lIns="0" tIns="0" rIns="0" bIns="0" rtlCol="0" anchor="t"/>
          <a:lstStyle/>
          <a:p>
            <a:pPr marL="0" indent="0">
              <a:buNone/>
            </a:pPr>
            <a:r>
              <a:rPr lang="en-US" sz="1300" dirty="0">
                <a:solidFill>
                  <a:srgbClr val="3D4552"/>
                </a:solidFill>
              </a:rPr>
              <a:t>docs and slides say only what the code does</a:t>
            </a:r>
            <a:endParaRPr lang="en-US" sz="1300" dirty="0"/>
          </a:p>
        </p:txBody>
      </p:sp>
      <p:sp>
        <p:nvSpPr>
          <p:cNvPr id="41"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18</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REFLECTION</a:t>
            </a:r>
            <a:endParaRPr lang="en-US" sz="1100" dirty="0"/>
          </a:p>
        </p:txBody>
      </p:sp>
      <p:sp>
        <p:nvSpPr>
          <p:cNvPr id="4"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Trade-offs, and how I'd roll it out</a:t>
            </a:r>
            <a:endParaRPr lang="en-US" sz="3200" dirty="0"/>
          </a:p>
        </p:txBody>
      </p:sp>
      <p:sp>
        <p:nvSpPr>
          <p:cNvPr id="5" name="Shadow mode"/>
          <p:cNvSpPr/>
          <p:nvPr/>
        </p:nvSpPr>
        <p:spPr>
          <a:xfrm>
            <a:off x="548640" y="1463040"/>
            <a:ext cx="2606040" cy="1600200"/>
          </a:xfrm>
          <a:prstGeom prst="roundRect">
            <a:avLst>
              <a:gd name="adj" fmla="val 4571"/>
            </a:avLst>
          </a:prstGeom>
          <a:solidFill>
            <a:schemeClr val="bg1"/>
          </a:solidFill>
          <a:ln w="9525">
            <a:solidFill>
              <a:srgbClr val="E3E6EB"/>
            </a:solidFill>
            <a:prstDash val="solid"/>
          </a:ln>
        </p:spPr>
        <p:txBody>
          <a:bodyPr/>
          <a:lstStyle/>
          <a:p>
            <a:endParaRPr lang="en-US"/>
          </a:p>
        </p:txBody>
      </p:sp>
      <p:sp>
        <p:nvSpPr>
          <p:cNvPr id="6" name="step 1"/>
          <p:cNvSpPr/>
          <p:nvPr/>
        </p:nvSpPr>
        <p:spPr>
          <a:xfrm>
            <a:off x="731520" y="1627632"/>
            <a:ext cx="365760" cy="365760"/>
          </a:xfrm>
          <a:prstGeom prst="ellipse">
            <a:avLst/>
          </a:prstGeom>
          <a:solidFill>
            <a:schemeClr val="accent1"/>
          </a:solidFill>
          <a:ln/>
        </p:spPr>
        <p:txBody>
          <a:bodyPr/>
          <a:lstStyle/>
          <a:p>
            <a:endParaRPr lang="en-US"/>
          </a:p>
        </p:txBody>
      </p:sp>
      <p:sp>
        <p:nvSpPr>
          <p:cNvPr id="7" name="Text 4"/>
          <p:cNvSpPr txBox="1"/>
          <p:nvPr/>
        </p:nvSpPr>
        <p:spPr>
          <a:xfrm>
            <a:off x="731520" y="162763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8" name="Text 5"/>
          <p:cNvSpPr txBox="1"/>
          <p:nvPr/>
        </p:nvSpPr>
        <p:spPr>
          <a:xfrm>
            <a:off x="1207008" y="1627632"/>
            <a:ext cx="1828800" cy="365760"/>
          </a:xfrm>
          <a:prstGeom prst="rect">
            <a:avLst/>
          </a:prstGeom>
          <a:noFill/>
          <a:ln/>
        </p:spPr>
        <p:txBody>
          <a:bodyPr wrap="square" lIns="0" tIns="0" rIns="0" bIns="0" rtlCol="0" anchor="ctr"/>
          <a:lstStyle/>
          <a:p>
            <a:pPr marL="0" indent="0">
              <a:buNone/>
            </a:pPr>
            <a:r>
              <a:rPr lang="en-US" sz="1600" b="1" dirty="0">
                <a:solidFill>
                  <a:schemeClr val="tx1"/>
                </a:solidFill>
              </a:rPr>
              <a:t>Shadow mode</a:t>
            </a:r>
            <a:endParaRPr lang="en-US" sz="1600" dirty="0"/>
          </a:p>
        </p:txBody>
      </p:sp>
      <p:sp>
        <p:nvSpPr>
          <p:cNvPr id="9" name="Text 6"/>
          <p:cNvSpPr txBox="1"/>
          <p:nvPr/>
        </p:nvSpPr>
        <p:spPr>
          <a:xfrm>
            <a:off x="731520" y="2121408"/>
            <a:ext cx="2286000" cy="868680"/>
          </a:xfrm>
          <a:prstGeom prst="rect">
            <a:avLst/>
          </a:prstGeom>
          <a:noFill/>
          <a:ln/>
        </p:spPr>
        <p:txBody>
          <a:bodyPr wrap="square" lIns="0" tIns="0" rIns="0" bIns="0" rtlCol="0" anchor="t"/>
          <a:lstStyle/>
          <a:p>
            <a:pPr marL="0" indent="0">
              <a:buNone/>
            </a:pPr>
            <a:r>
              <a:rPr lang="en-US" sz="1300" dirty="0">
                <a:solidFill>
                  <a:srgbClr val="3D4552"/>
                </a:solidFill>
              </a:rPr>
              <a:t>Receives and reads everything, sends nothing. Compared daily with the staff's work.</a:t>
            </a:r>
            <a:endParaRPr lang="en-US" sz="1300" dirty="0"/>
          </a:p>
        </p:txBody>
      </p:sp>
      <p:sp>
        <p:nvSpPr>
          <p:cNvPr id="10" name="Shape 7"/>
          <p:cNvSpPr/>
          <p:nvPr/>
        </p:nvSpPr>
        <p:spPr>
          <a:xfrm>
            <a:off x="3182112" y="2263140"/>
            <a:ext cx="173736" cy="0"/>
          </a:xfrm>
          <a:prstGeom prst="line">
            <a:avLst/>
          </a:prstGeom>
          <a:noFill/>
          <a:ln w="15875">
            <a:solidFill>
              <a:schemeClr val="tx1"/>
            </a:solidFill>
            <a:prstDash val="solid"/>
            <a:tailEnd type="triangle"/>
          </a:ln>
        </p:spPr>
        <p:txBody>
          <a:bodyPr/>
          <a:lstStyle/>
          <a:p>
            <a:endParaRPr lang="en-US"/>
          </a:p>
        </p:txBody>
      </p:sp>
      <p:sp>
        <p:nvSpPr>
          <p:cNvPr id="11" name="Shop stock"/>
          <p:cNvSpPr/>
          <p:nvPr/>
        </p:nvSpPr>
        <p:spPr>
          <a:xfrm>
            <a:off x="3383280" y="1463040"/>
            <a:ext cx="2606040" cy="1600200"/>
          </a:xfrm>
          <a:prstGeom prst="roundRect">
            <a:avLst>
              <a:gd name="adj" fmla="val 4571"/>
            </a:avLst>
          </a:prstGeom>
          <a:solidFill>
            <a:schemeClr val="bg1"/>
          </a:solidFill>
          <a:ln w="9525">
            <a:solidFill>
              <a:srgbClr val="E3E6EB"/>
            </a:solidFill>
            <a:prstDash val="solid"/>
          </a:ln>
        </p:spPr>
        <p:txBody>
          <a:bodyPr/>
          <a:lstStyle/>
          <a:p>
            <a:endParaRPr lang="en-US"/>
          </a:p>
        </p:txBody>
      </p:sp>
      <p:sp>
        <p:nvSpPr>
          <p:cNvPr id="12" name="step 2"/>
          <p:cNvSpPr/>
          <p:nvPr/>
        </p:nvSpPr>
        <p:spPr>
          <a:xfrm>
            <a:off x="3566160" y="1627632"/>
            <a:ext cx="365760" cy="365760"/>
          </a:xfrm>
          <a:prstGeom prst="ellipse">
            <a:avLst/>
          </a:prstGeom>
          <a:solidFill>
            <a:schemeClr val="accent1"/>
          </a:solidFill>
          <a:ln/>
        </p:spPr>
        <p:txBody>
          <a:bodyPr/>
          <a:lstStyle/>
          <a:p>
            <a:endParaRPr lang="en-US"/>
          </a:p>
        </p:txBody>
      </p:sp>
      <p:sp>
        <p:nvSpPr>
          <p:cNvPr id="13" name="Text 10"/>
          <p:cNvSpPr txBox="1"/>
          <p:nvPr/>
        </p:nvSpPr>
        <p:spPr>
          <a:xfrm>
            <a:off x="3566160" y="162763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4" name="Text 11"/>
          <p:cNvSpPr txBox="1"/>
          <p:nvPr/>
        </p:nvSpPr>
        <p:spPr>
          <a:xfrm>
            <a:off x="4041648" y="1627632"/>
            <a:ext cx="1828800" cy="365760"/>
          </a:xfrm>
          <a:prstGeom prst="rect">
            <a:avLst/>
          </a:prstGeom>
          <a:noFill/>
          <a:ln/>
        </p:spPr>
        <p:txBody>
          <a:bodyPr wrap="square" lIns="0" tIns="0" rIns="0" bIns="0" rtlCol="0" anchor="ctr"/>
          <a:lstStyle/>
          <a:p>
            <a:pPr marL="0" indent="0">
              <a:buNone/>
            </a:pPr>
            <a:r>
              <a:rPr lang="en-US" sz="1600" b="1" dirty="0">
                <a:solidFill>
                  <a:schemeClr val="tx1"/>
                </a:solidFill>
              </a:rPr>
              <a:t>Shop stock</a:t>
            </a:r>
            <a:endParaRPr lang="en-US" sz="1600" dirty="0"/>
          </a:p>
        </p:txBody>
      </p:sp>
      <p:sp>
        <p:nvSpPr>
          <p:cNvPr id="15" name="Text 12"/>
          <p:cNvSpPr txBox="1"/>
          <p:nvPr/>
        </p:nvSpPr>
        <p:spPr>
          <a:xfrm>
            <a:off x="3566160" y="2121408"/>
            <a:ext cx="2286000" cy="868680"/>
          </a:xfrm>
          <a:prstGeom prst="rect">
            <a:avLst/>
          </a:prstGeom>
          <a:noFill/>
          <a:ln/>
        </p:spPr>
        <p:txBody>
          <a:bodyPr wrap="square" lIns="0" tIns="0" rIns="0" bIns="0" rtlCol="0" anchor="t"/>
          <a:lstStyle/>
          <a:p>
            <a:pPr marL="0" indent="0">
              <a:buNone/>
            </a:pPr>
            <a:r>
              <a:rPr lang="en-US" sz="1300" dirty="0">
                <a:solidFill>
                  <a:srgbClr val="3D4552"/>
                </a:solidFill>
              </a:rPr>
              <a:t>Glue pushes stock to the shop only. Staff keep everything else.</a:t>
            </a:r>
            <a:endParaRPr lang="en-US" sz="1300" dirty="0"/>
          </a:p>
        </p:txBody>
      </p:sp>
      <p:sp>
        <p:nvSpPr>
          <p:cNvPr id="16" name="Shape 13"/>
          <p:cNvSpPr/>
          <p:nvPr/>
        </p:nvSpPr>
        <p:spPr>
          <a:xfrm>
            <a:off x="6016752" y="2263140"/>
            <a:ext cx="173736" cy="0"/>
          </a:xfrm>
          <a:prstGeom prst="line">
            <a:avLst/>
          </a:prstGeom>
          <a:noFill/>
          <a:ln w="15875">
            <a:solidFill>
              <a:schemeClr val="tx1"/>
            </a:solidFill>
            <a:prstDash val="solid"/>
            <a:tailEnd type="triangle"/>
          </a:ln>
        </p:spPr>
        <p:txBody>
          <a:bodyPr/>
          <a:lstStyle/>
          <a:p>
            <a:endParaRPr lang="en-US"/>
          </a:p>
        </p:txBody>
      </p:sp>
      <p:sp>
        <p:nvSpPr>
          <p:cNvPr id="17" name="eMAG stock"/>
          <p:cNvSpPr/>
          <p:nvPr/>
        </p:nvSpPr>
        <p:spPr>
          <a:xfrm>
            <a:off x="6217920" y="1463040"/>
            <a:ext cx="2606040" cy="1600200"/>
          </a:xfrm>
          <a:prstGeom prst="roundRect">
            <a:avLst>
              <a:gd name="adj" fmla="val 4571"/>
            </a:avLst>
          </a:prstGeom>
          <a:solidFill>
            <a:schemeClr val="bg1"/>
          </a:solidFill>
          <a:ln w="9525">
            <a:solidFill>
              <a:srgbClr val="E3E6EB"/>
            </a:solidFill>
            <a:prstDash val="solid"/>
          </a:ln>
        </p:spPr>
        <p:txBody>
          <a:bodyPr/>
          <a:lstStyle/>
          <a:p>
            <a:endParaRPr lang="en-US"/>
          </a:p>
        </p:txBody>
      </p:sp>
      <p:sp>
        <p:nvSpPr>
          <p:cNvPr id="18" name="step 3"/>
          <p:cNvSpPr/>
          <p:nvPr/>
        </p:nvSpPr>
        <p:spPr>
          <a:xfrm>
            <a:off x="6400800" y="1627632"/>
            <a:ext cx="365760" cy="365760"/>
          </a:xfrm>
          <a:prstGeom prst="ellipse">
            <a:avLst/>
          </a:prstGeom>
          <a:solidFill>
            <a:schemeClr val="accent1"/>
          </a:solidFill>
          <a:ln/>
        </p:spPr>
        <p:txBody>
          <a:bodyPr/>
          <a:lstStyle/>
          <a:p>
            <a:endParaRPr lang="en-US"/>
          </a:p>
        </p:txBody>
      </p:sp>
      <p:sp>
        <p:nvSpPr>
          <p:cNvPr id="19" name="Text 16"/>
          <p:cNvSpPr txBox="1"/>
          <p:nvPr/>
        </p:nvSpPr>
        <p:spPr>
          <a:xfrm>
            <a:off x="6400800" y="162763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20" name="Text 17"/>
          <p:cNvSpPr txBox="1"/>
          <p:nvPr/>
        </p:nvSpPr>
        <p:spPr>
          <a:xfrm>
            <a:off x="6876288" y="1627632"/>
            <a:ext cx="1828800" cy="365760"/>
          </a:xfrm>
          <a:prstGeom prst="rect">
            <a:avLst/>
          </a:prstGeom>
          <a:noFill/>
          <a:ln/>
        </p:spPr>
        <p:txBody>
          <a:bodyPr wrap="square" lIns="0" tIns="0" rIns="0" bIns="0" rtlCol="0" anchor="ctr"/>
          <a:lstStyle/>
          <a:p>
            <a:pPr marL="0" indent="0">
              <a:buNone/>
            </a:pPr>
            <a:r>
              <a:rPr lang="en-US" sz="1600" b="1" dirty="0">
                <a:solidFill>
                  <a:schemeClr val="tx1"/>
                </a:solidFill>
              </a:rPr>
              <a:t>eMAG stock</a:t>
            </a:r>
            <a:endParaRPr lang="en-US" sz="1600" dirty="0"/>
          </a:p>
        </p:txBody>
      </p:sp>
      <p:sp>
        <p:nvSpPr>
          <p:cNvPr id="21" name="Text 18"/>
          <p:cNvSpPr txBox="1"/>
          <p:nvPr/>
        </p:nvSpPr>
        <p:spPr>
          <a:xfrm>
            <a:off x="6400800" y="2121408"/>
            <a:ext cx="2286000" cy="868680"/>
          </a:xfrm>
          <a:prstGeom prst="rect">
            <a:avLst/>
          </a:prstGeom>
          <a:noFill/>
          <a:ln/>
        </p:spPr>
        <p:txBody>
          <a:bodyPr wrap="square" lIns="0" tIns="0" rIns="0" bIns="0" rtlCol="0" anchor="t"/>
          <a:lstStyle/>
          <a:p>
            <a:pPr marL="0" indent="0">
              <a:buNone/>
            </a:pPr>
            <a:r>
              <a:rPr lang="en-US" sz="1300" dirty="0">
                <a:solidFill>
                  <a:srgbClr val="3D4552"/>
                </a:solidFill>
              </a:rPr>
              <a:t>Then eMAG. Oversell risk drops; eMAG's real rate limits are met here.</a:t>
            </a:r>
            <a:endParaRPr lang="en-US" sz="1300" dirty="0"/>
          </a:p>
        </p:txBody>
      </p:sp>
      <p:sp>
        <p:nvSpPr>
          <p:cNvPr id="22" name="Shape 19"/>
          <p:cNvSpPr/>
          <p:nvPr/>
        </p:nvSpPr>
        <p:spPr>
          <a:xfrm>
            <a:off x="8851392" y="2263140"/>
            <a:ext cx="173736" cy="0"/>
          </a:xfrm>
          <a:prstGeom prst="line">
            <a:avLst/>
          </a:prstGeom>
          <a:noFill/>
          <a:ln w="15875">
            <a:solidFill>
              <a:schemeClr val="tx1"/>
            </a:solidFill>
            <a:prstDash val="solid"/>
            <a:tailEnd type="triangle"/>
          </a:ln>
        </p:spPr>
        <p:txBody>
          <a:bodyPr/>
          <a:lstStyle/>
          <a:p>
            <a:endParaRPr lang="en-US"/>
          </a:p>
        </p:txBody>
      </p:sp>
      <p:sp>
        <p:nvSpPr>
          <p:cNvPr id="23" name="Orders"/>
          <p:cNvSpPr/>
          <p:nvPr/>
        </p:nvSpPr>
        <p:spPr>
          <a:xfrm>
            <a:off x="9052560" y="1463040"/>
            <a:ext cx="2606040" cy="1600200"/>
          </a:xfrm>
          <a:prstGeom prst="roundRect">
            <a:avLst>
              <a:gd name="adj" fmla="val 4571"/>
            </a:avLst>
          </a:prstGeom>
          <a:solidFill>
            <a:srgbClr val="E8EEFD"/>
          </a:solidFill>
          <a:ln w="9525">
            <a:solidFill>
              <a:srgbClr val="9DB4F0"/>
            </a:solidFill>
            <a:prstDash val="solid"/>
          </a:ln>
        </p:spPr>
        <p:txBody>
          <a:bodyPr/>
          <a:lstStyle/>
          <a:p>
            <a:endParaRPr lang="en-US"/>
          </a:p>
        </p:txBody>
      </p:sp>
      <p:sp>
        <p:nvSpPr>
          <p:cNvPr id="24" name="step 4"/>
          <p:cNvSpPr/>
          <p:nvPr/>
        </p:nvSpPr>
        <p:spPr>
          <a:xfrm>
            <a:off x="9235440" y="1627632"/>
            <a:ext cx="365760" cy="365760"/>
          </a:xfrm>
          <a:prstGeom prst="ellipse">
            <a:avLst/>
          </a:prstGeom>
          <a:solidFill>
            <a:schemeClr val="accent1"/>
          </a:solidFill>
          <a:ln/>
        </p:spPr>
        <p:txBody>
          <a:bodyPr/>
          <a:lstStyle/>
          <a:p>
            <a:endParaRPr lang="en-US"/>
          </a:p>
        </p:txBody>
      </p:sp>
      <p:sp>
        <p:nvSpPr>
          <p:cNvPr id="25" name="Text 22"/>
          <p:cNvSpPr txBox="1"/>
          <p:nvPr/>
        </p:nvSpPr>
        <p:spPr>
          <a:xfrm>
            <a:off x="9235440" y="162763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6" name="Text 23"/>
          <p:cNvSpPr txBox="1"/>
          <p:nvPr/>
        </p:nvSpPr>
        <p:spPr>
          <a:xfrm>
            <a:off x="9710928" y="1627632"/>
            <a:ext cx="1828800" cy="365760"/>
          </a:xfrm>
          <a:prstGeom prst="rect">
            <a:avLst/>
          </a:prstGeom>
          <a:noFill/>
          <a:ln/>
        </p:spPr>
        <p:txBody>
          <a:bodyPr wrap="square" lIns="0" tIns="0" rIns="0" bIns="0" rtlCol="0" anchor="ctr"/>
          <a:lstStyle/>
          <a:p>
            <a:pPr marL="0" indent="0">
              <a:buNone/>
            </a:pPr>
            <a:r>
              <a:rPr lang="en-US" sz="1600" b="1" dirty="0">
                <a:solidFill>
                  <a:schemeClr val="tx1"/>
                </a:solidFill>
              </a:rPr>
              <a:t>Orders</a:t>
            </a:r>
            <a:endParaRPr lang="en-US" sz="1600" dirty="0"/>
          </a:p>
        </p:txBody>
      </p:sp>
      <p:sp>
        <p:nvSpPr>
          <p:cNvPr id="27" name="Text 24"/>
          <p:cNvSpPr txBox="1"/>
          <p:nvPr/>
        </p:nvSpPr>
        <p:spPr>
          <a:xfrm>
            <a:off x="9235440" y="2121408"/>
            <a:ext cx="2286000" cy="868680"/>
          </a:xfrm>
          <a:prstGeom prst="rect">
            <a:avLst/>
          </a:prstGeom>
          <a:noFill/>
          <a:ln/>
        </p:spPr>
        <p:txBody>
          <a:bodyPr wrap="square" lIns="0" tIns="0" rIns="0" bIns="0" rtlCol="0" anchor="t"/>
          <a:lstStyle/>
          <a:p>
            <a:pPr marL="0" indent="0">
              <a:buNone/>
            </a:pPr>
            <a:r>
              <a:rPr lang="en-US" sz="1300" dirty="0">
                <a:solidFill>
                  <a:srgbClr val="3D4552"/>
                </a:solidFill>
              </a:rPr>
              <a:t>eMAG first, as it re-sends until confirmed, then the shop. The queue owner starts.</a:t>
            </a:r>
            <a:endParaRPr lang="en-US" sz="1300" dirty="0"/>
          </a:p>
        </p:txBody>
      </p:sp>
      <p:sp>
        <p:nvSpPr>
          <p:cNvPr id="28" name="Text 25"/>
          <p:cNvSpPr txBox="1"/>
          <p:nvPr/>
        </p:nvSpPr>
        <p:spPr>
          <a:xfrm>
            <a:off x="548640" y="3154680"/>
            <a:ext cx="11094415" cy="274320"/>
          </a:xfrm>
          <a:prstGeom prst="rect">
            <a:avLst/>
          </a:prstGeom>
          <a:noFill/>
          <a:ln/>
        </p:spPr>
        <p:txBody>
          <a:bodyPr wrap="square" lIns="0" tIns="0" rIns="0" bIns="0" rtlCol="0" anchor="t"/>
          <a:lstStyle/>
          <a:p>
            <a:pPr marL="0" indent="0">
              <a:buNone/>
            </a:pPr>
            <a:r>
              <a:rPr lang="en-US" sz="1200" dirty="0">
                <a:solidFill>
                  <a:schemeClr val="tx2"/>
                </a:solidFill>
              </a:rPr>
              <a:t>About a week per stage. Shadow mode and the per-stage switches are not built yet: each is a flag checked before Glue calls a system.</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5394960" cy="2103120"/>
        </p:xfrm>
        <a:graphic>
          <a:graphicData uri="http://schemas.openxmlformats.org/drawingml/2006/table">
            <a:tbl>
              <a:tblPr/>
              <a:tblGrid>
                <a:gridCol w="278892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402336">
                <a:tc>
                  <a:txBody>
                    <a:bodyPr/>
                    <a:lstStyle/>
                    <a:p>
                      <a:pPr marL="0" indent="0">
                        <a:buNone/>
                      </a:pPr>
                      <a:r>
                        <a:rPr lang="en-US" sz="1200" b="1" dirty="0">
                          <a:solidFill>
                            <a:srgbClr val="5B6472"/>
                          </a:solidFill>
                        </a:rPr>
                        <a:t>I chose</a:t>
                      </a:r>
                      <a:endParaRPr lang="en-US" sz="1200" dirty="0"/>
                    </a:p>
                  </a:txBody>
                  <a:tcPr marL="54864" marR="54864"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tc>
                  <a:txBody>
                    <a:bodyPr/>
                    <a:lstStyle/>
                    <a:p>
                      <a:pPr marL="0" indent="0">
                        <a:buNone/>
                      </a:pPr>
                      <a:r>
                        <a:rPr lang="en-US" sz="1200" b="1" dirty="0">
                          <a:solidFill>
                            <a:srgbClr val="5B6472"/>
                          </a:solidFill>
                        </a:rPr>
                        <a:t>It costs</a:t>
                      </a:r>
                      <a:endParaRPr lang="en-US" sz="1200" dirty="0"/>
                    </a:p>
                  </a:txBody>
                  <a:tcPr marL="54864" marR="54864" marT="0" marB="0"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solidFill>
                      <a:srgbClr val="F6F7F9"/>
                    </a:solidFill>
                  </a:tcPr>
                </a:tc>
                <a:extLst>
                  <a:ext uri="{0D108BD9-81ED-4DB2-BD59-A6C34878D82A}">
                    <a16:rowId xmlns:a16="http://schemas.microsoft.com/office/drawing/2014/main" val="10000"/>
                  </a:ext>
                </a:extLst>
              </a:tr>
              <a:tr h="402336">
                <a:tc>
                  <a:txBody>
                    <a:bodyPr/>
                    <a:lstStyle/>
                    <a:p>
                      <a:pPr marL="0" indent="0">
                        <a:buNone/>
                      </a:pPr>
                      <a:r>
                        <a:rPr lang="en-US" sz="1400" b="1" dirty="0">
                          <a:solidFill>
                            <a:schemeClr val="tx1"/>
                          </a:solidFill>
                        </a:rPr>
                        <a:t>SQLite and one process</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One writer, one instance</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400" b="1" dirty="0">
                          <a:solidFill>
                            <a:schemeClr val="tx1"/>
                          </a:solidFill>
                        </a:rPr>
                        <a:t>First to the warehouse wins</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Does not protect eMAG's rating</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400" b="1" dirty="0">
                          <a:solidFill>
                            <a:schemeClr val="tx1"/>
                          </a:solidFill>
                        </a:rPr>
                        <a:t>A person decides oversells</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Someone must watch the queue</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400" b="1" dirty="0">
                          <a:solidFill>
                            <a:schemeClr val="tx1"/>
                          </a:solidFill>
                        </a:rPr>
                        <a:t>Mocks, not sandboxes</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buNone/>
                      </a:pPr>
                      <a:r>
                        <a:rPr lang="en-US" sz="1400" dirty="0">
                          <a:solidFill>
                            <a:srgbClr val="3D4552"/>
                          </a:solidFill>
                        </a:rPr>
                        <a:t>Real API quirks are untested</a:t>
                      </a:r>
                      <a:endParaRPr lang="en-US" sz="1400" dirty="0"/>
                    </a:p>
                  </a:txBody>
                  <a:tcPr marL="54864" marR="54864" marT="0" marB="0"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0" name="success"/>
          <p:cNvSpPr/>
          <p:nvPr/>
        </p:nvSpPr>
        <p:spPr>
          <a:xfrm>
            <a:off x="6263640" y="3611880"/>
            <a:ext cx="5376672" cy="2011680"/>
          </a:xfrm>
          <a:prstGeom prst="roundRect">
            <a:avLst>
              <a:gd name="adj" fmla="val 3636"/>
            </a:avLst>
          </a:prstGeom>
          <a:solidFill>
            <a:schemeClr val="bg2"/>
          </a:solidFill>
          <a:ln/>
        </p:spPr>
        <p:txBody>
          <a:bodyPr/>
          <a:lstStyle/>
          <a:p>
            <a:endParaRPr lang="en-US"/>
          </a:p>
        </p:txBody>
      </p:sp>
      <p:sp>
        <p:nvSpPr>
          <p:cNvPr id="31" name="Text 29"/>
          <p:cNvSpPr txBox="1"/>
          <p:nvPr/>
        </p:nvSpPr>
        <p:spPr>
          <a:xfrm>
            <a:off x="6492240" y="3767328"/>
            <a:ext cx="4937760" cy="274320"/>
          </a:xfrm>
          <a:prstGeom prst="rect">
            <a:avLst/>
          </a:prstGeom>
          <a:noFill/>
          <a:ln/>
        </p:spPr>
        <p:txBody>
          <a:bodyPr wrap="square" lIns="0" tIns="0" rIns="0" bIns="0" rtlCol="0" anchor="t"/>
          <a:lstStyle/>
          <a:p>
            <a:pPr marL="0" indent="0">
              <a:buNone/>
            </a:pPr>
            <a:r>
              <a:rPr lang="en-US" sz="1500" b="1" dirty="0">
                <a:solidFill>
                  <a:schemeClr val="tx1"/>
                </a:solidFill>
              </a:rPr>
              <a:t>Success after 30 days</a:t>
            </a:r>
            <a:endParaRPr lang="en-US" sz="1500" dirty="0"/>
          </a:p>
        </p:txBody>
      </p:sp>
      <p:sp>
        <p:nvSpPr>
          <p:cNvPr id="32" name="Text 30"/>
          <p:cNvSpPr txBox="1"/>
          <p:nvPr/>
        </p:nvSpPr>
        <p:spPr>
          <a:xfrm>
            <a:off x="6492240" y="4114800"/>
            <a:ext cx="498348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3D4552"/>
                </a:solidFill>
              </a:rPr>
              <a:t>Missed orders: zero, and Flow shows no lost orders</a:t>
            </a:r>
            <a:endParaRPr lang="en-US" sz="1300" dirty="0"/>
          </a:p>
          <a:p>
            <a:pPr marL="177800" indent="-177800">
              <a:spcAft>
                <a:spcPts val="500"/>
              </a:spcAft>
              <a:buSzPct val="100000"/>
              <a:buChar char="•"/>
            </a:pPr>
            <a:r>
              <a:rPr lang="en-US" sz="1300" dirty="0">
                <a:solidFill>
                  <a:srgbClr val="3D4552"/>
                </a:solidFill>
              </a:rPr>
              <a:t>Oversells well below the baseline</a:t>
            </a:r>
            <a:endParaRPr lang="en-US" sz="1300" dirty="0"/>
          </a:p>
          <a:p>
            <a:pPr marL="177800" indent="-177800">
              <a:spcAft>
                <a:spcPts val="500"/>
              </a:spcAft>
              <a:buSzPct val="100000"/>
              <a:buChar char="•"/>
            </a:pPr>
            <a:r>
              <a:rPr lang="en-US" sz="1300" dirty="0">
                <a:solidFill>
                  <a:srgbClr val="3D4552"/>
                </a:solidFill>
              </a:rPr>
              <a:t>eMAG seller cancellation rate inside eMAG's threshold</a:t>
            </a:r>
            <a:endParaRPr lang="en-US" sz="1300" dirty="0"/>
          </a:p>
          <a:p>
            <a:pPr marL="177800" indent="-177800">
              <a:spcAft>
                <a:spcPts val="500"/>
              </a:spcAft>
              <a:buSzPct val="100000"/>
              <a:buChar char="•"/>
            </a:pPr>
            <a:r>
              <a:rPr lang="en-US" sz="1300" dirty="0">
                <a:solidFill>
                  <a:srgbClr val="3D4552"/>
                </a:solidFill>
              </a:rPr>
              <a:t>Oldest open review item under 30 min in business hours</a:t>
            </a:r>
            <a:endParaRPr lang="en-US" sz="1300" dirty="0"/>
          </a:p>
        </p:txBody>
      </p:sp>
      <p:sp>
        <p:nvSpPr>
          <p:cNvPr id="33"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20</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37744"/>
          </a:xfrm>
          <a:prstGeom prst="rect">
            <a:avLst/>
          </a:prstGeom>
          <a:noFill/>
          <a:ln/>
        </p:spPr>
        <p:txBody>
          <a:bodyPr wrap="square" lIns="0" tIns="0" rIns="0" bIns="0" rtlCol="0" anchor="t"/>
          <a:lstStyle/>
          <a:p>
            <a:pPr marL="0" indent="0" algn="l">
              <a:buNone/>
            </a:pPr>
            <a:r>
              <a:rPr lang="en-US" sz="1100" b="1" dirty="0">
                <a:solidFill>
                  <a:schemeClr val="tx2"/>
                </a:solidFill>
                <a:latin typeface="Courier New" pitchFamily="34" charset="0"/>
                <a:ea typeface="Courier New" pitchFamily="34" charset="-122"/>
                <a:cs typeface="Courier New" pitchFamily="34" charset="-120"/>
              </a:rPr>
              <a:t>LIVE DEMO</a:t>
            </a:r>
            <a:endParaRPr lang="en-US" sz="1100" dirty="0"/>
          </a:p>
        </p:txBody>
      </p:sp>
      <p:sp>
        <p:nvSpPr>
          <p:cNvPr id="3" name="Text 0"/>
          <p:cNvSpPr>
            <a:spLocks noGrp="1"/>
          </p:cNvSpPr>
          <p:nvPr>
            <p:ph type="title" idx="101" hasCustomPrompt="1"/>
          </p:nvPr>
        </p:nvSpPr>
        <p:spPr>
          <a:xfrm>
            <a:off x="548640" y="621792"/>
            <a:ext cx="11094415" cy="640080"/>
          </a:xfrm>
          <a:prstGeom prst="rect">
            <a:avLst/>
          </a:prstGeom>
          <a:noFill/>
          <a:ln/>
        </p:spPr>
        <p:txBody>
          <a:bodyPr wrap="square" lIns="0" tIns="0" rIns="0" bIns="0" rtlCol="0" anchor="t"/>
          <a:lstStyle/>
          <a:p>
            <a:pPr marL="0" indent="0" algn="l">
              <a:buNone/>
            </a:pPr>
            <a:r>
              <a:rPr lang="en-US" sz="3200" b="1" dirty="0">
                <a:solidFill>
                  <a:schemeClr val="tx1"/>
                </a:solidFill>
              </a:rPr>
              <a:t>Five minutes, on the real screens</a:t>
            </a:r>
            <a:endParaRPr lang="en-US" sz="3200" dirty="0"/>
          </a:p>
        </p:txBody>
      </p:sp>
      <p:sp>
        <p:nvSpPr>
          <p:cNvPr id="4" name="step 1"/>
          <p:cNvSpPr/>
          <p:nvPr/>
        </p:nvSpPr>
        <p:spPr>
          <a:xfrm>
            <a:off x="548640" y="1554480"/>
            <a:ext cx="384048" cy="384048"/>
          </a:xfrm>
          <a:prstGeom prst="ellipse">
            <a:avLst/>
          </a:prstGeom>
          <a:solidFill>
            <a:schemeClr val="tx1"/>
          </a:solidFill>
          <a:ln/>
        </p:spPr>
        <p:txBody>
          <a:bodyPr/>
          <a:lstStyle/>
          <a:p>
            <a:endParaRPr lang="en-US"/>
          </a:p>
        </p:txBody>
      </p:sp>
      <p:sp>
        <p:nvSpPr>
          <p:cNvPr id="5" name="Text 3"/>
          <p:cNvSpPr txBox="1"/>
          <p:nvPr/>
        </p:nvSpPr>
        <p:spPr>
          <a:xfrm>
            <a:off x="548640" y="15544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Text 4"/>
          <p:cNvSpPr txBox="1"/>
          <p:nvPr/>
        </p:nvSpPr>
        <p:spPr>
          <a:xfrm>
            <a:off x="1097280" y="1463040"/>
            <a:ext cx="1463040" cy="566928"/>
          </a:xfrm>
          <a:prstGeom prst="rect">
            <a:avLst/>
          </a:prstGeom>
          <a:noFill/>
          <a:ln/>
        </p:spPr>
        <p:txBody>
          <a:bodyPr wrap="square" lIns="0" tIns="0" rIns="0" bIns="0" rtlCol="0" anchor="ctr"/>
          <a:lstStyle/>
          <a:p>
            <a:pPr marL="0" indent="0">
              <a:buNone/>
            </a:pPr>
            <a:r>
              <a:rPr lang="en-US" sz="1500" b="1" dirty="0">
                <a:solidFill>
                  <a:schemeClr val="tx1"/>
                </a:solidFill>
              </a:rPr>
              <a:t>Live map</a:t>
            </a:r>
            <a:endParaRPr lang="en-US" sz="1500" dirty="0"/>
          </a:p>
        </p:txBody>
      </p:sp>
      <p:sp>
        <p:nvSpPr>
          <p:cNvPr id="7" name="Text 5"/>
          <p:cNvSpPr txBox="1"/>
          <p:nvPr/>
        </p:nvSpPr>
        <p:spPr>
          <a:xfrm>
            <a:off x="2606040" y="1463040"/>
            <a:ext cx="3611880" cy="566928"/>
          </a:xfrm>
          <a:prstGeom prst="rect">
            <a:avLst/>
          </a:prstGeom>
          <a:noFill/>
          <a:ln/>
        </p:spPr>
        <p:txBody>
          <a:bodyPr wrap="square" lIns="0" tIns="0" rIns="0" bIns="0" rtlCol="0" anchor="ctr"/>
          <a:lstStyle/>
          <a:p>
            <a:pPr marL="0" indent="0">
              <a:buNone/>
            </a:pPr>
            <a:r>
              <a:rPr lang="en-US" sz="1300" dirty="0">
                <a:solidFill>
                  <a:srgbClr val="3D4552"/>
                </a:solidFill>
              </a:rPr>
              <a:t>Traffic is on: orders flow, stock follows.</a:t>
            </a:r>
            <a:endParaRPr lang="en-US" sz="1300" dirty="0"/>
          </a:p>
        </p:txBody>
      </p:sp>
      <p:sp>
        <p:nvSpPr>
          <p:cNvPr id="8" name="Text 6"/>
          <p:cNvSpPr txBox="1"/>
          <p:nvPr/>
        </p:nvSpPr>
        <p:spPr>
          <a:xfrm>
            <a:off x="6217920" y="1463040"/>
            <a:ext cx="502920" cy="566928"/>
          </a:xfrm>
          <a:prstGeom prst="rect">
            <a:avLst/>
          </a:prstGeom>
          <a:noFill/>
          <a:ln/>
        </p:spPr>
        <p:txBody>
          <a:bodyPr wrap="square" lIns="0" tIns="0" rIns="0" bIns="0" rtlCol="0" anchor="ctr"/>
          <a:lstStyle/>
          <a:p>
            <a:pPr marL="0" indent="0" algn="r">
              <a:buNone/>
            </a:pPr>
            <a:r>
              <a:rPr lang="en-US" sz="1200" dirty="0">
                <a:solidFill>
                  <a:schemeClr val="tx2"/>
                </a:solidFill>
              </a:rPr>
              <a:t>30 s</a:t>
            </a:r>
            <a:endParaRPr lang="en-US" sz="1200" dirty="0"/>
          </a:p>
        </p:txBody>
      </p:sp>
      <p:sp>
        <p:nvSpPr>
          <p:cNvPr id="9" name="step 2"/>
          <p:cNvSpPr/>
          <p:nvPr/>
        </p:nvSpPr>
        <p:spPr>
          <a:xfrm>
            <a:off x="548640" y="2286000"/>
            <a:ext cx="384048" cy="384048"/>
          </a:xfrm>
          <a:prstGeom prst="ellipse">
            <a:avLst/>
          </a:prstGeom>
          <a:solidFill>
            <a:schemeClr val="tx1"/>
          </a:solidFill>
          <a:ln/>
        </p:spPr>
        <p:txBody>
          <a:bodyPr/>
          <a:lstStyle/>
          <a:p>
            <a:endParaRPr lang="en-US"/>
          </a:p>
        </p:txBody>
      </p:sp>
      <p:sp>
        <p:nvSpPr>
          <p:cNvPr id="10" name="Text 8"/>
          <p:cNvSpPr txBox="1"/>
          <p:nvPr/>
        </p:nvSpPr>
        <p:spPr>
          <a:xfrm>
            <a:off x="548640" y="228600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1097280" y="2194560"/>
            <a:ext cx="1463040" cy="566928"/>
          </a:xfrm>
          <a:prstGeom prst="rect">
            <a:avLst/>
          </a:prstGeom>
          <a:noFill/>
          <a:ln/>
        </p:spPr>
        <p:txBody>
          <a:bodyPr wrap="square" lIns="0" tIns="0" rIns="0" bIns="0" rtlCol="0" anchor="ctr"/>
          <a:lstStyle/>
          <a:p>
            <a:pPr marL="0" indent="0">
              <a:buNone/>
            </a:pPr>
            <a:r>
              <a:rPr lang="en-US" sz="1500" b="1" dirty="0">
                <a:solidFill>
                  <a:schemeClr val="tx1"/>
                </a:solidFill>
              </a:rPr>
              <a:t>Duplicate</a:t>
            </a:r>
            <a:endParaRPr lang="en-US" sz="1500" dirty="0"/>
          </a:p>
        </p:txBody>
      </p:sp>
      <p:sp>
        <p:nvSpPr>
          <p:cNvPr id="12" name="Text 10"/>
          <p:cNvSpPr txBox="1"/>
          <p:nvPr/>
        </p:nvSpPr>
        <p:spPr>
          <a:xfrm>
            <a:off x="2606040" y="2194560"/>
            <a:ext cx="3611880" cy="566928"/>
          </a:xfrm>
          <a:prstGeom prst="rect">
            <a:avLst/>
          </a:prstGeom>
          <a:noFill/>
          <a:ln/>
        </p:spPr>
        <p:txBody>
          <a:bodyPr wrap="square" lIns="0" tIns="0" rIns="0" bIns="0" rtlCol="0" anchor="ctr"/>
          <a:lstStyle/>
          <a:p>
            <a:pPr marL="0" indent="0">
              <a:buNone/>
            </a:pPr>
            <a:r>
              <a:rPr lang="en-US" sz="1300" dirty="0">
                <a:solidFill>
                  <a:srgbClr val="3D4552"/>
                </a:solidFill>
              </a:rPr>
              <a:t>Send the same order twice: one order, one duplicate ignored.</a:t>
            </a:r>
            <a:endParaRPr lang="en-US" sz="1300" dirty="0"/>
          </a:p>
        </p:txBody>
      </p:sp>
      <p:sp>
        <p:nvSpPr>
          <p:cNvPr id="13" name="Text 11"/>
          <p:cNvSpPr txBox="1"/>
          <p:nvPr/>
        </p:nvSpPr>
        <p:spPr>
          <a:xfrm>
            <a:off x="6217920" y="2194560"/>
            <a:ext cx="502920" cy="566928"/>
          </a:xfrm>
          <a:prstGeom prst="rect">
            <a:avLst/>
          </a:prstGeom>
          <a:noFill/>
          <a:ln/>
        </p:spPr>
        <p:txBody>
          <a:bodyPr wrap="square" lIns="0" tIns="0" rIns="0" bIns="0" rtlCol="0" anchor="ctr"/>
          <a:lstStyle/>
          <a:p>
            <a:pPr marL="0" indent="0" algn="r">
              <a:buNone/>
            </a:pPr>
            <a:r>
              <a:rPr lang="en-US" sz="1200" dirty="0">
                <a:solidFill>
                  <a:schemeClr val="tx2"/>
                </a:solidFill>
              </a:rPr>
              <a:t>30 s</a:t>
            </a:r>
            <a:endParaRPr lang="en-US" sz="1200" dirty="0"/>
          </a:p>
        </p:txBody>
      </p:sp>
      <p:sp>
        <p:nvSpPr>
          <p:cNvPr id="14" name="step 3"/>
          <p:cNvSpPr/>
          <p:nvPr/>
        </p:nvSpPr>
        <p:spPr>
          <a:xfrm>
            <a:off x="548640" y="3017520"/>
            <a:ext cx="384048" cy="384048"/>
          </a:xfrm>
          <a:prstGeom prst="ellipse">
            <a:avLst/>
          </a:prstGeom>
          <a:solidFill>
            <a:schemeClr val="tx1"/>
          </a:solidFill>
          <a:ln/>
        </p:spPr>
        <p:txBody>
          <a:bodyPr/>
          <a:lstStyle/>
          <a:p>
            <a:endParaRPr lang="en-US"/>
          </a:p>
        </p:txBody>
      </p:sp>
      <p:sp>
        <p:nvSpPr>
          <p:cNvPr id="15" name="Text 13"/>
          <p:cNvSpPr txBox="1"/>
          <p:nvPr/>
        </p:nvSpPr>
        <p:spPr>
          <a:xfrm>
            <a:off x="548640" y="301752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Text 14"/>
          <p:cNvSpPr txBox="1"/>
          <p:nvPr/>
        </p:nvSpPr>
        <p:spPr>
          <a:xfrm>
            <a:off x="1097280" y="2926080"/>
            <a:ext cx="1463040" cy="566928"/>
          </a:xfrm>
          <a:prstGeom prst="rect">
            <a:avLst/>
          </a:prstGeom>
          <a:noFill/>
          <a:ln/>
        </p:spPr>
        <p:txBody>
          <a:bodyPr wrap="square" lIns="0" tIns="0" rIns="0" bIns="0" rtlCol="0" anchor="ctr"/>
          <a:lstStyle/>
          <a:p>
            <a:pPr marL="0" indent="0">
              <a:buNone/>
            </a:pPr>
            <a:r>
              <a:rPr lang="en-US" sz="1500" b="1" dirty="0">
                <a:solidFill>
                  <a:schemeClr val="tx1"/>
                </a:solidFill>
              </a:rPr>
              <a:t>Outage</a:t>
            </a:r>
            <a:endParaRPr lang="en-US" sz="1500" dirty="0"/>
          </a:p>
        </p:txBody>
      </p:sp>
      <p:sp>
        <p:nvSpPr>
          <p:cNvPr id="17" name="Text 15"/>
          <p:cNvSpPr txBox="1"/>
          <p:nvPr/>
        </p:nvSpPr>
        <p:spPr>
          <a:xfrm>
            <a:off x="2606040" y="2926080"/>
            <a:ext cx="3611880" cy="566928"/>
          </a:xfrm>
          <a:prstGeom prst="rect">
            <a:avLst/>
          </a:prstGeom>
          <a:noFill/>
          <a:ln/>
        </p:spPr>
        <p:txBody>
          <a:bodyPr wrap="square" lIns="0" tIns="0" rIns="0" bIns="0" rtlCol="0" anchor="ctr"/>
          <a:lstStyle/>
          <a:p>
            <a:pPr marL="0" indent="0">
              <a:buNone/>
            </a:pPr>
            <a:r>
              <a:rPr lang="en-US" sz="1300" dirty="0">
                <a:solidFill>
                  <a:srgbClr val="3D4552"/>
                </a:solidFill>
              </a:rPr>
              <a:t>Stop answering: retries honour Retry-After, then review. Bring it back, Retry all.</a:t>
            </a:r>
            <a:endParaRPr lang="en-US" sz="1300" dirty="0"/>
          </a:p>
        </p:txBody>
      </p:sp>
      <p:sp>
        <p:nvSpPr>
          <p:cNvPr id="18" name="Text 16"/>
          <p:cNvSpPr txBox="1"/>
          <p:nvPr/>
        </p:nvSpPr>
        <p:spPr>
          <a:xfrm>
            <a:off x="6217920" y="2926080"/>
            <a:ext cx="502920" cy="566928"/>
          </a:xfrm>
          <a:prstGeom prst="rect">
            <a:avLst/>
          </a:prstGeom>
          <a:noFill/>
          <a:ln/>
        </p:spPr>
        <p:txBody>
          <a:bodyPr wrap="square" lIns="0" tIns="0" rIns="0" bIns="0" rtlCol="0" anchor="ctr"/>
          <a:lstStyle/>
          <a:p>
            <a:pPr marL="0" indent="0" algn="r">
              <a:buNone/>
            </a:pPr>
            <a:r>
              <a:rPr lang="en-US" sz="1200" dirty="0">
                <a:solidFill>
                  <a:schemeClr val="tx2"/>
                </a:solidFill>
              </a:rPr>
              <a:t>75 s</a:t>
            </a:r>
            <a:endParaRPr lang="en-US" sz="1200" dirty="0"/>
          </a:p>
        </p:txBody>
      </p:sp>
      <p:sp>
        <p:nvSpPr>
          <p:cNvPr id="19" name="step 4"/>
          <p:cNvSpPr/>
          <p:nvPr/>
        </p:nvSpPr>
        <p:spPr>
          <a:xfrm>
            <a:off x="548640" y="3749040"/>
            <a:ext cx="384048" cy="384048"/>
          </a:xfrm>
          <a:prstGeom prst="ellipse">
            <a:avLst/>
          </a:prstGeom>
          <a:solidFill>
            <a:schemeClr val="tx1"/>
          </a:solidFill>
          <a:ln/>
        </p:spPr>
        <p:txBody>
          <a:bodyPr/>
          <a:lstStyle/>
          <a:p>
            <a:endParaRPr lang="en-US"/>
          </a:p>
        </p:txBody>
      </p:sp>
      <p:sp>
        <p:nvSpPr>
          <p:cNvPr id="20" name="Text 18"/>
          <p:cNvSpPr txBox="1"/>
          <p:nvPr/>
        </p:nvSpPr>
        <p:spPr>
          <a:xfrm>
            <a:off x="548640" y="374904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1" name="Text 19"/>
          <p:cNvSpPr txBox="1"/>
          <p:nvPr/>
        </p:nvSpPr>
        <p:spPr>
          <a:xfrm>
            <a:off x="1097280" y="3657600"/>
            <a:ext cx="1463040" cy="566928"/>
          </a:xfrm>
          <a:prstGeom prst="rect">
            <a:avLst/>
          </a:prstGeom>
          <a:noFill/>
          <a:ln/>
        </p:spPr>
        <p:txBody>
          <a:bodyPr wrap="square" lIns="0" tIns="0" rIns="0" bIns="0" rtlCol="0" anchor="ctr"/>
          <a:lstStyle/>
          <a:p>
            <a:pPr marL="0" indent="0">
              <a:buNone/>
            </a:pPr>
            <a:r>
              <a:rPr lang="en-US" sz="1500" b="1" dirty="0">
                <a:solidFill>
                  <a:schemeClr val="tx1"/>
                </a:solidFill>
              </a:rPr>
              <a:t>Oversell</a:t>
            </a:r>
            <a:endParaRPr lang="en-US" sz="1500" dirty="0"/>
          </a:p>
        </p:txBody>
      </p:sp>
      <p:sp>
        <p:nvSpPr>
          <p:cNvPr id="22" name="Text 20"/>
          <p:cNvSpPr txBox="1"/>
          <p:nvPr/>
        </p:nvSpPr>
        <p:spPr>
          <a:xfrm>
            <a:off x="2606040" y="3657600"/>
            <a:ext cx="3611880" cy="566928"/>
          </a:xfrm>
          <a:prstGeom prst="rect">
            <a:avLst/>
          </a:prstGeom>
          <a:noFill/>
          <a:ln/>
        </p:spPr>
        <p:txBody>
          <a:bodyPr wrap="square" lIns="0" tIns="0" rIns="0" bIns="0" rtlCol="0" anchor="ctr"/>
          <a:lstStyle/>
          <a:p>
            <a:pPr marL="0" indent="0">
              <a:buNone/>
            </a:pPr>
            <a:r>
              <a:rPr lang="en-US" sz="1300" dirty="0">
                <a:solidFill>
                  <a:srgbClr val="3D4552"/>
                </a:solidFill>
              </a:rPr>
              <a:t>Last MacBook, eMAG ignores stock: sold on both, the second goes to review. Cancel on eMAG, confirm.</a:t>
            </a:r>
            <a:endParaRPr lang="en-US" sz="1300" dirty="0"/>
          </a:p>
        </p:txBody>
      </p:sp>
      <p:sp>
        <p:nvSpPr>
          <p:cNvPr id="23" name="Text 21"/>
          <p:cNvSpPr txBox="1"/>
          <p:nvPr/>
        </p:nvSpPr>
        <p:spPr>
          <a:xfrm>
            <a:off x="6217920" y="3657600"/>
            <a:ext cx="502920" cy="566928"/>
          </a:xfrm>
          <a:prstGeom prst="rect">
            <a:avLst/>
          </a:prstGeom>
          <a:noFill/>
          <a:ln/>
        </p:spPr>
        <p:txBody>
          <a:bodyPr wrap="square" lIns="0" tIns="0" rIns="0" bIns="0" rtlCol="0" anchor="ctr"/>
          <a:lstStyle/>
          <a:p>
            <a:pPr marL="0" indent="0" algn="r">
              <a:buNone/>
            </a:pPr>
            <a:r>
              <a:rPr lang="en-US" sz="1200" dirty="0">
                <a:solidFill>
                  <a:schemeClr val="tx2"/>
                </a:solidFill>
              </a:rPr>
              <a:t>75 s</a:t>
            </a:r>
            <a:endParaRPr lang="en-US" sz="1200" dirty="0"/>
          </a:p>
        </p:txBody>
      </p:sp>
      <p:sp>
        <p:nvSpPr>
          <p:cNvPr id="24" name="step 5"/>
          <p:cNvSpPr/>
          <p:nvPr/>
        </p:nvSpPr>
        <p:spPr>
          <a:xfrm>
            <a:off x="548640" y="4480560"/>
            <a:ext cx="384048" cy="384048"/>
          </a:xfrm>
          <a:prstGeom prst="ellipse">
            <a:avLst/>
          </a:prstGeom>
          <a:solidFill>
            <a:schemeClr val="tx1"/>
          </a:solidFill>
          <a:ln/>
        </p:spPr>
        <p:txBody>
          <a:bodyPr/>
          <a:lstStyle/>
          <a:p>
            <a:endParaRPr lang="en-US"/>
          </a:p>
        </p:txBody>
      </p:sp>
      <p:sp>
        <p:nvSpPr>
          <p:cNvPr id="25" name="Text 23"/>
          <p:cNvSpPr txBox="1"/>
          <p:nvPr/>
        </p:nvSpPr>
        <p:spPr>
          <a:xfrm>
            <a:off x="548640" y="448056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6" name="Text 24"/>
          <p:cNvSpPr txBox="1"/>
          <p:nvPr/>
        </p:nvSpPr>
        <p:spPr>
          <a:xfrm>
            <a:off x="1097280" y="4389120"/>
            <a:ext cx="1463040" cy="566928"/>
          </a:xfrm>
          <a:prstGeom prst="rect">
            <a:avLst/>
          </a:prstGeom>
          <a:noFill/>
          <a:ln/>
        </p:spPr>
        <p:txBody>
          <a:bodyPr wrap="square" lIns="0" tIns="0" rIns="0" bIns="0" rtlCol="0" anchor="ctr"/>
          <a:lstStyle/>
          <a:p>
            <a:pPr marL="0" indent="0">
              <a:buNone/>
            </a:pPr>
            <a:r>
              <a:rPr lang="en-US" sz="1500" b="1" dirty="0">
                <a:solidFill>
                  <a:schemeClr val="tx1"/>
                </a:solidFill>
              </a:rPr>
              <a:t>Partial batch</a:t>
            </a:r>
            <a:endParaRPr lang="en-US" sz="1500" dirty="0"/>
          </a:p>
        </p:txBody>
      </p:sp>
      <p:sp>
        <p:nvSpPr>
          <p:cNvPr id="27" name="Text 25"/>
          <p:cNvSpPr txBox="1"/>
          <p:nvPr/>
        </p:nvSpPr>
        <p:spPr>
          <a:xfrm>
            <a:off x="2606040" y="4389120"/>
            <a:ext cx="3611880" cy="566928"/>
          </a:xfrm>
          <a:prstGeom prst="rect">
            <a:avLst/>
          </a:prstGeom>
          <a:noFill/>
          <a:ln/>
        </p:spPr>
        <p:txBody>
          <a:bodyPr wrap="square" lIns="0" tIns="0" rIns="0" bIns="0" rtlCol="0" anchor="ctr"/>
          <a:lstStyle/>
          <a:p>
            <a:pPr marL="0" indent="0">
              <a:buNone/>
            </a:pPr>
            <a:r>
              <a:rPr lang="en-US" sz="1300" dirty="0">
                <a:solidFill>
                  <a:srgbClr val="3D4552"/>
                </a:solidFill>
              </a:rPr>
              <a:t>eMAG refuses one product: one row dirty, the rest applied, healed next run.</a:t>
            </a:r>
            <a:endParaRPr lang="en-US" sz="1300" dirty="0"/>
          </a:p>
        </p:txBody>
      </p:sp>
      <p:sp>
        <p:nvSpPr>
          <p:cNvPr id="28" name="Text 26"/>
          <p:cNvSpPr txBox="1"/>
          <p:nvPr/>
        </p:nvSpPr>
        <p:spPr>
          <a:xfrm>
            <a:off x="6217920" y="4389120"/>
            <a:ext cx="502920" cy="566928"/>
          </a:xfrm>
          <a:prstGeom prst="rect">
            <a:avLst/>
          </a:prstGeom>
          <a:noFill/>
          <a:ln/>
        </p:spPr>
        <p:txBody>
          <a:bodyPr wrap="square" lIns="0" tIns="0" rIns="0" bIns="0" rtlCol="0" anchor="ctr"/>
          <a:lstStyle/>
          <a:p>
            <a:pPr marL="0" indent="0" algn="r">
              <a:buNone/>
            </a:pPr>
            <a:r>
              <a:rPr lang="en-US" sz="1200" dirty="0">
                <a:solidFill>
                  <a:schemeClr val="tx2"/>
                </a:solidFill>
              </a:rPr>
              <a:t>40 s</a:t>
            </a:r>
            <a:endParaRPr lang="en-US" sz="1200" dirty="0"/>
          </a:p>
        </p:txBody>
      </p:sp>
      <p:sp>
        <p:nvSpPr>
          <p:cNvPr id="29" name="step 6"/>
          <p:cNvSpPr/>
          <p:nvPr/>
        </p:nvSpPr>
        <p:spPr>
          <a:xfrm>
            <a:off x="548640" y="5212080"/>
            <a:ext cx="384048" cy="384048"/>
          </a:xfrm>
          <a:prstGeom prst="ellipse">
            <a:avLst/>
          </a:prstGeom>
          <a:solidFill>
            <a:schemeClr val="tx1"/>
          </a:solidFill>
          <a:ln/>
        </p:spPr>
        <p:txBody>
          <a:bodyPr/>
          <a:lstStyle/>
          <a:p>
            <a:endParaRPr lang="en-US"/>
          </a:p>
        </p:txBody>
      </p:sp>
      <p:sp>
        <p:nvSpPr>
          <p:cNvPr id="30" name="Text 28"/>
          <p:cNvSpPr txBox="1"/>
          <p:nvPr/>
        </p:nvSpPr>
        <p:spPr>
          <a:xfrm>
            <a:off x="548640" y="52120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31" name="Text 29"/>
          <p:cNvSpPr txBox="1"/>
          <p:nvPr/>
        </p:nvSpPr>
        <p:spPr>
          <a:xfrm>
            <a:off x="1097280" y="5120640"/>
            <a:ext cx="1463040" cy="566928"/>
          </a:xfrm>
          <a:prstGeom prst="rect">
            <a:avLst/>
          </a:prstGeom>
          <a:noFill/>
          <a:ln/>
        </p:spPr>
        <p:txBody>
          <a:bodyPr wrap="square" lIns="0" tIns="0" rIns="0" bIns="0" rtlCol="0" anchor="ctr"/>
          <a:lstStyle/>
          <a:p>
            <a:pPr marL="0" indent="0">
              <a:buNone/>
            </a:pPr>
            <a:r>
              <a:rPr lang="en-US" sz="1500" b="1" dirty="0">
                <a:solidFill>
                  <a:schemeClr val="tx1"/>
                </a:solidFill>
              </a:rPr>
              <a:t>Timeline</a:t>
            </a:r>
            <a:endParaRPr lang="en-US" sz="1500" dirty="0"/>
          </a:p>
        </p:txBody>
      </p:sp>
      <p:sp>
        <p:nvSpPr>
          <p:cNvPr id="32" name="Text 30"/>
          <p:cNvSpPr txBox="1"/>
          <p:nvPr/>
        </p:nvSpPr>
        <p:spPr>
          <a:xfrm>
            <a:off x="2606040" y="5120640"/>
            <a:ext cx="3611880" cy="566928"/>
          </a:xfrm>
          <a:prstGeom prst="rect">
            <a:avLst/>
          </a:prstGeom>
          <a:noFill/>
          <a:ln/>
        </p:spPr>
        <p:txBody>
          <a:bodyPr wrap="square" lIns="0" tIns="0" rIns="0" bIns="0" rtlCol="0" anchor="ctr"/>
          <a:lstStyle/>
          <a:p>
            <a:pPr marL="0" indent="0">
              <a:buNone/>
            </a:pPr>
            <a:r>
              <a:rPr lang="en-US" sz="1300" dirty="0">
                <a:solidFill>
                  <a:srgbClr val="3D4552"/>
                </a:solidFill>
              </a:rPr>
              <a:t>Open the order's history, then ask the assistant about it.</a:t>
            </a:r>
            <a:endParaRPr lang="en-US" sz="1300" dirty="0"/>
          </a:p>
        </p:txBody>
      </p:sp>
      <p:sp>
        <p:nvSpPr>
          <p:cNvPr id="33" name="Text 31"/>
          <p:cNvSpPr txBox="1"/>
          <p:nvPr/>
        </p:nvSpPr>
        <p:spPr>
          <a:xfrm>
            <a:off x="6217920" y="5120640"/>
            <a:ext cx="502920" cy="566928"/>
          </a:xfrm>
          <a:prstGeom prst="rect">
            <a:avLst/>
          </a:prstGeom>
          <a:noFill/>
          <a:ln/>
        </p:spPr>
        <p:txBody>
          <a:bodyPr wrap="square" lIns="0" tIns="0" rIns="0" bIns="0" rtlCol="0" anchor="ctr"/>
          <a:lstStyle/>
          <a:p>
            <a:pPr marL="0" indent="0" algn="r">
              <a:buNone/>
            </a:pPr>
            <a:r>
              <a:rPr lang="en-US" sz="1200" dirty="0">
                <a:solidFill>
                  <a:schemeClr val="tx2"/>
                </a:solidFill>
              </a:rPr>
              <a:t>30 s</a:t>
            </a:r>
            <a:endParaRPr lang="en-US" sz="1200" dirty="0"/>
          </a:p>
        </p:txBody>
      </p:sp>
      <p:pic>
        <p:nvPicPr>
          <p:cNvPr id="34" name="Image 0" descr="Demo controls page: warehouse, recount, shop, eMAG, security, simulation and sample history cards"/>
          <p:cNvPicPr>
            <a:picLocks noChangeAspect="1"/>
          </p:cNvPicPr>
          <p:nvPr/>
        </p:nvPicPr>
        <p:blipFill>
          <a:blip r:embed="rId3"/>
          <a:stretch>
            <a:fillRect/>
          </a:stretch>
        </p:blipFill>
        <p:spPr>
          <a:xfrm>
            <a:off x="7086600" y="1463040"/>
            <a:ext cx="4553712" cy="2428646"/>
          </a:xfrm>
          <a:prstGeom prst="rect">
            <a:avLst/>
          </a:prstGeom>
        </p:spPr>
      </p:pic>
      <p:sp>
        <p:nvSpPr>
          <p:cNvPr id="35" name="frame"/>
          <p:cNvSpPr/>
          <p:nvPr/>
        </p:nvSpPr>
        <p:spPr>
          <a:xfrm>
            <a:off x="7086600" y="1463040"/>
            <a:ext cx="4553712" cy="2428646"/>
          </a:xfrm>
          <a:prstGeom prst="rect">
            <a:avLst/>
          </a:prstGeom>
          <a:noFill/>
          <a:ln w="9525">
            <a:solidFill>
              <a:srgbClr val="E3E6EB"/>
            </a:solidFill>
            <a:prstDash val="solid"/>
          </a:ln>
        </p:spPr>
        <p:txBody>
          <a:bodyPr/>
          <a:lstStyle/>
          <a:p>
            <a:endParaRPr lang="en-US"/>
          </a:p>
        </p:txBody>
      </p:sp>
      <p:sp>
        <p:nvSpPr>
          <p:cNvPr id="36" name="run"/>
          <p:cNvSpPr/>
          <p:nvPr/>
        </p:nvSpPr>
        <p:spPr>
          <a:xfrm>
            <a:off x="7086600" y="4120286"/>
            <a:ext cx="4553712" cy="960120"/>
          </a:xfrm>
          <a:prstGeom prst="roundRect">
            <a:avLst>
              <a:gd name="adj" fmla="val 7619"/>
            </a:avLst>
          </a:prstGeom>
          <a:solidFill>
            <a:srgbClr val="F1F3F6"/>
          </a:solidFill>
          <a:ln/>
        </p:spPr>
        <p:txBody>
          <a:bodyPr/>
          <a:lstStyle/>
          <a:p>
            <a:endParaRPr lang="en-US"/>
          </a:p>
        </p:txBody>
      </p:sp>
      <p:sp>
        <p:nvSpPr>
          <p:cNvPr id="37" name="Text 34"/>
          <p:cNvSpPr txBox="1"/>
          <p:nvPr/>
        </p:nvSpPr>
        <p:spPr>
          <a:xfrm>
            <a:off x="7269480" y="4120286"/>
            <a:ext cx="4206240" cy="960120"/>
          </a:xfrm>
          <a:prstGeom prst="rect">
            <a:avLst/>
          </a:prstGeom>
          <a:noFill/>
          <a:ln/>
        </p:spPr>
        <p:txBody>
          <a:bodyPr wrap="square" lIns="0" tIns="0" rIns="0" bIns="0" rtlCol="0" anchor="ctr"/>
          <a:lstStyle/>
          <a:p>
            <a:pPr marL="0" indent="0">
              <a:buNone/>
            </a:pPr>
            <a:r>
              <a:rPr lang="en-US" sz="1200" b="1" dirty="0">
                <a:solidFill>
                  <a:schemeClr val="tx1"/>
                </a:solidFill>
                <a:latin typeface="Courier New" pitchFamily="34" charset="0"/>
                <a:ea typeface="Courier New" pitchFamily="34" charset="-122"/>
                <a:cs typeface="Courier New" pitchFamily="34" charset="-120"/>
              </a:rPr>
              <a:t>docker compose up --build</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:8000 Glue   :8001 shop</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:8002 eMAG   :8003 warehouse</a:t>
            </a:r>
            <a:endParaRPr lang="en-US" sz="1200" dirty="0"/>
          </a:p>
        </p:txBody>
      </p:sp>
      <p:sp>
        <p:nvSpPr>
          <p:cNvPr id="38" name="Text 35"/>
          <p:cNvSpPr txBox="1"/>
          <p:nvPr/>
        </p:nvSpPr>
        <p:spPr>
          <a:xfrm>
            <a:off x="7086600" y="5217566"/>
            <a:ext cx="4553712" cy="777240"/>
          </a:xfrm>
          <a:prstGeom prst="rect">
            <a:avLst/>
          </a:prstGeom>
          <a:noFill/>
          <a:ln/>
        </p:spPr>
        <p:txBody>
          <a:bodyPr wrap="square" lIns="0" tIns="0" rIns="0" bIns="0" rtlCol="0" anchor="t"/>
          <a:lstStyle/>
          <a:p>
            <a:pPr marL="0" indent="0">
              <a:buNone/>
            </a:pPr>
            <a:r>
              <a:rPr lang="en-US" sz="1300" b="1" dirty="0">
                <a:solidFill>
                  <a:schemeClr val="tx1"/>
                </a:solidFill>
              </a:rPr>
              <a:t>If a step misbehaves: </a:t>
            </a:r>
            <a:r>
              <a:rPr lang="en-US" sz="1300" dirty="0">
                <a:solidFill>
                  <a:srgbClr val="3D4552"/>
                </a:solidFill>
              </a:rPr>
              <a:t>Turn every fault off.</a:t>
            </a:r>
            <a:endParaRPr lang="en-US" sz="1300" dirty="0"/>
          </a:p>
          <a:p>
            <a:pPr marL="0" indent="0">
              <a:buNone/>
            </a:pPr>
            <a:r>
              <a:rPr lang="en-US" sz="1300" b="1" dirty="0">
                <a:solidFill>
                  <a:schemeClr val="tx1"/>
                </a:solidFill>
              </a:rPr>
              <a:t>Clean start, after down: </a:t>
            </a:r>
            <a:endParaRPr lang="en-US" sz="1300" dirty="0"/>
          </a:p>
          <a:p>
            <a:pPr marL="0" indent="0">
              <a:buNone/>
            </a:pPr>
            <a:r>
              <a:rPr lang="en-US" sz="1200" dirty="0">
                <a:solidFill>
                  <a:schemeClr val="tx1"/>
                </a:solidFill>
                <a:latin typeface="Courier New" pitchFamily="34" charset="0"/>
                <a:ea typeface="Courier New" pitchFamily="34" charset="-122"/>
                <a:cs typeface="Courier New" pitchFamily="34" charset="-120"/>
              </a:rPr>
              <a:t>docker volume rm glueservice_glue-data</a:t>
            </a:r>
            <a:endParaRPr lang="en-US" sz="1300" dirty="0"/>
          </a:p>
        </p:txBody>
      </p:sp>
      <p:sp>
        <p:nvSpPr>
          <p:cNvPr id="39" name="Slide Number Placeholder 0"/>
          <p:cNvSpPr>
            <a:spLocks noGrp="1"/>
          </p:cNvSpPr>
          <p:nvPr>
            <p:ph type="sldNum" sz="quarter" idx="4294967295"/>
          </p:nvPr>
        </p:nvSpPr>
        <p:spPr>
          <a:xfrm>
            <a:off x="11183112" y="6446520"/>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8A93A1"/>
                </a:solidFill>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ADB Glue">
  <a:themeElements>
    <a:clrScheme name="ADB Glue">
      <a:dk1>
        <a:srgbClr val="0F1115"/>
      </a:dk1>
      <a:lt1>
        <a:srgbClr val="FFFFFF"/>
      </a:lt1>
      <a:dk2>
        <a:srgbClr val="5B6472"/>
      </a:dk2>
      <a:lt2>
        <a:srgbClr val="F6F7F9"/>
      </a:lt2>
      <a:accent1>
        <a:srgbClr val="1D4ED8"/>
      </a:accent1>
      <a:accent2>
        <a:srgbClr val="B7791F"/>
      </a:accent2>
      <a:accent3>
        <a:srgbClr val="6B2F7E"/>
      </a:accent3>
      <a:accent4>
        <a:srgbClr val="8A5A2B"/>
      </a:accent4>
      <a:accent5>
        <a:srgbClr val="B42318"/>
      </a:accent5>
      <a:accent6>
        <a:srgbClr val="127A4B"/>
      </a:accent6>
      <a:hlink>
        <a:srgbClr val="1D4ED8"/>
      </a:hlink>
      <a:folHlink>
        <a:srgbClr val="5B6472"/>
      </a:folHlink>
    </a:clrScheme>
    <a:fontScheme name="ADB Glu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10498</Words>
  <Application>Microsoft Macintosh PowerPoint</Application>
  <PresentationFormat>Widescreen</PresentationFormat>
  <Paragraphs>646</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Courier New</vt:lpstr>
      <vt:lpstr>ADB Glue</vt:lpstr>
      <vt:lpstr>ADB Glue Service</vt:lpstr>
      <vt:lpstr>The customer and the problem</vt:lpstr>
      <vt:lpstr>What the glue does</vt:lpstr>
      <vt:lpstr>Architecture</vt:lpstr>
      <vt:lpstr>Technologies, and why each one</vt:lpstr>
      <vt:lpstr>A shop order, with retries</vt:lpstr>
      <vt:lpstr>An eMAG order: notify, read, reserve, acknowledge</vt:lpstr>
      <vt:lpstr>Stock: pull the truth, push it everywhere</vt:lpstr>
      <vt:lpstr>The oversell, decided by a person</vt:lpstr>
      <vt:lpstr>Retries and partial failures</vt:lpstr>
      <vt:lpstr>Idempotency and security</vt:lpstr>
      <vt:lpstr>Observability: what on-call looks at</vt:lpstr>
      <vt:lpstr>Scale: measured, and where it breaks first</vt:lpstr>
      <vt:lpstr>The local model explains; it never acts</vt:lpstr>
      <vt:lpstr>Overview: the live map</vt:lpstr>
      <vt:lpstr>The review queue and Flow analytics</vt:lpstr>
      <vt:lpstr>Three mock systems, shaped like the real ones</vt:lpstr>
      <vt:lpstr>How it was built</vt:lpstr>
      <vt:lpstr>Trade-offs and limitations</vt:lpstr>
      <vt:lpstr>Rolling it out</vt:lpstr>
      <vt:lpstr>Five minutes, on the real screens</vt:lpstr>
      <vt:lpstr>Questions I expect (1 of 2)</vt:lpstr>
      <vt:lpstr>Questions I expect (2 of 2)</vt:lpstr>
      <vt:lpstr>Order and review item states</vt:lpstr>
      <vt:lpstr>Component map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ADB Glue Service</dc:title>
  <dc:subject>PptxGenJS Presentation</dc:subject>
  <dc:creator>Pantelimon Gulie</dc:creator>
  <cp:lastModifiedBy>Pantelimon Gulie</cp:lastModifiedBy>
  <cp:revision>2</cp:revision>
  <dcterms:created xsi:type="dcterms:W3CDTF">2026-10-23T11:14:45Z</dcterms:created>
  <dcterms:modified xsi:type="dcterms:W3CDTF">2026-10-24T16:40:47Z</dcterms:modified>
</cp:coreProperties>
</file>