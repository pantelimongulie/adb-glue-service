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359e56d-2570-46e0-2b80-b220fad36d15}">
          <p14:sldIdLst>
            <p14:sldId id="256"/>
          </p14:sldIdLst>
        </p14:section>
        <p14:section name="Context" id="{3d92cb76-3c80-8fa2-7fec-4b7e94c2039f}">
          <p14:sldIdLst>
            <p14:sldId id="257"/>
            <p14:sldId id="258"/>
          </p14:sldIdLst>
        </p14:section>
        <p14:section name="Design" id="{9e81b974-71b4-5736-4798-a79d57669222}">
          <p14:sldIdLst>
            <p14:sldId id="259"/>
            <p14:sldId id="260"/>
          </p14:sldIdLst>
        </p14:section>
        <p14:section name="How it works" id="{53c2e35c-3b1f-e928-48aa-167e6e5e25db}">
          <p14:sldIdLst>
            <p14:sldId id="261"/>
            <p14:sldId id="262"/>
            <p14:sldId id="263"/>
          </p14:sldIdLst>
        </p14:section>
        <p14:section name="Robustness" id="{1e63b782-d108-baa6-b8ea-d74e901fb329}">
          <p14:sldIdLst>
            <p14:sldId id="264"/>
            <p14:sldId id="265"/>
            <p14:sldId id="266"/>
          </p14:sldIdLst>
        </p14:section>
        <p14:section name="Operations" id="{562b87b7-2e99-f8bc-5f1b-b6615f3ca32a}">
          <p14:sldIdLst>
            <p14:sldId id="267"/>
            <p14:sldId id="268"/>
            <p14:sldId id="269"/>
          </p14:sldIdLst>
        </p14:section>
        <p14:section name="Product" id="{777e4464-bf30-58f2-e9da-d0b006c9d292}">
          <p14:sldIdLst>
            <p14:sldId id="270"/>
            <p14:sldId id="271"/>
            <p14:sldId id="272"/>
          </p14:sldIdLst>
        </p14:section>
        <p14:section name="Process" id="{c9654afd-1c8b-09c9-4a40-75ded1745131}">
          <p14:sldIdLst>
            <p14:sldId id="273"/>
            <p14:sldId id="274"/>
          </p14:sldIdLst>
        </p14:section>
        <p14:section name="Rollout" id="{efb08fca-4056-f039-ccf3-dce1fd5063a9}">
          <p14:sldIdLst>
            <p14:sldId id="275"/>
          </p14:sldIdLst>
        </p14:section>
        <p14:section name="Demo" id="{43b3be5b-5109-6755-45c3-98b2f8a1cbbc}">
          <p14:sldIdLst>
            <p14:sldId id="276"/>
          </p14:sldIdLst>
        </p14:section>
        <p14:section name="Backup" id="{a68109d1-000a-3fc1-1ef8-8a883e8719e3}">
          <p14:sldIdLst>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line about me, then the plan: about 35 minutes of slides with a 5-minute live demo, then the code and your questions.
- The scenario is my choice: a Romanian electronics reseller with its own Adobe Commerce shop, the eMAG Marketplace, and one warehouse in Bucharest.
- The brief was a glue service that keeps systems in sync and handles conflicts, retries and partial failures.
- The picture on this slide is the whole idea: every order reaches the warehouse once, the warehouse's true stock goes back to both channels, and a person decides what is not safe to decide automatically.
- Everything runs locally with Docker Compose. The shop, eMAG and the warehouse are mocks shaped like the real APIs.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customer sells Apple products in Romania through two channels: Electronic Market, its own Adobe Commerce store, and the eMAG Marketplace. One warehouse in Bucharest serves both.
- Today nothing connects them. A person copies orders into the warehouse system and types stock figures back into both channels a few times a day.
- The painful case is the last unit: it sells on both channels within minutes, and one customer has paid for something that does not exist.
- eMAG measures the seller's cancellation rate and penalises sellers who cancel too often, so every oversell on eMAG costs more than the one sale.
- So the job is not just moving data. It is moving it once, keeping stock honest, and being careful with paid 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picture: orders come in from both channels as they happen. The glue reserves each one at the warehouse exactly once.
- After every change it pushes the warehouse's true figure back to both channels, and it repeats that every 10 seconds so drift heals on its own.
- Duplicates, outages and slow systems are handled without anyone watching.
- When it cannot decide safely, for example the warehouse refuses an order a customer already paid for, it does not guess. It puts the order in a review queue with the reason, and a person picks.
- Those three promises are what the rest of the talk backs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Four services from one Docker image: the three mocks and the glue, plus the Ollama container for the local model.
- The glue is one FastAPI process with one SQLite file. Inside, the work is split so each job has exactly one owner.
- Inbox: checks the HMAC signature and the schema, saves the event and answers 202. Nothing is processed inside the request, so nothing is lost if processing fails.
- Worker: claims pending events, up to 10 at a time, and runs events for the same order one at a time.
- Router: the only code that changes an order's status. Reconciler: the only code that pushes stock. One retry policy wraps every outbound call.
- Review queue: what the glue will not decide alone. Audit log: one row per step with a correlation id, mirrored as a JSON log line.
- The React dashboard is built once and served by the same FastAPI process over a JSON API with sessions, roles and a CSRF header.
- The warehouse owns the truth. The channels only show what the glue last told them.
- Detailed diagrams (component map, both order sequences, the oversell, order and review item states) are in docs/presentation/diagrams and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Python and FastAPI: one language everywhere, and pydantic models validate every inbound payload strictly at the edge.
- httpx: explicit timeouts on every call, and its ASGI transport lets the tests run all four apps in one process with no network.
- SQLite: the glue needs durability more than throughput. The inbox, orders and audit log survive restarts with no extra service. The schema is versioned with PRAGMA user_version and an ordered list of migrations.
- React and TypeScript: the dashboard is the operator's product, with live views, so a typed SPA is worth it. TanStack Query does the polling and caching, Recharts the Flow charts, cmdk the command palette.
- Ollama through the OpenAI SDK: a local model, no key, no order data leaving the machine. The same SDK can point at a hosted model later.
- Not used, on purpose: a broker, Postgres, an ORM, websockets, a hosted model. Each has a clear trigger for when I would add it, which I cover on the scaling slide.
- Test counts are after the final fix wave, as in the README: 227 backend, 222 frontend.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shop, shaped like Adobe Commerce, sends order.placed with an event id and an HMAC signature. The inbox verifies it, validates it, saves it and answers 202.
- The worker claims pending events and takes a lock for that order id, so two events for the same order never run at the same time.
- The router reserves at the warehouse with the glue's order id as the Idempotency-Key. If the warehouse reserved but the reply was lost, the retry gets the first answer back.
- The middle row and the screenshot are the same pattern: the warehouse answers 503 with Retry-After 2, the glue waits exactly that, and every wait is a row in the order's history, in plain words.
- Three outcomes. 201: reserved and stock pushed. 409: the warehouse has none, so it goes to review as sold out. Still failing after 5 tries: review as a warehouse outage, which Retry, Retry all, or the auto-retry rule can clear once the warehouse answers. Only the warehouse not answering counts as an outage; a channel that ran out of tries is filed under other.
- The order in the screenshot was later given a suggestion, retried by admin and reserved, and its stock pushes follow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eMAG is pull-based: the notification carries only the order id and type, so the glue reads the full order through the authenticated API.
- The inbox makes the event id from the order id and type, because eMAG notifications have no id of their own. A repeat is answered 202 and dropped.
- Then the same path as the shop: reserve with the order id as the Idempotency-Key, then acknowledge, which moves the eMAG order to in progress and stops re-sending.
- eMAG re-notifies until acknowledged. That is its at-least-once delivery, and the glue leans on it: if reading, reserving or acknowledging fails, the event is marked failed and goes back to pending on the next notification.
- The order id stops a second reservation, and once the redelivered event goes through, Glue closes the review item the failure had opened, so the queue never offers to cancel a healthy order.
- The status order/read returns decides what happens, not the notification's type: status 0 cancels the order like a shop cancel, and a cancel notice for an order eMAG still shows open changes nothing (recorded as cancel_ignored). So a forged or stale notice can at most trigger a read.
- The log on the right is the marketplace mock's own API activity, read from the bottom: the callback to Glue for a new order, Glue reading it with order/read, the stock batches that follow the reservation, then order/acknowledge. The full sequence, including a failed acknowledge, is in docs/presentation/diagrams/flow-emag-order.png.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warehouse owns stock. Its figure, on hand minus reserved, is the truth; the channels only show what the glue last told them.
- The reconciler runs at startup, every 10 seconds, after every reservation or cancellation, and on every recount event. Runs hold one lock, so a slower run cannot overwrite a newer figure.
- It pushes every product on every run, even when the cache says nothing changed. That costs a few calls and heals any drift: a missed event, a restarted channel, a rejected update.
- eMAG's batch API answers per item. In the table eMAG refused the MacBook Air update: that one row is marked dirty, the other five applied, and the next run fixes it. A rate limit (429 with Retry-After 1) works the same way after its retries.
- The Stock page shows what Glue last sent each channel and whether the channel accepted it. Honest limit: Glue knows what a channel accepted, not what it shows; reading eMAG's offers back during reconcile would close that.
- The stock buffer rule can hold units back from one channel, so the last unit sells on the shop only. It is off by default; it is a business decision.
- A recount below reserved caps both channels at 0. Glue works out how many units are short and sends only the newest reserved orders that cover the shortfall to review, under 'Shelf count too low'. A later count that covers them closes those items by itself. Retry is not offered there, because those orders still hold a reservation.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conflict that matters is the cross-channel oversell: both channels show the last unit for a moment and two customers pay for it.
- The rule is first to reach the warehouse wins. The warehouse's reservation is atomic, so exactly one order gets the unit and the other gets 409. Neither channel is preferred.
- The loser is a paid order. Cancelling it is a business decision: maybe stock arrives tomorrow, maybe the customer takes another model, and on eMAG the cancellation counts against the seller's rating.
- So the glue does the safe part: it reserves nothing it cannot fill, never offers below zero, acknowledges the order on eMAG because it exists there either way, and queues it with the reason.
- The card says what happened in plain words, what Glue saw, which order got the unit, and what each button will do. Cancel asks for a confirm first (Yes, cancel it). Actions depend on the order's state: Retry only from the state the failed step left it in, Cancel unless shipped or cancelled.
- Suggest an action asks the local model for a triage suggestion on this card. The rule is in code, the model writes the reason, and it never acts.
- Each decision is recorded under the signed-in user, and only operator and admin roles may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Every outbound call goes through one function, glue/retry.py, so the behaviour is the same everywhere and tested once.
- Retry-After wins when the server sends it, because the server knows best. It is read as seconds or an HTTP date and capped at 30 seconds: waiting holds a worker slot, and a longer outage belongs in the review queue. Anything unreadable falls back to back-off.
- 4xx answers are not retried: a 409 is a business answer and the caller decides what it means.
- Partial failures split into two kinds: those that heal themselves on the next run or the next notification, and those that need a person, which always land in the review queue.
- Three gaps an independent analysis found and the hardening wave closed: a ship notice the channel never got now has a Retry; a decision cut short by a crash is marked acting and settled on the next start; an item made moot by a later success is closed by Glue.
- Same-order events and decisions take one lock, so two cancels in one batch cancel once. At scale this becomes workers partitioned by order id.
- Only the Bucharest warehouse not answering counts as an outage; a channel that ran out of tries is filed under other. Retry all and the auto-retry rule act on outage items only, and Retry all waits until the warehouse is working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Duplicates are expected from every source: Adobe documents at-least-once, unordered delivery; eMAG re-notifies by design. So the glue removes them at three layers, each assuming the one above can fail.
- Layer 1: the inbox key is the source plus the event id. Event ids are only unique per sender, so a shop event cannot pre-occupy an id eMAG will use.
- Layer 2: orders are keyed by channel and channel order id. One exception: an order stuck in received with nothing sending it means the glue stopped mid-allocation, so it is sent again, and layer 3 makes that safe.
- Layer 3: the reservation carries the order id as Idempotency-Key. Refusals are not remembered, so a retry after stock returns can succeed.
- Security: the signature covers the event id and the body, so a captured body cannot be replayed under a fresh id. eMAG notifications carry no id of their own; the glue derives it from the signed body. Real Adobe I/O Events uses its own public-key signature; the real connector would verify that.
- Roles are a FastAPI dependency on each route, so a viewer posting a decision gets 403 whatever the page shows. Real sign-in would come from the customer's identity provider.
- The assistant and triage only read. There is no tool that writes, so text hidden in order data can at worst produce a wrong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Every audit row has a correlation id: the inbound event id, run-&lt;time&gt; for a reconcile run, review-&lt;id&gt; for a decision. One grep follows a piece of work across retries and stock pushes.
- Each order has a page with its full timeline, and the activity log filters by order, product or correlation id.
- GET /metrics, for a signed-in viewer, returns counters plus the gauges in the top row: inbox pending, processing and failed with the oldest pending age; dirty stock rows and the oldest; open and acting review items and the oldest open; whether the warehouse is down; and the last good reconcile.
- /health is liveness only: it pings the database and calls no other system, because restarting Glue does not fix a channel that is down. Compose uses it as the health check. Each system's state is on the signed-in Overview.
- The alerts, as sentences: page when the oldest pending event is older than 60 seconds (the worker is stuck or overwhelmed), when the warehouse has been down for 5 minutes (orders pile up in review), or when the last good reconcile is older than three intervals while the warehouse is up. Warn when a channel's stock has been behind for 5 minutes, when a review item has waited 30 minutes in business hours, when an item stays acting for 5 minutes (a decision stuck in a request), on any failed inbox event, and on any rejected signature. Thresholds are starting points to agree with the customer; the alerting itself is not built here.
- The sidebar, the live map and Settings show each system as working, slow, limiting requests or not answering. A 429 Glue met in the last 30 seconds marks a system as limiting requests even when its health check passes.
- The Flow page answers the business questions: how many orders, how many reserved first time, how many retried or failed, and the typical and slowest 5% time from order to reserved. Orders lost is counted, not shown as a fixed zero: placed orders that failed or never got a row, with no review item still waiting.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python -m scripts.load_probe sends signed shop orders through the real inbox, runs the real worker loop with 10 slots against the mock warehouse in the same process, and reads timings from the audit log.
- On this laptop: 300 orders, inbox 3,829 events/s, worker 526 orders/s, p50 0.31 s and p95 0.53 s from received to reserved. 1,000 orders: inbox 4,413 events/s, worker 528 orders/s, p50 1.03 s and p95 1.78 s. Every order reserved once, no duplicates.
- Where the time goes: queue wait. The probe accepts every order before the worker starts, so latency grows with the batch while throughput stays near 527 per second.
- Measuring found a bug: the first run showed the production loop capped at about 20 orders per second, because it slept for the poll interval whenever all slots were busy. The fix (commit 267009e) waits for the first slot to free and claims the next event at once, with a test for it; that raised it to about 527 per second.
- Honest caveat: no network and a mock warehouse, so real numbers are bounded by the real warehouse and eMAG, not by the glue.
- First bottleneck at real volume is eMAG's rate limit, because every stock change triggers a push. Coalescing pushes for a second turns a flash sale into a few calls instead of hundreds.
- The reconcile pull reads every product every 10 seconds: fine for six products, not for 20,000. Changed products only, with a slow full sweep as the safety net.
- Then, only when needed: the inbox becomes a real queue or Postgres with SKIP LOCKED, several workers partitioned by order id (handlers are already idempotent), one reconciler via an advisory lock, and a circuit breaker so a dead warehouse fails fast instead of holding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runs locally in Ollama: qwen2.5:3b, downloaded once in the background, about 2 GB. Everything else works while it downloads; on a fresh clone the Assistant page says 'Downloading the local model, about 2 GB, one time' with a progress bar, and the triage and ask buttons say why they wait.
- Each question starts with a block of live facts built in code: each system's state, what waits for a person by cause, the last hour's counts, a stock line for every product, and the orders that failed in the last hour. Then a tool loop over five read-only lookups: system health, a summary, the review items (their plain cause, never the stored reason text), one order with its timeline, and stock by product name. It runs at temperature 0, answers with product names and Bucharest time, and lists the lookups it used.
- Honest about quality: a 3B model is often vague and sometimes wrong. The common questions were right in the last measured runs; answers still vary a little between runs.
- Triage decides nothing and runs no tool loop. The rule is decided in code from the facts: for example, the warehouse is answering again, so retry; or the warehouse cannot cover this order, so cancel. The model only writes the explanation the operator reads.
- The suggestion is kept only if it is one of the actions the item allows, and dropped if the reasoning talks about a different order; sentences that name internal tools or fields are dropped too. It is stored on the item, audited as triage_suggested, and it never acts.
- Why a small local model: no key, no order data leaving the machine, no cost. The budgets exist for when this points at a paid model, and the daily budget follows the business day, so it resets at midnight in Bucharest. I would not lead with them.
- Would I ship it? As an explainer, yes. As a decider, no: a stronger model could be given the open choice later, still behind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operator's home page. The top row counts orders in, duplicates ignored, reserved, retries, failures, and what waits for a person. Today, Last 7 days and This month start at midnight in Bucharest (the business timezone), and every time on the dashboard is Bucharest time.
- The live map shows the same four systems as the architecture slide. Each dot is one real event moving through the glue, coloured by what happened: order in, reserved, retrying, duplicate, stock update.
- The boxes and the sidebar show each system's state: working, slow, limiting requests or not answering, with its response time.
- Below, not in the crop: the latest activity, what waits for a person by cause, and free stock against the last figure Glue sent each channel, for all six products.
- The command palette (Cmd K) jumps to any order, product or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Flow answers the business questions over any period: order messages received, duplicates ignored, sent to the warehouse, reserved first time, reserved after a retry, not reserved and sent to review. Days are cut at midnight in Bucharest.
- Below this crop: a panel per system (including orders lost, counted rather than shown as a fixed zero), orders with problems per day, p50 and p95 time to reserve, a table by product, and why orders failed. It compares with the previous period and exports CSV.
- The screenshot uses the sample history, 30 days of made-up orders, so the charts have something to show. It is clearly labelled in the UI and can be cleared.
- The review queue groups items by cause: warehouse outage, sold out, shelf count too low, other. Only the warehouse not answering is an outage. Retry all works on outages only, and only while the warehouse is working; until then it waits and says why.
- Also in the console: orders with their timelines, stock against each channel, the activity log and the assistant.
- Admin pages: demo controls, two rules (a stock buffer per channel, and auto-retry, which retries only outage items once the warehouse answers again), live settings for the retry policy, reconcile interval and AI limits, and users with their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three systems around the glue are mocks, each with a page for a person and an API shaped like the real system's.
- The shop copies Adobe Commerce's at-least-once events with an event id. The marketplace copies the parts of eMAG's Marketplace API v4 the logic depends on: notify with the id only, re-notify every 20 s until acknowledged, numeric statuses, and batch stock updates that succeed or fail per item. It is labelled as a stand-in, not affiliated.
- The warehouse owns stock, reserves atomically, replays the first answer for a repeated Idempotency-Key, and refuses with 409 when short. It sends shipped and recount events.
- Each mock has fault switches, so every failure mode can be shown on demand. The cost: real API quirks such as exact rate limits are untested. I would start the real project against their sandboxes.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treated this like a small customer engagement. First the requirement, then a scenario I could defend: Adobe Commerce plus eMAG plus one warehouse, with the real delivery rules researched before writing code (at-least-once events, eMAG's acknowledge, batch results per item).
- Design first: HTML mockups of every dashboard screen and the three mocks were agreed before any code. They are the spec the UI was checked against.
- A written plan with small tasks and acceptance checks, sync core first. Each task was built, then reviewed by someone who had not written it, with fix rounds until the review came back clean.
- When the branch was feature-complete, an independent analysis looked at it fresh. It reproduced eight gaps in the sync core as failing tests: for example a ship notice with no retry path, a crash during a decision, stale review items, and an unsafe Retry-After. The hardening wave fixed each one test-first. The new load probe then found the worker loop capped at about 20 orders per second, which was fixed the same way.
- Then a final whole-branch review and a last fix wave: plain-word reasons everywhere, Bucharest business days, an outage cause that covers only the warehouse, auto-retry only for outage items, a confirm before cancelling. Then browser QA at several screen widths and a run from a fresh clone, including the first-run model download. 227 backend and 222 frontend tests at the end.
- A mutation check keeps the tests honest: 18 bugs planted one at a time (dedupe off, Retry-After uncapped, no per-order lock, event id left out of the signature, CSRF header not checked, and others), and the backend suite fails for each. The first version of that check missed two webhook rules; tests were added until every planted bug was caught.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SQLite and one process: the inbox table behaves like a queue and survives restarts, which is all one shop needs. The cost is one writer and no second instance; the code is shaped so the inbox can become a real queue without touching handlers.
- Pulling stock every 10 seconds costs a few calls but corrects anything events missed.
- First come wins is simple and explainable. It does not protect eMAG's rating; the stock buffer rule does, at the cost of selling less, which is why it is a switch for the business.
- Glue knows what a channel accepted, not what it shows: a channel that accepts a figure and does not apply it, like eMAG's ignore-stock-updates fault, looks in step. Reading eMAG's offers back during reconcile would close this; it is in the rollout risks.
- Limitations I would fix first for production: real sign-in from the customer's identity provider, moving review decisions out of the request into the worker, a retention job for done events, secret rotation with an overlap window, and polling the shop's orders as a safety net for events sent while the glue is down.
- A 3B local model is often vague and sometimes wrong; the triage choice comes from code for that reason.
- Left out on purpose: courier and AWB, returns and refunds, payments, invoices, several warehouses, catalogue sync. Each is a project of its own, and none changes the conflict and retry design.
- Honest about scope: much of the code is the operator console and the demo layer. The sync core is small and is where I put the most care; the demo layer is separate and gated by the demo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Each stage runs about a week and moves on only when its numbers look right. Shadow mode first: Glue receives every event and reads the warehouse but sends nothing, and each day its log of what it would have reserved and pushed is compared with what staff did by hand.
- Then stock to the shop only, then stock to eMAG, which is where oversell risk drops and where eMAG's real rate limits are first met. Then orders: eMAG first, because it re-sends until confirmed, then the shop. The review queue owner starts then.
- Shadow mode and the per-stage switches are not built yet; each is a flag checked before Glue calls a system. With them, going back a stage is one switch.
- What I need from them: API access to all three systems (an Adobe I/O Events registration and REST credentials, eMAG Marketplace API credentials with the callback URL pointed at Glue, and the warehouse API); a create-order call that accepts an idempotency key, or a lookup before create; one code per product across the systems, or the mapping; a named owner for the review queue with a backup; and a decision on whether to hold the last units back from eMAG.
- Success measures are agreed up front and come from data the glue already keeps: every oversell is a Sold out item, so it is a query, not an estimate. Plus the eMAG cancellation rate from eMAG's seller center and staff hours, before and after. The full note is docs/customer-context.md.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Switch to the browser. Follow docs/presentation/demo-script.md: Glue at :8000 signed in as admin, shop :8001, marketplace :8002, warehouse :8003.
- Say what is about to break before clicking. Keep each step under its time.
- If anything misbehaves: Demo controls, Turn every fault off. For a clean start: docker compose down, then docker volume rm glueservice_glue-data, then up. Never down -v: it also deletes the downloaded model.
- After the demo, offer the code: glue/router.py for order states, glue/retry.py for the policy, glue/reconciler.py for stock, glue/review.py and glue/settle.py for the queue, tests/conftest.py for how the tests run all four apps in one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A decision is cut short by a crash. Who finds that order?
- The item moves to acting before the action runs and to decided after it (db.start_review, review.carry_out).
- On start, settle.interrupted_decisions reopens an acting item if its action still applies, or closes it as resolved if the order has moved on. Same idea as events left processing going back to pending.
- Test: tests/test_restart.py, a decision cut short is open again after a restart, and the retry then allocates.
Q2. The warehouse shipped an eMAG order while eMAG was rate limiting. Then what?
- router.notify_shipped catches the exhausted retries and queues an item with operation ship. The order stays shipped.
- RETRY_FROM maps ship to shipped, so the card offers Retry, which tells eMAG again. It is the one outbound call that had no owner; it does now.
- Test: tests/test_partial_failures.py, a ship notice the channel missed is retried from review: eMAG ends at status 4, nothing left open.
Q3. Two events for one order land in the same batch. Which interleavings do you handle?
- Each event and each decision takes ctx.order_lock(order_id), so they run one at a time per order.
- Place and cancel racing the warehouse call: allocate sees cancelled after the 201 and releases the reservation. A repeat cancel is recorded as cancel_repeated and does nothing.
- Test: two cancels in one batch cancel once. With several workers, partition by order id.
Q4. What exactly is your idempotency key, and who can forge it?
- Inbox: (source, event id), migration 2 in glue/db.py. Orders: channel plus channel order id. Outbound: Idempotency-Key with the order id.
- Forging needs the source's secret: the HMAC covers the event id and the body, one secret per source, constant-time compare, an empty secret never verifies.
- A source may only send its own event types, and the shop cannot send an emag- order. Real Adobe I/O Events signs with its own public-key scheme.
Q5. Retry-After says 3600. Retry-After says a date.
- glue/retry.py retry_after_seconds: digits or an HTTP date, capped at 30 s (MAX_RETRY_AFTER_SECONDS). A past date means retry now; anything else falls back to back-off.
- Why cap: waiting holds a worker slot; a longer outage belongs in the review queue, and Retry all (or the auto-retry rule) clears it once the warehouse answers.
- Tests in tests/test_retry.py cover the date, the cap, garbage values and a past 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Q6. Why push every product every 10 s? What breaks at 20,000?
- Because it heals drift no event reports: a restarted channel, a rejected or rate-limited push.
- At 20,000 products eMAG's rate limit breaks first. Coalesce pushes for a second into one batch, reconcile changed products only, and keep a slow full sweep as the net.
Q7. Show me the number.
- python -m scripts.load_probe, in-process, real worker loop, 10 slots: about 527 orders/s; 300 orders at p50 0.31 s and p95 0.53 s; 1,000 orders at p50 1.03 s and p95 1.78 s (queue wait); every order reserved once.
- The probe first showed the loop capped at about 20 orders/s (it slept whenever all slots were busy); fixed in 267009e with a test. Measuring found the bug.
- Say what it is: no network, mock warehouse. The real limit is the warehouse and eMAG, not the glue.
Q8. It is 3 a.m. Which alert fires, and what does it say?
- /metrics (signed in) has the gauges: inbox pending and the oldest pending age, dirty stock rows and how long a channel has been behind, open review items and the oldest, warehouse down, last good reconcile. /health is liveness on the database only.
- Page: oldest pending event over 60 s; warehouse down for 5 min; no good reconcile in three intervals while the warehouse is up. Warn: a channel behind for 5 min; a review item waiting 30 min in business hours; an item acting for 5 min; any failed inbox event; any rejected signature.
Q9. Why a React console, a model and a palette for a small glue service? What did it cost the core?
- The core came first; the history shows it. The console is the operator's product: the review queue only works if a person can act on it quickly.
- The demo layer lives in glue/demo and is gated by the demo permission and DEMO_TRAFFIC; in production it would be absent.
- What it cost: an independent analysis found eight gaps in the core. I fixed each with a failing test first. It also caught a dashboard figure, orders lost, that was a fixed zero; it is counted now. That is the honest answer.
Q10. Policy in code and the model explains. So what is the model for? Would you ship it?
- The rule lives in glue/ai/triage_prompt.py (playbook) and is testable Python. The 3B model writes the paragraph the operator reads.
- It runs at temperature 0. The suggestion is filtered to the allowed actions, dropped if it names another order, and sentences naming internal tools are removed. It never acts; a person still clicks.
- I would ship it as an explainer. A stronger model could get the open choice later, still behind a person.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Left: order states. A cancel can arrive before its order (a cancelled stub, the late placement is never reserved) or while the warehouse call is in flight (the reservation is released straight away).
- A failed placement leaves the order failed; a failed cancel leaves it allocated with its reservation; a failed ship notice leaves it shipped. The review item remembers which operation failed, so Retry repeats exactly that.
- Right: review items. Open, then acting while a decision runs, then decided. A restart reopens an acting item or resolves it if the order moved on. Glue also resolves open items made moot by a later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same architecture as slide 4, at module level. Inbound on the left are signed webhooks; outbound on the right are API calls, all through one retry policy.
- Source: docs/presentation/diagrams/components.mmd.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10698480" cy="914400"/>
          </a:xfrm>
          <a:prstGeom prst="rect">
            <a:avLst/>
          </a:prstGeom>
          <a:noFill/>
          <a:ln/>
        </p:spPr>
        <p:txBody>
          <a:bodyPr wrap="square" rtlCol="0"/>
          <a:lstStyle>
            <a:lvl1pPr algn="l" indent="0" marL="0">
              <a:buNone/>
              <a:defRPr lang="en-US" sz="4800" b="1" dirty="0">
                <a:solidFill>
                  <a:schemeClr val="tx1"/>
                </a:solidFill>
              </a:defRPr>
            </a:lvl1pPr>
          </a:lstStyle>
          <a:p>
            <a:pPr algn="l" indent="0" marL="0">
              <a:buNone/>
            </a:pPr>
            <a:endParaRPr lang="en-US" sz="4800" dirty="0"/>
          </a:p>
        </p:txBody>
      </p:sp>
      <p:sp>
        <p:nvSpPr>
          <p:cNvPr id="3" name="Text 0"/>
          <p:cNvSpPr/>
          <p:nvPr>
            <p:ph idx="101" type="body" hasCustomPrompt="1"/>
          </p:nvPr>
        </p:nvSpPr>
        <p:spPr>
          <a:xfrm>
            <a:off x="731520" y="2194560"/>
            <a:ext cx="8778240" cy="82296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rtlCol="0"/>
          <a:lstStyle>
            <a:lvl1pPr algn="l" indent="0" marL="0">
              <a:buNone/>
              <a:defRPr lang="en-US" sz="1100" b="1" dirty="0">
                <a:solidFill>
                  <a:schemeClr val="tx2"/>
                </a:solidFill>
                <a:latin typeface="Courier New" pitchFamily="34" charset="0"/>
                <a:ea typeface="Courier New" pitchFamily="34" charset="-122"/>
                <a:cs typeface="Courier New" pitchFamily="34" charset="-120"/>
              </a:defRPr>
            </a:lvl1pPr>
          </a:lstStyle>
          <a:p>
            <a:pPr algn="l" indent="0" marL="0">
              <a:buNone/>
            </a:pP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46520"/>
            <a:ext cx="3657600" cy="228600"/>
          </a:xfrm>
          <a:prstGeom prst="rect">
            <a:avLst/>
          </a:prstGeom>
          <a:noFill/>
          <a:ln/>
        </p:spPr>
        <p:txBody>
          <a:bodyPr wrap="square" lIns="0" tIns="0" rIns="0" bIns="0" rtlCol="0" anchor="ctr"/>
          <a:lstStyle/>
          <a:p>
            <a:pPr indent="0" marL="0">
              <a:buNone/>
            </a:pPr>
            <a:r>
              <a:rPr lang="en-US" sz="1000" dirty="0">
                <a:solidFill>
                  <a:srgbClr val="8A93A1"/>
                </a:solidFill>
              </a:rPr>
              <a:t>ADB Glue Service</a:t>
            </a:r>
            <a:endParaRPr lang="en-US" sz="10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68680"/>
            <a:ext cx="7315200" cy="237744"/>
          </a:xfrm>
          <a:prstGeom prst="rect">
            <a:avLst/>
          </a:prstGeom>
          <a:noFill/>
          <a:ln/>
        </p:spPr>
        <p:txBody>
          <a:bodyPr wrap="square" lIns="0" tIns="0" rIns="0" bIns="0" rtlCol="0" anchor="t"/>
          <a:lstStyle/>
          <a:p>
            <a:pPr indent="0" marL="0">
              <a:buNone/>
            </a:pPr>
            <a:r>
              <a:rPr lang="en-US" sz="1100" b="1" dirty="0">
                <a:solidFill>
                  <a:schemeClr val="tx2"/>
                </a:solidFill>
                <a:latin typeface="Courier New" pitchFamily="34" charset="0"/>
                <a:ea typeface="Courier New" pitchFamily="34" charset="-122"/>
                <a:cs typeface="Courier New" pitchFamily="34" charset="-120"/>
              </a:rPr>
              <a:t>TECHNICAL INTERVIEW · OCTOBER 2026</a:t>
            </a:r>
            <a:endParaRPr lang="en-US" sz="1100" dirty="0"/>
          </a:p>
        </p:txBody>
      </p:sp>
      <p:sp>
        <p:nvSpPr>
          <p:cNvPr id="3" name="Text 0"/>
          <p:cNvSpPr/>
          <p:nvPr>
            <p:ph idx="100" type="title" hasCustomPrompt="1"/>
          </p:nvPr>
        </p:nvSpPr>
        <p:spPr>
          <a:xfrm>
            <a:off x="731520" y="1234440"/>
            <a:ext cx="10698480" cy="914400"/>
          </a:xfrm>
          <a:prstGeom prst="rect">
            <a:avLst/>
          </a:prstGeom>
          <a:noFill/>
          <a:ln/>
        </p:spPr>
        <p:txBody>
          <a:bodyPr wrap="square" lIns="0" tIns="0" rIns="0" bIns="0" rtlCol="0" anchor="t"/>
          <a:lstStyle/>
          <a:p>
            <a:pPr algn="l" indent="0" marL="0">
              <a:buNone/>
            </a:pPr>
            <a:r>
              <a:rPr lang="en-US" sz="4800" b="1" dirty="0">
                <a:solidFill>
                  <a:schemeClr val="tx1"/>
                </a:solidFill>
              </a:rPr>
              <a:t>ADB Glue Service</a:t>
            </a:r>
            <a:endParaRPr lang="en-US" sz="4800" dirty="0"/>
          </a:p>
        </p:txBody>
      </p:sp>
      <p:sp>
        <p:nvSpPr>
          <p:cNvPr id="4" name="Text 0"/>
          <p:cNvSpPr/>
          <p:nvPr>
            <p:ph idx="101" type="body" hasCustomPrompt="1"/>
          </p:nvPr>
        </p:nvSpPr>
        <p:spPr>
          <a:xfrm>
            <a:off x="731520" y="2194560"/>
            <a:ext cx="8778240" cy="822960"/>
          </a:xfrm>
          <a:prstGeom prst="rect">
            <a:avLst/>
          </a:prstGeom>
          <a:noFill/>
          <a:ln/>
        </p:spPr>
        <p:txBody>
          <a:bodyPr wrap="square" lIns="0" tIns="0" rIns="0" bIns="0" rtlCol="0" anchor="t"/>
          <a:lstStyle/>
          <a:p>
            <a:pPr algn="l" indent="0" marL="0">
              <a:buNone/>
            </a:pPr>
            <a:r>
              <a:rPr lang="en-US" sz="2200" dirty="0">
                <a:solidFill>
                  <a:schemeClr val="tx2"/>
                </a:solidFill>
              </a:rPr>
              <a:t>Orders and true stock between an Adobe Commerce shop, eMAG and one warehouse</a:t>
            </a:r>
            <a:endParaRPr lang="en-US" sz="2200" dirty="0"/>
          </a:p>
        </p:txBody>
      </p:sp>
      <p:sp>
        <p:nvSpPr>
          <p:cNvPr id="5" name="Text 3"/>
          <p:cNvSpPr txBox="1"/>
          <p:nvPr/>
        </p:nvSpPr>
        <p:spPr>
          <a:xfrm>
            <a:off x="731520" y="3063240"/>
            <a:ext cx="5486400" cy="548640"/>
          </a:xfrm>
          <a:prstGeom prst="rect">
            <a:avLst/>
          </a:prstGeom>
          <a:noFill/>
          <a:ln/>
        </p:spPr>
        <p:txBody>
          <a:bodyPr wrap="square" lIns="0" tIns="0" rIns="0" bIns="0" rtlCol="0" anchor="t"/>
          <a:lstStyle/>
          <a:p>
            <a:pPr indent="0" marL="0">
              <a:buNone/>
            </a:pPr>
            <a:r>
              <a:rPr lang="en-US" sz="1500" b="1" dirty="0">
                <a:solidFill>
                  <a:schemeClr val="tx1"/>
                </a:solidFill>
              </a:rPr>
              <a:t>Pantelimon Gulie</a:t>
            </a:r>
            <a:endParaRPr lang="en-US" sz="1500" dirty="0"/>
          </a:p>
          <a:p>
            <a:pPr indent="0" marL="0">
              <a:buNone/>
            </a:pPr>
            <a:r>
              <a:rPr lang="en-US" sz="1500" dirty="0">
                <a:solidFill>
                  <a:schemeClr val="tx2"/>
                </a:solidFill>
              </a:rPr>
              <a:t>Forward Deployed Engineer (Senior)</a:t>
            </a:r>
            <a:endParaRPr lang="en-US" sz="1500" dirty="0"/>
          </a:p>
        </p:txBody>
      </p:sp>
      <p:sp>
        <p:nvSpPr>
          <p:cNvPr id="6" name="shop"/>
          <p:cNvSpPr/>
          <p:nvPr/>
        </p:nvSpPr>
        <p:spPr>
          <a:xfrm>
            <a:off x="731520" y="4160520"/>
            <a:ext cx="2377440" cy="896112"/>
          </a:xfrm>
          <a:prstGeom prst="rect">
            <a:avLst/>
          </a:prstGeom>
          <a:solidFill>
            <a:schemeClr val="bg1"/>
          </a:solidFill>
          <a:ln w="19050">
            <a:solidFill>
              <a:schemeClr val="accent2"/>
            </a:solidFill>
            <a:prstDash val="solid"/>
          </a:ln>
        </p:spPr>
      </p:sp>
      <p:sp>
        <p:nvSpPr>
          <p:cNvPr id="7" name="Text 5"/>
          <p:cNvSpPr txBox="1"/>
          <p:nvPr/>
        </p:nvSpPr>
        <p:spPr>
          <a:xfrm>
            <a:off x="877824" y="4279392"/>
            <a:ext cx="2103120" cy="201168"/>
          </a:xfrm>
          <a:prstGeom prst="rect">
            <a:avLst/>
          </a:prstGeom>
          <a:noFill/>
          <a:ln/>
        </p:spPr>
        <p:txBody>
          <a:bodyPr wrap="square" lIns="0" tIns="0" rIns="0" bIns="0" rtlCol="0" anchor="t"/>
          <a:lstStyle/>
          <a:p>
            <a:pPr indent="0" marL="0">
              <a:buNone/>
            </a:pPr>
            <a:r>
              <a:rPr lang="en-US" sz="1000" b="1" spc="50" kern="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8" name="Text 6"/>
          <p:cNvSpPr txBox="1"/>
          <p:nvPr/>
        </p:nvSpPr>
        <p:spPr>
          <a:xfrm>
            <a:off x="877824" y="4498848"/>
            <a:ext cx="2103120" cy="292608"/>
          </a:xfrm>
          <a:prstGeom prst="rect">
            <a:avLst/>
          </a:prstGeom>
          <a:noFill/>
          <a:ln/>
        </p:spPr>
        <p:txBody>
          <a:bodyPr wrap="square" lIns="0" tIns="0" rIns="0" bIns="0" rtlCol="0" anchor="t"/>
          <a:lstStyle/>
          <a:p>
            <a:pPr indent="0" marL="0">
              <a:buNone/>
            </a:pPr>
            <a:r>
              <a:rPr lang="en-US" sz="1500" b="1" dirty="0">
                <a:solidFill>
                  <a:schemeClr val="tx1"/>
                </a:solidFill>
              </a:rPr>
              <a:t>Electronic Market</a:t>
            </a:r>
            <a:endParaRPr lang="en-US" sz="1500" dirty="0"/>
          </a:p>
        </p:txBody>
      </p:sp>
      <p:sp>
        <p:nvSpPr>
          <p:cNvPr id="9" name="emag"/>
          <p:cNvSpPr/>
          <p:nvPr/>
        </p:nvSpPr>
        <p:spPr>
          <a:xfrm>
            <a:off x="731520" y="5303520"/>
            <a:ext cx="2377440" cy="896112"/>
          </a:xfrm>
          <a:prstGeom prst="rect">
            <a:avLst/>
          </a:prstGeom>
          <a:solidFill>
            <a:schemeClr val="bg1"/>
          </a:solidFill>
          <a:ln w="19050">
            <a:solidFill>
              <a:schemeClr val="accent3"/>
            </a:solidFill>
            <a:prstDash val="solid"/>
          </a:ln>
        </p:spPr>
      </p:sp>
      <p:sp>
        <p:nvSpPr>
          <p:cNvPr id="10" name="Text 8"/>
          <p:cNvSpPr txBox="1"/>
          <p:nvPr/>
        </p:nvSpPr>
        <p:spPr>
          <a:xfrm>
            <a:off x="877824" y="5422392"/>
            <a:ext cx="2103120" cy="201168"/>
          </a:xfrm>
          <a:prstGeom prst="rect">
            <a:avLst/>
          </a:prstGeom>
          <a:noFill/>
          <a:ln/>
        </p:spPr>
        <p:txBody>
          <a:bodyPr wrap="square" lIns="0" tIns="0" rIns="0" bIns="0" rtlCol="0" anchor="t"/>
          <a:lstStyle/>
          <a:p>
            <a:pPr indent="0" marL="0">
              <a:buNone/>
            </a:pPr>
            <a:r>
              <a:rPr lang="en-US" sz="1000" b="1" spc="50" kern="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11" name="Text 9"/>
          <p:cNvSpPr txBox="1"/>
          <p:nvPr/>
        </p:nvSpPr>
        <p:spPr>
          <a:xfrm>
            <a:off x="877824" y="5641848"/>
            <a:ext cx="2103120" cy="292608"/>
          </a:xfrm>
          <a:prstGeom prst="rect">
            <a:avLst/>
          </a:prstGeom>
          <a:noFill/>
          <a:ln/>
        </p:spPr>
        <p:txBody>
          <a:bodyPr wrap="square" lIns="0" tIns="0" rIns="0" bIns="0" rtlCol="0" anchor="t"/>
          <a:lstStyle/>
          <a:p>
            <a:pPr indent="0" marL="0">
              <a:buNone/>
            </a:pPr>
            <a:r>
              <a:rPr lang="en-US" sz="1500" b="1" dirty="0">
                <a:solidFill>
                  <a:schemeClr val="tx1"/>
                </a:solidFill>
              </a:rPr>
              <a:t>eMAG</a:t>
            </a:r>
            <a:endParaRPr lang="en-US" sz="1500" dirty="0"/>
          </a:p>
        </p:txBody>
      </p:sp>
      <p:sp>
        <p:nvSpPr>
          <p:cNvPr id="12" name="glue"/>
          <p:cNvSpPr/>
          <p:nvPr/>
        </p:nvSpPr>
        <p:spPr>
          <a:xfrm>
            <a:off x="4526280" y="4160520"/>
            <a:ext cx="3017520" cy="2039112"/>
          </a:xfrm>
          <a:prstGeom prst="rect">
            <a:avLst/>
          </a:prstGeom>
          <a:solidFill>
            <a:schemeClr val="tx1"/>
          </a:solidFill>
          <a:ln/>
        </p:spPr>
      </p:sp>
      <p:sp>
        <p:nvSpPr>
          <p:cNvPr id="13" name="Text 11"/>
          <p:cNvSpPr txBox="1"/>
          <p:nvPr/>
        </p:nvSpPr>
        <p:spPr>
          <a:xfrm>
            <a:off x="4709160" y="4297680"/>
            <a:ext cx="2651760" cy="201168"/>
          </a:xfrm>
          <a:prstGeom prst="rect">
            <a:avLst/>
          </a:prstGeom>
          <a:noFill/>
          <a:ln/>
        </p:spPr>
        <p:txBody>
          <a:bodyPr wrap="square" lIns="0" tIns="0" rIns="0" bIns="0" rtlCol="0" anchor="t"/>
          <a:lstStyle/>
          <a:p>
            <a:pPr indent="0" marL="0">
              <a:buNone/>
            </a:pPr>
            <a:r>
              <a:rPr lang="en-US" sz="1000" b="1" dirty="0">
                <a:solidFill>
                  <a:srgbClr val="A3ABB8"/>
                </a:solidFill>
                <a:latin typeface="Courier New" pitchFamily="34" charset="0"/>
                <a:ea typeface="Courier New" pitchFamily="34" charset="-122"/>
                <a:cs typeface="Courier New" pitchFamily="34" charset="-120"/>
              </a:rPr>
              <a:t>GLUE</a:t>
            </a:r>
            <a:endParaRPr lang="en-US" sz="1000" dirty="0"/>
          </a:p>
        </p:txBody>
      </p:sp>
      <p:sp>
        <p:nvSpPr>
          <p:cNvPr id="14" name="Text 12"/>
          <p:cNvSpPr txBox="1"/>
          <p:nvPr/>
        </p:nvSpPr>
        <p:spPr>
          <a:xfrm>
            <a:off x="4709160" y="4617720"/>
            <a:ext cx="2697480" cy="1371600"/>
          </a:xfrm>
          <a:prstGeom prst="rect">
            <a:avLst/>
          </a:prstGeom>
          <a:noFill/>
          <a:ln/>
        </p:spPr>
        <p:txBody>
          <a:bodyPr wrap="square" lIns="0" tIns="0" rIns="0" bIns="0" rtlCol="0" anchor="t"/>
          <a:lstStyle/>
          <a:p>
            <a:pPr indent="0" marL="0">
              <a:buNone/>
            </a:pPr>
            <a:r>
              <a:rPr lang="en-US" sz="1700" b="1" dirty="0">
                <a:solidFill>
                  <a:schemeClr val="bg1"/>
                </a:solidFill>
              </a:rPr>
              <a:t>Every order once.</a:t>
            </a:r>
            <a:endParaRPr lang="en-US" sz="1700" dirty="0"/>
          </a:p>
          <a:p>
            <a:pPr indent="0" marL="0">
              <a:buNone/>
            </a:pPr>
            <a:r>
              <a:rPr lang="en-US" sz="1700" b="1" dirty="0">
                <a:solidFill>
                  <a:schemeClr val="bg1"/>
                </a:solidFill>
              </a:rPr>
              <a:t>True stock back.</a:t>
            </a:r>
            <a:endParaRPr lang="en-US" sz="1700" dirty="0"/>
          </a:p>
          <a:p>
            <a:pPr indent="0" marL="0">
              <a:buNone/>
            </a:pPr>
            <a:r>
              <a:rPr lang="en-US" sz="1700" b="1" dirty="0">
                <a:solidFill>
                  <a:schemeClr val="bg1"/>
                </a:solidFill>
              </a:rPr>
              <a:t>A person for the rest.</a:t>
            </a:r>
            <a:endParaRPr lang="en-US" sz="1700" dirty="0"/>
          </a:p>
        </p:txBody>
      </p:sp>
      <p:sp>
        <p:nvSpPr>
          <p:cNvPr id="15" name="warehouse"/>
          <p:cNvSpPr/>
          <p:nvPr/>
        </p:nvSpPr>
        <p:spPr>
          <a:xfrm>
            <a:off x="8961120" y="4736592"/>
            <a:ext cx="2496312" cy="896112"/>
          </a:xfrm>
          <a:prstGeom prst="rect">
            <a:avLst/>
          </a:prstGeom>
          <a:solidFill>
            <a:schemeClr val="bg1"/>
          </a:solidFill>
          <a:ln w="19050">
            <a:solidFill>
              <a:schemeClr val="accent4"/>
            </a:solidFill>
            <a:prstDash val="solid"/>
          </a:ln>
        </p:spPr>
      </p:sp>
      <p:sp>
        <p:nvSpPr>
          <p:cNvPr id="16" name="Text 14"/>
          <p:cNvSpPr txBox="1"/>
          <p:nvPr/>
        </p:nvSpPr>
        <p:spPr>
          <a:xfrm>
            <a:off x="9107424" y="4855464"/>
            <a:ext cx="2221992" cy="201168"/>
          </a:xfrm>
          <a:prstGeom prst="rect">
            <a:avLst/>
          </a:prstGeom>
          <a:noFill/>
          <a:ln/>
        </p:spPr>
        <p:txBody>
          <a:bodyPr wrap="square" lIns="0" tIns="0" rIns="0" bIns="0" rtlCol="0" anchor="t"/>
          <a:lstStyle/>
          <a:p>
            <a:pPr indent="0" marL="0">
              <a:buNone/>
            </a:pPr>
            <a:r>
              <a:rPr lang="en-US" sz="1000" b="1" spc="50" kern="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7" name="Text 15"/>
          <p:cNvSpPr txBox="1"/>
          <p:nvPr/>
        </p:nvSpPr>
        <p:spPr>
          <a:xfrm>
            <a:off x="9107424" y="5074920"/>
            <a:ext cx="2221992" cy="292608"/>
          </a:xfrm>
          <a:prstGeom prst="rect">
            <a:avLst/>
          </a:prstGeom>
          <a:noFill/>
          <a:ln/>
        </p:spPr>
        <p:txBody>
          <a:bodyPr wrap="square" lIns="0" tIns="0" rIns="0" bIns="0" rtlCol="0" anchor="t"/>
          <a:lstStyle/>
          <a:p>
            <a:pPr indent="0" marL="0">
              <a:buNone/>
            </a:pPr>
            <a:r>
              <a:rPr lang="en-US" sz="1400" b="1" dirty="0">
                <a:solidFill>
                  <a:schemeClr val="tx1"/>
                </a:solidFill>
              </a:rPr>
              <a:t>Bucharest warehouse</a:t>
            </a:r>
            <a:endParaRPr lang="en-US" sz="1400" dirty="0"/>
          </a:p>
        </p:txBody>
      </p:sp>
      <p:sp>
        <p:nvSpPr>
          <p:cNvPr id="18" name="Shape 16"/>
          <p:cNvSpPr/>
          <p:nvPr/>
        </p:nvSpPr>
        <p:spPr>
          <a:xfrm>
            <a:off x="3108960" y="4608576"/>
            <a:ext cx="1417320" cy="0"/>
          </a:xfrm>
          <a:prstGeom prst="line">
            <a:avLst/>
          </a:prstGeom>
          <a:noFill/>
          <a:ln w="15875">
            <a:solidFill>
              <a:schemeClr val="tx1"/>
            </a:solidFill>
            <a:prstDash val="solid"/>
            <a:headEnd type="triangle"/>
            <a:tailEnd type="triangle"/>
          </a:ln>
        </p:spPr>
      </p:sp>
      <p:sp>
        <p:nvSpPr>
          <p:cNvPr id="19" name="Shape 17"/>
          <p:cNvSpPr/>
          <p:nvPr/>
        </p:nvSpPr>
        <p:spPr>
          <a:xfrm>
            <a:off x="3108960" y="5751576"/>
            <a:ext cx="1417320" cy="0"/>
          </a:xfrm>
          <a:prstGeom prst="line">
            <a:avLst/>
          </a:prstGeom>
          <a:noFill/>
          <a:ln w="15875">
            <a:solidFill>
              <a:schemeClr val="tx1"/>
            </a:solidFill>
            <a:prstDash val="solid"/>
            <a:headEnd type="triangle"/>
            <a:tailEnd type="triangle"/>
          </a:ln>
        </p:spPr>
      </p:sp>
      <p:sp>
        <p:nvSpPr>
          <p:cNvPr id="20" name="Shape 18"/>
          <p:cNvSpPr/>
          <p:nvPr/>
        </p:nvSpPr>
        <p:spPr>
          <a:xfrm>
            <a:off x="7543800" y="5184648"/>
            <a:ext cx="1417320" cy="0"/>
          </a:xfrm>
          <a:prstGeom prst="line">
            <a:avLst/>
          </a:prstGeom>
          <a:noFill/>
          <a:ln w="15875">
            <a:solidFill>
              <a:schemeClr val="tx1"/>
            </a:solidFill>
            <a:prstDash val="solid"/>
            <a:headEnd type="triangle"/>
            <a:tailEnd type="triangle"/>
          </a:ln>
        </p:spPr>
      </p:sp>
      <p:sp>
        <p:nvSpPr>
          <p:cNvPr id="21" name="Text 19"/>
          <p:cNvSpPr txBox="1"/>
          <p:nvPr/>
        </p:nvSpPr>
        <p:spPr>
          <a:xfrm>
            <a:off x="3108960" y="4389120"/>
            <a:ext cx="141732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ORDERS · STOCK</a:t>
            </a:r>
            <a:endParaRPr lang="en-US" sz="1000" dirty="0"/>
          </a:p>
        </p:txBody>
      </p:sp>
      <p:sp>
        <p:nvSpPr>
          <p:cNvPr id="22" name="Text 20"/>
          <p:cNvSpPr txBox="1"/>
          <p:nvPr/>
        </p:nvSpPr>
        <p:spPr>
          <a:xfrm>
            <a:off x="3108960" y="5532120"/>
            <a:ext cx="141732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ORDERS · STOCK</a:t>
            </a:r>
            <a:endParaRPr lang="en-US" sz="1000" dirty="0"/>
          </a:p>
        </p:txBody>
      </p:sp>
      <p:sp>
        <p:nvSpPr>
          <p:cNvPr id="23" name="Text 21"/>
          <p:cNvSpPr txBox="1"/>
          <p:nvPr/>
        </p:nvSpPr>
        <p:spPr>
          <a:xfrm>
            <a:off x="7543800" y="4965192"/>
            <a:ext cx="141732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RESERVE · STOCK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CONTEXT</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The customer and the problem</a:t>
            </a:r>
            <a:endParaRPr lang="en-US" sz="3200" dirty="0"/>
          </a:p>
        </p:txBody>
      </p:sp>
      <p:sp>
        <p:nvSpPr>
          <p:cNvPr id="4" name="Text 2"/>
          <p:cNvSpPr txBox="1"/>
          <p:nvPr/>
        </p:nvSpPr>
        <p:spPr>
          <a:xfrm>
            <a:off x="548640" y="1417320"/>
            <a:ext cx="11094415" cy="548640"/>
          </a:xfrm>
          <a:prstGeom prst="rect">
            <a:avLst/>
          </a:prstGeom>
          <a:noFill/>
          <a:ln/>
        </p:spPr>
        <p:txBody>
          <a:bodyPr wrap="square" lIns="0" tIns="0" rIns="0" bIns="0" rtlCol="0" anchor="t"/>
          <a:lstStyle/>
          <a:p>
            <a:pPr indent="0" marL="0">
              <a:buNone/>
            </a:pPr>
            <a:r>
              <a:rPr lang="en-US" sz="1600" dirty="0">
                <a:solidFill>
                  <a:srgbClr val="3D4552"/>
                </a:solidFill>
              </a:rPr>
              <a:t>A Romanian electronics reseller sells Apple products on its own Adobe Commerce shop and on the eMAG Marketplace. Both sell from one warehouse in Bucharest.</a:t>
            </a:r>
            <a:endParaRPr lang="en-US" sz="1600" dirty="0"/>
          </a:p>
        </p:txBody>
      </p:sp>
      <p:sp>
        <p:nvSpPr>
          <p:cNvPr id="5" name="Electronic Market"/>
          <p:cNvSpPr/>
          <p:nvPr/>
        </p:nvSpPr>
        <p:spPr>
          <a:xfrm>
            <a:off x="548640" y="2103120"/>
            <a:ext cx="2743200" cy="777240"/>
          </a:xfrm>
          <a:prstGeom prst="rect">
            <a:avLst/>
          </a:prstGeom>
          <a:solidFill>
            <a:schemeClr val="bg1"/>
          </a:solidFill>
          <a:ln w="19050">
            <a:solidFill>
              <a:schemeClr val="accent2"/>
            </a:solidFill>
            <a:prstDash val="solid"/>
          </a:ln>
        </p:spPr>
      </p:sp>
      <p:sp>
        <p:nvSpPr>
          <p:cNvPr id="6" name="Text 4"/>
          <p:cNvSpPr txBox="1"/>
          <p:nvPr/>
        </p:nvSpPr>
        <p:spPr>
          <a:xfrm>
            <a:off x="694944" y="2221992"/>
            <a:ext cx="2468880" cy="201168"/>
          </a:xfrm>
          <a:prstGeom prst="rect">
            <a:avLst/>
          </a:prstGeom>
          <a:noFill/>
          <a:ln/>
        </p:spPr>
        <p:txBody>
          <a:bodyPr wrap="square" lIns="0" tIns="0" rIns="0" bIns="0" rtlCol="0" anchor="t"/>
          <a:lstStyle/>
          <a:p>
            <a:pPr indent="0" marL="0">
              <a:buNone/>
            </a:pPr>
            <a:r>
              <a:rPr lang="en-US" sz="1000" b="1" spc="50" kern="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7" name="Text 5"/>
          <p:cNvSpPr txBox="1"/>
          <p:nvPr/>
        </p:nvSpPr>
        <p:spPr>
          <a:xfrm>
            <a:off x="694944" y="2441448"/>
            <a:ext cx="2468880" cy="292608"/>
          </a:xfrm>
          <a:prstGeom prst="rect">
            <a:avLst/>
          </a:prstGeom>
          <a:noFill/>
          <a:ln/>
        </p:spPr>
        <p:txBody>
          <a:bodyPr wrap="square" lIns="0" tIns="0" rIns="0" bIns="0" rtlCol="0" anchor="t"/>
          <a:lstStyle/>
          <a:p>
            <a:pPr indent="0" marL="0">
              <a:buNone/>
            </a:pPr>
            <a:r>
              <a:rPr lang="en-US" sz="1500" b="1" dirty="0">
                <a:solidFill>
                  <a:schemeClr val="tx1"/>
                </a:solidFill>
              </a:rPr>
              <a:t>Electronic Market</a:t>
            </a:r>
            <a:endParaRPr lang="en-US" sz="1500" dirty="0"/>
          </a:p>
        </p:txBody>
      </p:sp>
      <p:sp>
        <p:nvSpPr>
          <p:cNvPr id="8" name="Bucharest warehouse"/>
          <p:cNvSpPr/>
          <p:nvPr/>
        </p:nvSpPr>
        <p:spPr>
          <a:xfrm>
            <a:off x="4727448" y="2103120"/>
            <a:ext cx="2743200" cy="777240"/>
          </a:xfrm>
          <a:prstGeom prst="rect">
            <a:avLst/>
          </a:prstGeom>
          <a:solidFill>
            <a:schemeClr val="bg1"/>
          </a:solidFill>
          <a:ln w="19050">
            <a:solidFill>
              <a:schemeClr val="accent4"/>
            </a:solidFill>
            <a:prstDash val="solid"/>
          </a:ln>
        </p:spPr>
      </p:sp>
      <p:sp>
        <p:nvSpPr>
          <p:cNvPr id="9" name="Text 7"/>
          <p:cNvSpPr txBox="1"/>
          <p:nvPr/>
        </p:nvSpPr>
        <p:spPr>
          <a:xfrm>
            <a:off x="4873752" y="2221992"/>
            <a:ext cx="2468880" cy="201168"/>
          </a:xfrm>
          <a:prstGeom prst="rect">
            <a:avLst/>
          </a:prstGeom>
          <a:noFill/>
          <a:ln/>
        </p:spPr>
        <p:txBody>
          <a:bodyPr wrap="square" lIns="0" tIns="0" rIns="0" bIns="0" rtlCol="0" anchor="t"/>
          <a:lstStyle/>
          <a:p>
            <a:pPr indent="0" marL="0">
              <a:buNone/>
            </a:pPr>
            <a:r>
              <a:rPr lang="en-US" sz="1000" b="1" spc="50" kern="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0" name="Text 8"/>
          <p:cNvSpPr txBox="1"/>
          <p:nvPr/>
        </p:nvSpPr>
        <p:spPr>
          <a:xfrm>
            <a:off x="4873752" y="2441448"/>
            <a:ext cx="2468880" cy="292608"/>
          </a:xfrm>
          <a:prstGeom prst="rect">
            <a:avLst/>
          </a:prstGeom>
          <a:noFill/>
          <a:ln/>
        </p:spPr>
        <p:txBody>
          <a:bodyPr wrap="square" lIns="0" tIns="0" rIns="0" bIns="0" rtlCol="0" anchor="t"/>
          <a:lstStyle/>
          <a:p>
            <a:pPr indent="0" marL="0">
              <a:buNone/>
            </a:pPr>
            <a:r>
              <a:rPr lang="en-US" sz="1500" b="1" dirty="0">
                <a:solidFill>
                  <a:schemeClr val="tx1"/>
                </a:solidFill>
              </a:rPr>
              <a:t>Bucharest warehouse</a:t>
            </a:r>
            <a:endParaRPr lang="en-US" sz="1500" dirty="0"/>
          </a:p>
        </p:txBody>
      </p:sp>
      <p:sp>
        <p:nvSpPr>
          <p:cNvPr id="11" name="eMAG"/>
          <p:cNvSpPr/>
          <p:nvPr/>
        </p:nvSpPr>
        <p:spPr>
          <a:xfrm>
            <a:off x="8897112" y="2103120"/>
            <a:ext cx="2743200" cy="777240"/>
          </a:xfrm>
          <a:prstGeom prst="rect">
            <a:avLst/>
          </a:prstGeom>
          <a:solidFill>
            <a:schemeClr val="bg1"/>
          </a:solidFill>
          <a:ln w="19050">
            <a:solidFill>
              <a:schemeClr val="accent3"/>
            </a:solidFill>
            <a:prstDash val="solid"/>
          </a:ln>
        </p:spPr>
      </p:sp>
      <p:sp>
        <p:nvSpPr>
          <p:cNvPr id="12" name="Text 10"/>
          <p:cNvSpPr txBox="1"/>
          <p:nvPr/>
        </p:nvSpPr>
        <p:spPr>
          <a:xfrm>
            <a:off x="9043416" y="2221992"/>
            <a:ext cx="2468880" cy="201168"/>
          </a:xfrm>
          <a:prstGeom prst="rect">
            <a:avLst/>
          </a:prstGeom>
          <a:noFill/>
          <a:ln/>
        </p:spPr>
        <p:txBody>
          <a:bodyPr wrap="square" lIns="0" tIns="0" rIns="0" bIns="0" rtlCol="0" anchor="t"/>
          <a:lstStyle/>
          <a:p>
            <a:pPr indent="0" marL="0">
              <a:buNone/>
            </a:pPr>
            <a:r>
              <a:rPr lang="en-US" sz="1000" b="1" spc="50" kern="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13" name="Text 11"/>
          <p:cNvSpPr txBox="1"/>
          <p:nvPr/>
        </p:nvSpPr>
        <p:spPr>
          <a:xfrm>
            <a:off x="9043416" y="2441448"/>
            <a:ext cx="2468880" cy="292608"/>
          </a:xfrm>
          <a:prstGeom prst="rect">
            <a:avLst/>
          </a:prstGeom>
          <a:noFill/>
          <a:ln/>
        </p:spPr>
        <p:txBody>
          <a:bodyPr wrap="square" lIns="0" tIns="0" rIns="0" bIns="0" rtlCol="0" anchor="t"/>
          <a:lstStyle/>
          <a:p>
            <a:pPr indent="0" marL="0">
              <a:buNone/>
            </a:pPr>
            <a:r>
              <a:rPr lang="en-US" sz="1500" b="1" dirty="0">
                <a:solidFill>
                  <a:schemeClr val="tx1"/>
                </a:solidFill>
              </a:rPr>
              <a:t>eMAG</a:t>
            </a:r>
            <a:endParaRPr lang="en-US" sz="1500" dirty="0"/>
          </a:p>
        </p:txBody>
      </p:sp>
      <p:sp>
        <p:nvSpPr>
          <p:cNvPr id="14" name="Shape 12"/>
          <p:cNvSpPr/>
          <p:nvPr/>
        </p:nvSpPr>
        <p:spPr>
          <a:xfrm>
            <a:off x="3364992" y="2615184"/>
            <a:ext cx="1289304" cy="0"/>
          </a:xfrm>
          <a:prstGeom prst="line">
            <a:avLst/>
          </a:prstGeom>
          <a:noFill/>
          <a:ln w="15875">
            <a:solidFill>
              <a:schemeClr val="tx2"/>
            </a:solidFill>
            <a:prstDash val="dash"/>
            <a:headEnd type="triangle"/>
            <a:tailEnd type="triangle"/>
          </a:ln>
        </p:spPr>
      </p:sp>
      <p:sp>
        <p:nvSpPr>
          <p:cNvPr id="15" name="Text 13"/>
          <p:cNvSpPr txBox="1"/>
          <p:nvPr/>
        </p:nvSpPr>
        <p:spPr>
          <a:xfrm>
            <a:off x="3291840" y="2176272"/>
            <a:ext cx="1435608" cy="182880"/>
          </a:xfrm>
          <a:prstGeom prst="rect">
            <a:avLst/>
          </a:prstGeom>
          <a:noFill/>
          <a:ln/>
        </p:spPr>
        <p:txBody>
          <a:bodyPr wrap="square" lIns="0" tIns="0" rIns="0" bIns="0" rtlCol="0" anchor="ctr"/>
          <a:lstStyle/>
          <a:p>
            <a:pPr algn="ctr" indent="0" marL="0">
              <a:buNone/>
            </a:pPr>
            <a:r>
              <a:rPr lang="en-US" sz="1000" b="1" dirty="0">
                <a:solidFill>
                  <a:schemeClr val="accent5"/>
                </a:solidFill>
                <a:latin typeface="Courier New" pitchFamily="34" charset="0"/>
                <a:ea typeface="Courier New" pitchFamily="34" charset="-122"/>
                <a:cs typeface="Courier New" pitchFamily="34" charset="-120"/>
              </a:rPr>
              <a:t>BY HAND</a:t>
            </a:r>
            <a:endParaRPr lang="en-US" sz="1000" dirty="0"/>
          </a:p>
        </p:txBody>
      </p:sp>
      <p:sp>
        <p:nvSpPr>
          <p:cNvPr id="16" name="Text 14"/>
          <p:cNvSpPr txBox="1"/>
          <p:nvPr/>
        </p:nvSpPr>
        <p:spPr>
          <a:xfrm>
            <a:off x="3291840" y="2359152"/>
            <a:ext cx="1435608"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A FEW TIMES A DAY</a:t>
            </a:r>
            <a:endParaRPr lang="en-US" sz="1000" dirty="0"/>
          </a:p>
        </p:txBody>
      </p:sp>
      <p:sp>
        <p:nvSpPr>
          <p:cNvPr id="17" name="Shape 15"/>
          <p:cNvSpPr/>
          <p:nvPr/>
        </p:nvSpPr>
        <p:spPr>
          <a:xfrm>
            <a:off x="7543800" y="2615184"/>
            <a:ext cx="1289304" cy="0"/>
          </a:xfrm>
          <a:prstGeom prst="line">
            <a:avLst/>
          </a:prstGeom>
          <a:noFill/>
          <a:ln w="15875">
            <a:solidFill>
              <a:schemeClr val="tx2"/>
            </a:solidFill>
            <a:prstDash val="dash"/>
            <a:headEnd type="triangle"/>
            <a:tailEnd type="triangle"/>
          </a:ln>
        </p:spPr>
      </p:sp>
      <p:sp>
        <p:nvSpPr>
          <p:cNvPr id="18" name="Text 16"/>
          <p:cNvSpPr txBox="1"/>
          <p:nvPr/>
        </p:nvSpPr>
        <p:spPr>
          <a:xfrm>
            <a:off x="7470648" y="2176272"/>
            <a:ext cx="1435608" cy="182880"/>
          </a:xfrm>
          <a:prstGeom prst="rect">
            <a:avLst/>
          </a:prstGeom>
          <a:noFill/>
          <a:ln/>
        </p:spPr>
        <p:txBody>
          <a:bodyPr wrap="square" lIns="0" tIns="0" rIns="0" bIns="0" rtlCol="0" anchor="ctr"/>
          <a:lstStyle/>
          <a:p>
            <a:pPr algn="ctr" indent="0" marL="0">
              <a:buNone/>
            </a:pPr>
            <a:r>
              <a:rPr lang="en-US" sz="1000" b="1" dirty="0">
                <a:solidFill>
                  <a:schemeClr val="accent5"/>
                </a:solidFill>
                <a:latin typeface="Courier New" pitchFamily="34" charset="0"/>
                <a:ea typeface="Courier New" pitchFamily="34" charset="-122"/>
                <a:cs typeface="Courier New" pitchFamily="34" charset="-120"/>
              </a:rPr>
              <a:t>BY HAND</a:t>
            </a:r>
            <a:endParaRPr lang="en-US" sz="1000" dirty="0"/>
          </a:p>
        </p:txBody>
      </p:sp>
      <p:sp>
        <p:nvSpPr>
          <p:cNvPr id="19" name="Text 17"/>
          <p:cNvSpPr txBox="1"/>
          <p:nvPr/>
        </p:nvSpPr>
        <p:spPr>
          <a:xfrm>
            <a:off x="7470648" y="2359152"/>
            <a:ext cx="1435608"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A FEW TIMES A DAY</a:t>
            </a:r>
            <a:endParaRPr lang="en-US" sz="1000" dirty="0"/>
          </a:p>
        </p:txBody>
      </p:sp>
      <p:sp>
        <p:nvSpPr>
          <p:cNvPr id="20" name="Text 18"/>
          <p:cNvSpPr txBox="1"/>
          <p:nvPr/>
        </p:nvSpPr>
        <p:spPr>
          <a:xfrm>
            <a:off x="548640" y="3108960"/>
            <a:ext cx="11094415" cy="548640"/>
          </a:xfrm>
          <a:prstGeom prst="rect">
            <a:avLst/>
          </a:prstGeom>
          <a:noFill/>
          <a:ln/>
        </p:spPr>
        <p:txBody>
          <a:bodyPr wrap="square" lIns="0" tIns="0" rIns="0" bIns="0" rtlCol="0" anchor="t"/>
          <a:lstStyle/>
          <a:p>
            <a:pPr indent="0" marL="0">
              <a:buNone/>
            </a:pPr>
            <a:r>
              <a:rPr lang="en-US" sz="1600" dirty="0">
                <a:solidFill>
                  <a:schemeClr val="tx1"/>
                </a:solidFill>
              </a:rPr>
              <a:t>Today nothing connects the three. Staff copy orders into the warehouse system and type stock back into both channels. In between, the channels show stale stock.</a:t>
            </a:r>
            <a:endParaRPr lang="en-US" sz="1600" dirty="0"/>
          </a:p>
        </p:txBody>
      </p:sp>
      <p:sp>
        <p:nvSpPr>
          <p:cNvPr id="21" name="The last unit sells twice"/>
          <p:cNvSpPr/>
          <p:nvPr/>
        </p:nvSpPr>
        <p:spPr>
          <a:xfrm>
            <a:off x="548640" y="3886200"/>
            <a:ext cx="2651760" cy="2057400"/>
          </a:xfrm>
          <a:prstGeom prst="roundRect">
            <a:avLst>
              <a:gd name="adj" fmla="val 3556"/>
            </a:avLst>
          </a:prstGeom>
          <a:solidFill>
            <a:schemeClr val="bg1"/>
          </a:solidFill>
          <a:ln w="9525">
            <a:solidFill>
              <a:srgbClr val="E3E6EB"/>
            </a:solidFill>
            <a:prstDash val="solid"/>
          </a:ln>
        </p:spPr>
      </p:sp>
      <p:sp>
        <p:nvSpPr>
          <p:cNvPr id="22" name="Text 20"/>
          <p:cNvSpPr txBox="1"/>
          <p:nvPr/>
        </p:nvSpPr>
        <p:spPr>
          <a:xfrm>
            <a:off x="749808" y="4069080"/>
            <a:ext cx="2286000" cy="548640"/>
          </a:xfrm>
          <a:prstGeom prst="rect">
            <a:avLst/>
          </a:prstGeom>
          <a:noFill/>
          <a:ln/>
        </p:spPr>
        <p:txBody>
          <a:bodyPr wrap="square" lIns="0" tIns="0" rIns="0" bIns="0" rtlCol="0" anchor="t"/>
          <a:lstStyle/>
          <a:p>
            <a:pPr indent="0" marL="0">
              <a:buNone/>
            </a:pPr>
            <a:r>
              <a:rPr lang="en-US" sz="1700" b="1" dirty="0">
                <a:solidFill>
                  <a:schemeClr val="tx1"/>
                </a:solidFill>
              </a:rPr>
              <a:t>The last unit sells twice</a:t>
            </a:r>
            <a:endParaRPr lang="en-US" sz="1700" dirty="0"/>
          </a:p>
        </p:txBody>
      </p:sp>
      <p:sp>
        <p:nvSpPr>
          <p:cNvPr id="23" name="Text 21"/>
          <p:cNvSpPr txBox="1"/>
          <p:nvPr/>
        </p:nvSpPr>
        <p:spPr>
          <a:xfrm>
            <a:off x="749808" y="4645152"/>
            <a:ext cx="2286000" cy="1234440"/>
          </a:xfrm>
          <a:prstGeom prst="rect">
            <a:avLst/>
          </a:prstGeom>
          <a:noFill/>
          <a:ln/>
        </p:spPr>
        <p:txBody>
          <a:bodyPr wrap="square" lIns="0" tIns="0" rIns="0" bIns="0" rtlCol="0" anchor="t"/>
          <a:lstStyle/>
          <a:p>
            <a:pPr indent="0" marL="0">
              <a:buNone/>
            </a:pPr>
            <a:r>
              <a:rPr lang="en-US" sz="1400" dirty="0">
                <a:solidFill>
                  <a:schemeClr val="tx2"/>
                </a:solidFill>
              </a:rPr>
              <a:t>Both channels still show it for minutes. One customer has paid for something that does not exist.</a:t>
            </a:r>
            <a:endParaRPr lang="en-US" sz="1400" dirty="0"/>
          </a:p>
        </p:txBody>
      </p:sp>
      <p:sp>
        <p:nvSpPr>
          <p:cNvPr id="24" name="Orders missed or doubled"/>
          <p:cNvSpPr/>
          <p:nvPr/>
        </p:nvSpPr>
        <p:spPr>
          <a:xfrm>
            <a:off x="3383280" y="3886200"/>
            <a:ext cx="2651760" cy="2057400"/>
          </a:xfrm>
          <a:prstGeom prst="roundRect">
            <a:avLst>
              <a:gd name="adj" fmla="val 3556"/>
            </a:avLst>
          </a:prstGeom>
          <a:solidFill>
            <a:schemeClr val="bg1"/>
          </a:solidFill>
          <a:ln w="9525">
            <a:solidFill>
              <a:srgbClr val="E3E6EB"/>
            </a:solidFill>
            <a:prstDash val="solid"/>
          </a:ln>
        </p:spPr>
      </p:sp>
      <p:sp>
        <p:nvSpPr>
          <p:cNvPr id="25" name="Text 23"/>
          <p:cNvSpPr txBox="1"/>
          <p:nvPr/>
        </p:nvSpPr>
        <p:spPr>
          <a:xfrm>
            <a:off x="3584448" y="4069080"/>
            <a:ext cx="2286000" cy="548640"/>
          </a:xfrm>
          <a:prstGeom prst="rect">
            <a:avLst/>
          </a:prstGeom>
          <a:noFill/>
          <a:ln/>
        </p:spPr>
        <p:txBody>
          <a:bodyPr wrap="square" lIns="0" tIns="0" rIns="0" bIns="0" rtlCol="0" anchor="t"/>
          <a:lstStyle/>
          <a:p>
            <a:pPr indent="0" marL="0">
              <a:buNone/>
            </a:pPr>
            <a:r>
              <a:rPr lang="en-US" sz="1700" b="1" dirty="0">
                <a:solidFill>
                  <a:schemeClr val="tx1"/>
                </a:solidFill>
              </a:rPr>
              <a:t>Orders missed or doubled</a:t>
            </a:r>
            <a:endParaRPr lang="en-US" sz="1700" dirty="0"/>
          </a:p>
        </p:txBody>
      </p:sp>
      <p:sp>
        <p:nvSpPr>
          <p:cNvPr id="26" name="Text 24"/>
          <p:cNvSpPr txBox="1"/>
          <p:nvPr/>
        </p:nvSpPr>
        <p:spPr>
          <a:xfrm>
            <a:off x="3584448" y="4645152"/>
            <a:ext cx="2286000" cy="1234440"/>
          </a:xfrm>
          <a:prstGeom prst="rect">
            <a:avLst/>
          </a:prstGeom>
          <a:noFill/>
          <a:ln/>
        </p:spPr>
        <p:txBody>
          <a:bodyPr wrap="square" lIns="0" tIns="0" rIns="0" bIns="0" rtlCol="0" anchor="t"/>
          <a:lstStyle/>
          <a:p>
            <a:pPr indent="0" marL="0">
              <a:buNone/>
            </a:pPr>
            <a:r>
              <a:rPr lang="en-US" sz="1400" dirty="0">
                <a:solidFill>
                  <a:schemeClr val="tx2"/>
                </a:solidFill>
              </a:rPr>
              <a:t>eMAG orders typed in by hand get skipped or entered twice.</a:t>
            </a:r>
            <a:endParaRPr lang="en-US" sz="1400" dirty="0"/>
          </a:p>
        </p:txBody>
      </p:sp>
      <p:sp>
        <p:nvSpPr>
          <p:cNvPr id="27" name="Stock is stale"/>
          <p:cNvSpPr/>
          <p:nvPr/>
        </p:nvSpPr>
        <p:spPr>
          <a:xfrm>
            <a:off x="6217920" y="3886200"/>
            <a:ext cx="2651760" cy="2057400"/>
          </a:xfrm>
          <a:prstGeom prst="roundRect">
            <a:avLst>
              <a:gd name="adj" fmla="val 3556"/>
            </a:avLst>
          </a:prstGeom>
          <a:solidFill>
            <a:schemeClr val="bg1"/>
          </a:solidFill>
          <a:ln w="9525">
            <a:solidFill>
              <a:srgbClr val="E3E6EB"/>
            </a:solidFill>
            <a:prstDash val="solid"/>
          </a:ln>
        </p:spPr>
      </p:sp>
      <p:sp>
        <p:nvSpPr>
          <p:cNvPr id="28" name="Text 26"/>
          <p:cNvSpPr txBox="1"/>
          <p:nvPr/>
        </p:nvSpPr>
        <p:spPr>
          <a:xfrm>
            <a:off x="6419088" y="4069080"/>
            <a:ext cx="2286000" cy="548640"/>
          </a:xfrm>
          <a:prstGeom prst="rect">
            <a:avLst/>
          </a:prstGeom>
          <a:noFill/>
          <a:ln/>
        </p:spPr>
        <p:txBody>
          <a:bodyPr wrap="square" lIns="0" tIns="0" rIns="0" bIns="0" rtlCol="0" anchor="t"/>
          <a:lstStyle/>
          <a:p>
            <a:pPr indent="0" marL="0">
              <a:buNone/>
            </a:pPr>
            <a:r>
              <a:rPr lang="en-US" sz="1700" b="1" dirty="0">
                <a:solidFill>
                  <a:schemeClr val="tx1"/>
                </a:solidFill>
              </a:rPr>
              <a:t>Stock is stale</a:t>
            </a:r>
            <a:endParaRPr lang="en-US" sz="1700" dirty="0"/>
          </a:p>
        </p:txBody>
      </p:sp>
      <p:sp>
        <p:nvSpPr>
          <p:cNvPr id="29" name="Text 27"/>
          <p:cNvSpPr txBox="1"/>
          <p:nvPr/>
        </p:nvSpPr>
        <p:spPr>
          <a:xfrm>
            <a:off x="6419088" y="4645152"/>
            <a:ext cx="2286000" cy="1234440"/>
          </a:xfrm>
          <a:prstGeom prst="rect">
            <a:avLst/>
          </a:prstGeom>
          <a:noFill/>
          <a:ln/>
        </p:spPr>
        <p:txBody>
          <a:bodyPr wrap="square" lIns="0" tIns="0" rIns="0" bIns="0" rtlCol="0" anchor="t"/>
          <a:lstStyle/>
          <a:p>
            <a:pPr indent="0" marL="0">
              <a:buNone/>
            </a:pPr>
            <a:r>
              <a:rPr lang="en-US" sz="1400" dirty="0">
                <a:solidFill>
                  <a:schemeClr val="tx2"/>
                </a:solidFill>
              </a:rPr>
              <a:t>A recount in the warehouse reaches the channels hours later.</a:t>
            </a:r>
            <a:endParaRPr lang="en-US" sz="1400" dirty="0"/>
          </a:p>
        </p:txBody>
      </p:sp>
      <p:sp>
        <p:nvSpPr>
          <p:cNvPr id="30" name="eMAG penalises cancelling"/>
          <p:cNvSpPr/>
          <p:nvPr/>
        </p:nvSpPr>
        <p:spPr>
          <a:xfrm>
            <a:off x="9052560" y="3886200"/>
            <a:ext cx="2651760" cy="2057400"/>
          </a:xfrm>
          <a:prstGeom prst="roundRect">
            <a:avLst>
              <a:gd name="adj" fmla="val 3556"/>
            </a:avLst>
          </a:prstGeom>
          <a:solidFill>
            <a:srgbClr val="FDE3DE"/>
          </a:solidFill>
          <a:ln w="9525">
            <a:solidFill>
              <a:srgbClr val="F2B8AE"/>
            </a:solidFill>
            <a:prstDash val="solid"/>
          </a:ln>
        </p:spPr>
      </p:sp>
      <p:sp>
        <p:nvSpPr>
          <p:cNvPr id="31" name="Text 29"/>
          <p:cNvSpPr txBox="1"/>
          <p:nvPr/>
        </p:nvSpPr>
        <p:spPr>
          <a:xfrm>
            <a:off x="9253728" y="4069080"/>
            <a:ext cx="2286000" cy="548640"/>
          </a:xfrm>
          <a:prstGeom prst="rect">
            <a:avLst/>
          </a:prstGeom>
          <a:noFill/>
          <a:ln/>
        </p:spPr>
        <p:txBody>
          <a:bodyPr wrap="square" lIns="0" tIns="0" rIns="0" bIns="0" rtlCol="0" anchor="t"/>
          <a:lstStyle/>
          <a:p>
            <a:pPr indent="0" marL="0">
              <a:buNone/>
            </a:pPr>
            <a:r>
              <a:rPr lang="en-US" sz="1700" b="1" dirty="0">
                <a:solidFill>
                  <a:schemeClr val="accent5"/>
                </a:solidFill>
              </a:rPr>
              <a:t>eMAG penalises cancelling</a:t>
            </a:r>
            <a:endParaRPr lang="en-US" sz="1700" dirty="0"/>
          </a:p>
        </p:txBody>
      </p:sp>
      <p:sp>
        <p:nvSpPr>
          <p:cNvPr id="32" name="Text 30"/>
          <p:cNvSpPr txBox="1"/>
          <p:nvPr/>
        </p:nvSpPr>
        <p:spPr>
          <a:xfrm>
            <a:off x="9253728" y="4645152"/>
            <a:ext cx="2286000" cy="1234440"/>
          </a:xfrm>
          <a:prstGeom prst="rect">
            <a:avLst/>
          </a:prstGeom>
          <a:noFill/>
          <a:ln/>
        </p:spPr>
        <p:txBody>
          <a:bodyPr wrap="square" lIns="0" tIns="0" rIns="0" bIns="0" rtlCol="0" anchor="t"/>
          <a:lstStyle/>
          <a:p>
            <a:pPr indent="0" marL="0">
              <a:buNone/>
            </a:pPr>
            <a:r>
              <a:rPr lang="en-US" sz="1400" dirty="0">
                <a:solidFill>
                  <a:schemeClr val="tx1"/>
                </a:solidFill>
              </a:rPr>
              <a:t>eMAG measures the seller's cancellation rate, so an oversell there costs more than the one sale.</a:t>
            </a:r>
            <a:endParaRPr lang="en-US" sz="14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CONTEXT</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What the glue does</a:t>
            </a:r>
            <a:endParaRPr lang="en-US" sz="3200" dirty="0"/>
          </a:p>
        </p:txBody>
      </p:sp>
      <p:sp>
        <p:nvSpPr>
          <p:cNvPr id="4" name="shop"/>
          <p:cNvSpPr/>
          <p:nvPr/>
        </p:nvSpPr>
        <p:spPr>
          <a:xfrm>
            <a:off x="548640" y="1691640"/>
            <a:ext cx="1783080" cy="914400"/>
          </a:xfrm>
          <a:prstGeom prst="rect">
            <a:avLst/>
          </a:prstGeom>
          <a:solidFill>
            <a:schemeClr val="bg1"/>
          </a:solidFill>
          <a:ln w="19050">
            <a:solidFill>
              <a:schemeClr val="accent2"/>
            </a:solidFill>
            <a:prstDash val="solid"/>
          </a:ln>
        </p:spPr>
      </p:sp>
      <p:sp>
        <p:nvSpPr>
          <p:cNvPr id="5" name="Text 3"/>
          <p:cNvSpPr txBox="1"/>
          <p:nvPr/>
        </p:nvSpPr>
        <p:spPr>
          <a:xfrm>
            <a:off x="694944" y="1810512"/>
            <a:ext cx="1508760" cy="201168"/>
          </a:xfrm>
          <a:prstGeom prst="rect">
            <a:avLst/>
          </a:prstGeom>
          <a:noFill/>
          <a:ln/>
        </p:spPr>
        <p:txBody>
          <a:bodyPr wrap="square" lIns="0" tIns="0" rIns="0" bIns="0" rtlCol="0" anchor="t"/>
          <a:lstStyle/>
          <a:p>
            <a:pPr indent="0" marL="0">
              <a:buNone/>
            </a:pPr>
            <a:r>
              <a:rPr lang="en-US" sz="1000" b="1" spc="50" kern="0" dirty="0">
                <a:solidFill>
                  <a:srgbClr val="8A5A12"/>
                </a:solidFill>
                <a:latin typeface="Courier New" pitchFamily="34" charset="0"/>
                <a:ea typeface="Courier New" pitchFamily="34" charset="-122"/>
                <a:cs typeface="Courier New" pitchFamily="34" charset="-120"/>
              </a:rPr>
              <a:t>SHOP</a:t>
            </a:r>
            <a:endParaRPr lang="en-US" sz="1000" dirty="0"/>
          </a:p>
        </p:txBody>
      </p:sp>
      <p:sp>
        <p:nvSpPr>
          <p:cNvPr id="6" name="Text 4"/>
          <p:cNvSpPr txBox="1"/>
          <p:nvPr/>
        </p:nvSpPr>
        <p:spPr>
          <a:xfrm>
            <a:off x="694944" y="2029968"/>
            <a:ext cx="1508760" cy="292608"/>
          </a:xfrm>
          <a:prstGeom prst="rect">
            <a:avLst/>
          </a:prstGeom>
          <a:noFill/>
          <a:ln/>
        </p:spPr>
        <p:txBody>
          <a:bodyPr wrap="square" lIns="0" tIns="0" rIns="0" bIns="0" rtlCol="0" anchor="t"/>
          <a:lstStyle/>
          <a:p>
            <a:pPr indent="0" marL="0">
              <a:buNone/>
            </a:pPr>
            <a:r>
              <a:rPr lang="en-US" sz="1400" b="1" dirty="0">
                <a:solidFill>
                  <a:schemeClr val="tx1"/>
                </a:solidFill>
              </a:rPr>
              <a:t>Electronic Market</a:t>
            </a:r>
            <a:endParaRPr lang="en-US" sz="1400" dirty="0"/>
          </a:p>
        </p:txBody>
      </p:sp>
      <p:sp>
        <p:nvSpPr>
          <p:cNvPr id="7" name="emag"/>
          <p:cNvSpPr/>
          <p:nvPr/>
        </p:nvSpPr>
        <p:spPr>
          <a:xfrm>
            <a:off x="548640" y="3337560"/>
            <a:ext cx="1783080" cy="914400"/>
          </a:xfrm>
          <a:prstGeom prst="rect">
            <a:avLst/>
          </a:prstGeom>
          <a:solidFill>
            <a:schemeClr val="bg1"/>
          </a:solidFill>
          <a:ln w="19050">
            <a:solidFill>
              <a:schemeClr val="accent3"/>
            </a:solidFill>
            <a:prstDash val="solid"/>
          </a:ln>
        </p:spPr>
      </p:sp>
      <p:sp>
        <p:nvSpPr>
          <p:cNvPr id="8" name="Text 6"/>
          <p:cNvSpPr txBox="1"/>
          <p:nvPr/>
        </p:nvSpPr>
        <p:spPr>
          <a:xfrm>
            <a:off x="694944" y="3456432"/>
            <a:ext cx="1508760" cy="201168"/>
          </a:xfrm>
          <a:prstGeom prst="rect">
            <a:avLst/>
          </a:prstGeom>
          <a:noFill/>
          <a:ln/>
        </p:spPr>
        <p:txBody>
          <a:bodyPr wrap="square" lIns="0" tIns="0" rIns="0" bIns="0" rtlCol="0" anchor="t"/>
          <a:lstStyle/>
          <a:p>
            <a:pPr indent="0" marL="0">
              <a:buNone/>
            </a:pPr>
            <a:r>
              <a:rPr lang="en-US" sz="1000" b="1" spc="50" kern="0" dirty="0">
                <a:solidFill>
                  <a:srgbClr val="5B2569"/>
                </a:solidFill>
                <a:latin typeface="Courier New" pitchFamily="34" charset="0"/>
                <a:ea typeface="Courier New" pitchFamily="34" charset="-122"/>
                <a:cs typeface="Courier New" pitchFamily="34" charset="-120"/>
              </a:rPr>
              <a:t>MARKETPLACE</a:t>
            </a:r>
            <a:endParaRPr lang="en-US" sz="1000" dirty="0"/>
          </a:p>
        </p:txBody>
      </p:sp>
      <p:sp>
        <p:nvSpPr>
          <p:cNvPr id="9" name="Text 7"/>
          <p:cNvSpPr txBox="1"/>
          <p:nvPr/>
        </p:nvSpPr>
        <p:spPr>
          <a:xfrm>
            <a:off x="694944" y="3675888"/>
            <a:ext cx="1508760" cy="292608"/>
          </a:xfrm>
          <a:prstGeom prst="rect">
            <a:avLst/>
          </a:prstGeom>
          <a:noFill/>
          <a:ln/>
        </p:spPr>
        <p:txBody>
          <a:bodyPr wrap="square" lIns="0" tIns="0" rIns="0" bIns="0" rtlCol="0" anchor="t"/>
          <a:lstStyle/>
          <a:p>
            <a:pPr indent="0" marL="0">
              <a:buNone/>
            </a:pPr>
            <a:r>
              <a:rPr lang="en-US" sz="1500" b="1" dirty="0">
                <a:solidFill>
                  <a:schemeClr val="tx1"/>
                </a:solidFill>
              </a:rPr>
              <a:t>eMAG</a:t>
            </a:r>
            <a:endParaRPr lang="en-US" sz="1500" dirty="0"/>
          </a:p>
        </p:txBody>
      </p:sp>
      <p:sp>
        <p:nvSpPr>
          <p:cNvPr id="10" name="glue"/>
          <p:cNvSpPr/>
          <p:nvPr/>
        </p:nvSpPr>
        <p:spPr>
          <a:xfrm>
            <a:off x="3474720" y="1691640"/>
            <a:ext cx="1691640" cy="2560320"/>
          </a:xfrm>
          <a:prstGeom prst="rect">
            <a:avLst/>
          </a:prstGeom>
          <a:solidFill>
            <a:schemeClr val="tx1"/>
          </a:solidFill>
          <a:ln/>
        </p:spPr>
      </p:sp>
      <p:sp>
        <p:nvSpPr>
          <p:cNvPr id="11" name="Text 9"/>
          <p:cNvSpPr txBox="1"/>
          <p:nvPr/>
        </p:nvSpPr>
        <p:spPr>
          <a:xfrm>
            <a:off x="3657600" y="1828800"/>
            <a:ext cx="1371600" cy="201168"/>
          </a:xfrm>
          <a:prstGeom prst="rect">
            <a:avLst/>
          </a:prstGeom>
          <a:noFill/>
          <a:ln/>
        </p:spPr>
        <p:txBody>
          <a:bodyPr wrap="square" lIns="0" tIns="0" rIns="0" bIns="0" rtlCol="0" anchor="t"/>
          <a:lstStyle/>
          <a:p>
            <a:pPr indent="0" marL="0">
              <a:buNone/>
            </a:pPr>
            <a:r>
              <a:rPr lang="en-US" sz="1000" b="1" dirty="0">
                <a:solidFill>
                  <a:srgbClr val="A3ABB8"/>
                </a:solidFill>
                <a:latin typeface="Courier New" pitchFamily="34" charset="0"/>
                <a:ea typeface="Courier New" pitchFamily="34" charset="-122"/>
                <a:cs typeface="Courier New" pitchFamily="34" charset="-120"/>
              </a:rPr>
              <a:t>GLUE</a:t>
            </a:r>
            <a:endParaRPr lang="en-US" sz="1000" dirty="0"/>
          </a:p>
        </p:txBody>
      </p:sp>
      <p:sp>
        <p:nvSpPr>
          <p:cNvPr id="12" name="Text 10"/>
          <p:cNvSpPr txBox="1"/>
          <p:nvPr/>
        </p:nvSpPr>
        <p:spPr>
          <a:xfrm>
            <a:off x="3657600" y="2103120"/>
            <a:ext cx="1371600" cy="365760"/>
          </a:xfrm>
          <a:prstGeom prst="rect">
            <a:avLst/>
          </a:prstGeom>
          <a:noFill/>
          <a:ln/>
        </p:spPr>
        <p:txBody>
          <a:bodyPr wrap="square" lIns="0" tIns="0" rIns="0" bIns="0" rtlCol="0" anchor="t"/>
          <a:lstStyle/>
          <a:p>
            <a:pPr indent="0" marL="0">
              <a:buNone/>
            </a:pPr>
            <a:r>
              <a:rPr lang="en-US" sz="2000" b="1" dirty="0">
                <a:solidFill>
                  <a:schemeClr val="bg1"/>
                </a:solidFill>
              </a:rPr>
              <a:t>Glue</a:t>
            </a:r>
            <a:endParaRPr lang="en-US" sz="2000" dirty="0"/>
          </a:p>
        </p:txBody>
      </p:sp>
      <p:sp>
        <p:nvSpPr>
          <p:cNvPr id="13" name="Text 11"/>
          <p:cNvSpPr txBox="1"/>
          <p:nvPr/>
        </p:nvSpPr>
        <p:spPr>
          <a:xfrm>
            <a:off x="3657600" y="2606040"/>
            <a:ext cx="1371600" cy="1463040"/>
          </a:xfrm>
          <a:prstGeom prst="rect">
            <a:avLst/>
          </a:prstGeom>
          <a:noFill/>
          <a:ln/>
        </p:spPr>
        <p:txBody>
          <a:bodyPr wrap="square" lIns="0" tIns="0" rIns="0" bIns="0" rtlCol="0" anchor="t"/>
          <a:lstStyle/>
          <a:p>
            <a:pPr indent="0" marL="0">
              <a:spcAft>
                <a:spcPts val="200"/>
              </a:spcAft>
              <a:buNone/>
            </a:pPr>
            <a:r>
              <a:rPr lang="en-US" sz="1300" dirty="0">
                <a:solidFill>
                  <a:srgbClr val="D5DAE1"/>
                </a:solidFill>
              </a:rPr>
              <a:t>dedupes</a:t>
            </a:r>
            <a:endParaRPr lang="en-US" sz="1300" dirty="0"/>
          </a:p>
          <a:p>
            <a:pPr indent="0" marL="0">
              <a:spcAft>
                <a:spcPts val="200"/>
              </a:spcAft>
              <a:buNone/>
            </a:pPr>
            <a:r>
              <a:rPr lang="en-US" sz="1300" dirty="0">
                <a:solidFill>
                  <a:srgbClr val="D5DAE1"/>
                </a:solidFill>
              </a:rPr>
              <a:t>retries</a:t>
            </a:r>
            <a:endParaRPr lang="en-US" sz="1300" dirty="0"/>
          </a:p>
          <a:p>
            <a:pPr indent="0" marL="0">
              <a:spcAft>
                <a:spcPts val="200"/>
              </a:spcAft>
              <a:buNone/>
            </a:pPr>
            <a:r>
              <a:rPr lang="en-US" sz="1300" dirty="0">
                <a:solidFill>
                  <a:srgbClr val="D5DAE1"/>
                </a:solidFill>
              </a:rPr>
              <a:t>reconciles</a:t>
            </a:r>
            <a:endParaRPr lang="en-US" sz="1300" dirty="0"/>
          </a:p>
          <a:p>
            <a:pPr indent="0" marL="0">
              <a:spcAft>
                <a:spcPts val="200"/>
              </a:spcAft>
              <a:buNone/>
            </a:pPr>
            <a:r>
              <a:rPr lang="en-US" sz="1300" dirty="0">
                <a:solidFill>
                  <a:srgbClr val="D5DAE1"/>
                </a:solidFill>
              </a:rPr>
              <a:t>asks</a:t>
            </a:r>
            <a:endParaRPr lang="en-US" sz="1300" dirty="0"/>
          </a:p>
        </p:txBody>
      </p:sp>
      <p:sp>
        <p:nvSpPr>
          <p:cNvPr id="14" name="warehouse"/>
          <p:cNvSpPr/>
          <p:nvPr/>
        </p:nvSpPr>
        <p:spPr>
          <a:xfrm>
            <a:off x="6446520" y="2423160"/>
            <a:ext cx="1783080" cy="1097280"/>
          </a:xfrm>
          <a:prstGeom prst="rect">
            <a:avLst/>
          </a:prstGeom>
          <a:solidFill>
            <a:schemeClr val="bg1"/>
          </a:solidFill>
          <a:ln w="19050">
            <a:solidFill>
              <a:schemeClr val="accent4"/>
            </a:solidFill>
            <a:prstDash val="solid"/>
          </a:ln>
        </p:spPr>
      </p:sp>
      <p:sp>
        <p:nvSpPr>
          <p:cNvPr id="15" name="Text 13"/>
          <p:cNvSpPr txBox="1"/>
          <p:nvPr/>
        </p:nvSpPr>
        <p:spPr>
          <a:xfrm>
            <a:off x="6592824" y="2542032"/>
            <a:ext cx="1508760" cy="201168"/>
          </a:xfrm>
          <a:prstGeom prst="rect">
            <a:avLst/>
          </a:prstGeom>
          <a:noFill/>
          <a:ln/>
        </p:spPr>
        <p:txBody>
          <a:bodyPr wrap="square" lIns="0" tIns="0" rIns="0" bIns="0" rtlCol="0" anchor="t"/>
          <a:lstStyle/>
          <a:p>
            <a:pPr indent="0" marL="0">
              <a:buNone/>
            </a:pPr>
            <a:r>
              <a:rPr lang="en-US" sz="1000" b="1" spc="50" kern="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6" name="Text 14"/>
          <p:cNvSpPr txBox="1"/>
          <p:nvPr/>
        </p:nvSpPr>
        <p:spPr>
          <a:xfrm>
            <a:off x="6592824" y="2761488"/>
            <a:ext cx="1508760" cy="512064"/>
          </a:xfrm>
          <a:prstGeom prst="rect">
            <a:avLst/>
          </a:prstGeom>
          <a:noFill/>
          <a:ln/>
        </p:spPr>
        <p:txBody>
          <a:bodyPr wrap="square" lIns="0" tIns="0" rIns="0" bIns="0" rtlCol="0" anchor="t"/>
          <a:lstStyle/>
          <a:p>
            <a:pPr indent="0" marL="0">
              <a:buNone/>
            </a:pPr>
            <a:r>
              <a:rPr lang="en-US" sz="1400" b="1" dirty="0">
                <a:solidFill>
                  <a:schemeClr val="tx1"/>
                </a:solidFill>
              </a:rPr>
              <a:t>Bucharest</a:t>
            </a:r>
            <a:endParaRPr lang="en-US" sz="1400" dirty="0"/>
          </a:p>
          <a:p>
            <a:pPr indent="0" marL="0">
              <a:buNone/>
            </a:pPr>
            <a:r>
              <a:rPr lang="en-US" sz="1400" b="1" dirty="0">
                <a:solidFill>
                  <a:schemeClr val="tx1"/>
                </a:solidFill>
              </a:rPr>
              <a:t>warehouse</a:t>
            </a:r>
            <a:endParaRPr lang="en-US" sz="1400" dirty="0"/>
          </a:p>
        </p:txBody>
      </p:sp>
      <p:sp>
        <p:nvSpPr>
          <p:cNvPr id="17" name="operator"/>
          <p:cNvSpPr/>
          <p:nvPr/>
        </p:nvSpPr>
        <p:spPr>
          <a:xfrm>
            <a:off x="3474720" y="4983480"/>
            <a:ext cx="1691640" cy="960120"/>
          </a:xfrm>
          <a:prstGeom prst="rect">
            <a:avLst/>
          </a:prstGeom>
          <a:solidFill>
            <a:schemeClr val="bg1"/>
          </a:solidFill>
          <a:ln w="15875">
            <a:solidFill>
              <a:srgbClr val="8A93A1"/>
            </a:solidFill>
            <a:prstDash val="solid"/>
          </a:ln>
        </p:spPr>
      </p:sp>
      <p:sp>
        <p:nvSpPr>
          <p:cNvPr id="18" name="Text 16"/>
          <p:cNvSpPr txBox="1"/>
          <p:nvPr/>
        </p:nvSpPr>
        <p:spPr>
          <a:xfrm>
            <a:off x="3621024" y="5102352"/>
            <a:ext cx="1417320" cy="201168"/>
          </a:xfrm>
          <a:prstGeom prst="rect">
            <a:avLst/>
          </a:prstGeom>
          <a:noFill/>
          <a:ln/>
        </p:spPr>
        <p:txBody>
          <a:bodyPr wrap="square" lIns="0" tIns="0" rIns="0" bIns="0" rtlCol="0" anchor="t"/>
          <a:lstStyle/>
          <a:p>
            <a:pPr indent="0" marL="0">
              <a:buNone/>
            </a:pPr>
            <a:r>
              <a:rPr lang="en-US" sz="1000" b="1" spc="50" kern="0" dirty="0">
                <a:solidFill>
                  <a:srgbClr val="3D4552"/>
                </a:solidFill>
                <a:latin typeface="Courier New" pitchFamily="34" charset="0"/>
                <a:ea typeface="Courier New" pitchFamily="34" charset="-122"/>
                <a:cs typeface="Courier New" pitchFamily="34" charset="-120"/>
              </a:rPr>
              <a:t>PERSON</a:t>
            </a:r>
            <a:endParaRPr lang="en-US" sz="1000" dirty="0"/>
          </a:p>
        </p:txBody>
      </p:sp>
      <p:sp>
        <p:nvSpPr>
          <p:cNvPr id="19" name="Text 17"/>
          <p:cNvSpPr txBox="1"/>
          <p:nvPr/>
        </p:nvSpPr>
        <p:spPr>
          <a:xfrm>
            <a:off x="3621024" y="5321808"/>
            <a:ext cx="1417320" cy="292608"/>
          </a:xfrm>
          <a:prstGeom prst="rect">
            <a:avLst/>
          </a:prstGeom>
          <a:noFill/>
          <a:ln/>
        </p:spPr>
        <p:txBody>
          <a:bodyPr wrap="square" lIns="0" tIns="0" rIns="0" bIns="0" rtlCol="0" anchor="t"/>
          <a:lstStyle/>
          <a:p>
            <a:pPr indent="0" marL="0">
              <a:buNone/>
            </a:pPr>
            <a:r>
              <a:rPr lang="en-US" sz="1500" b="1" dirty="0">
                <a:solidFill>
                  <a:schemeClr val="tx1"/>
                </a:solidFill>
              </a:rPr>
              <a:t>Operator</a:t>
            </a:r>
            <a:endParaRPr lang="en-US" sz="1500" dirty="0"/>
          </a:p>
        </p:txBody>
      </p:sp>
      <p:sp>
        <p:nvSpPr>
          <p:cNvPr id="20" name="Text 18"/>
          <p:cNvSpPr txBox="1"/>
          <p:nvPr/>
        </p:nvSpPr>
        <p:spPr>
          <a:xfrm>
            <a:off x="3621024" y="5641848"/>
            <a:ext cx="1417320" cy="228600"/>
          </a:xfrm>
          <a:prstGeom prst="rect">
            <a:avLst/>
          </a:prstGeom>
          <a:noFill/>
          <a:ln/>
        </p:spPr>
        <p:txBody>
          <a:bodyPr wrap="square" lIns="0" tIns="0" rIns="0" bIns="0" rtlCol="0" anchor="t"/>
          <a:lstStyle/>
          <a:p>
            <a:pPr indent="0" marL="0">
              <a:buNone/>
            </a:pPr>
            <a:r>
              <a:rPr lang="en-US" sz="1100" dirty="0">
                <a:solidFill>
                  <a:schemeClr val="tx2"/>
                </a:solidFill>
              </a:rPr>
              <a:t>the review queue</a:t>
            </a:r>
            <a:endParaRPr lang="en-US" sz="1100" dirty="0"/>
          </a:p>
        </p:txBody>
      </p:sp>
      <p:sp>
        <p:nvSpPr>
          <p:cNvPr id="21" name="Shape 19"/>
          <p:cNvSpPr/>
          <p:nvPr/>
        </p:nvSpPr>
        <p:spPr>
          <a:xfrm>
            <a:off x="2331720" y="2011680"/>
            <a:ext cx="1143000" cy="0"/>
          </a:xfrm>
          <a:prstGeom prst="line">
            <a:avLst/>
          </a:prstGeom>
          <a:noFill/>
          <a:ln w="15875">
            <a:solidFill>
              <a:schemeClr val="tx1"/>
            </a:solidFill>
            <a:prstDash val="solid"/>
            <a:tailEnd type="triangle"/>
          </a:ln>
        </p:spPr>
      </p:sp>
      <p:sp>
        <p:nvSpPr>
          <p:cNvPr id="22" name="Text 20"/>
          <p:cNvSpPr txBox="1"/>
          <p:nvPr/>
        </p:nvSpPr>
        <p:spPr>
          <a:xfrm>
            <a:off x="2331720" y="1801368"/>
            <a:ext cx="114300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ORDERS</a:t>
            </a:r>
            <a:endParaRPr lang="en-US" sz="1000" dirty="0"/>
          </a:p>
        </p:txBody>
      </p:sp>
      <p:sp>
        <p:nvSpPr>
          <p:cNvPr id="23" name="Shape 21"/>
          <p:cNvSpPr/>
          <p:nvPr/>
        </p:nvSpPr>
        <p:spPr>
          <a:xfrm flipH="1">
            <a:off x="2331720" y="2331720"/>
            <a:ext cx="1143000" cy="0"/>
          </a:xfrm>
          <a:prstGeom prst="line">
            <a:avLst/>
          </a:prstGeom>
          <a:noFill/>
          <a:ln w="15875">
            <a:solidFill>
              <a:schemeClr val="tx1"/>
            </a:solidFill>
            <a:prstDash val="solid"/>
            <a:tailEnd type="triangle"/>
          </a:ln>
        </p:spPr>
      </p:sp>
      <p:sp>
        <p:nvSpPr>
          <p:cNvPr id="24" name="Text 22"/>
          <p:cNvSpPr txBox="1"/>
          <p:nvPr/>
        </p:nvSpPr>
        <p:spPr>
          <a:xfrm>
            <a:off x="2331720" y="2377440"/>
            <a:ext cx="114300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TRUE STOCK</a:t>
            </a:r>
            <a:endParaRPr lang="en-US" sz="1000" dirty="0"/>
          </a:p>
        </p:txBody>
      </p:sp>
      <p:sp>
        <p:nvSpPr>
          <p:cNvPr id="25" name="Shape 23"/>
          <p:cNvSpPr/>
          <p:nvPr/>
        </p:nvSpPr>
        <p:spPr>
          <a:xfrm>
            <a:off x="2331720" y="3657600"/>
            <a:ext cx="1143000" cy="0"/>
          </a:xfrm>
          <a:prstGeom prst="line">
            <a:avLst/>
          </a:prstGeom>
          <a:noFill/>
          <a:ln w="15875">
            <a:solidFill>
              <a:schemeClr val="tx1"/>
            </a:solidFill>
            <a:prstDash val="solid"/>
            <a:tailEnd type="triangle"/>
          </a:ln>
        </p:spPr>
      </p:sp>
      <p:sp>
        <p:nvSpPr>
          <p:cNvPr id="26" name="Text 24"/>
          <p:cNvSpPr txBox="1"/>
          <p:nvPr/>
        </p:nvSpPr>
        <p:spPr>
          <a:xfrm>
            <a:off x="2331720" y="3447288"/>
            <a:ext cx="114300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ORDERS</a:t>
            </a:r>
            <a:endParaRPr lang="en-US" sz="1000" dirty="0"/>
          </a:p>
        </p:txBody>
      </p:sp>
      <p:sp>
        <p:nvSpPr>
          <p:cNvPr id="27" name="Shape 25"/>
          <p:cNvSpPr/>
          <p:nvPr/>
        </p:nvSpPr>
        <p:spPr>
          <a:xfrm flipH="1">
            <a:off x="2331720" y="3977640"/>
            <a:ext cx="1143000" cy="0"/>
          </a:xfrm>
          <a:prstGeom prst="line">
            <a:avLst/>
          </a:prstGeom>
          <a:noFill/>
          <a:ln w="15875">
            <a:solidFill>
              <a:schemeClr val="tx1"/>
            </a:solidFill>
            <a:prstDash val="solid"/>
            <a:tailEnd type="triangle"/>
          </a:ln>
        </p:spPr>
      </p:sp>
      <p:sp>
        <p:nvSpPr>
          <p:cNvPr id="28" name="Text 26"/>
          <p:cNvSpPr txBox="1"/>
          <p:nvPr/>
        </p:nvSpPr>
        <p:spPr>
          <a:xfrm>
            <a:off x="2331720" y="4023360"/>
            <a:ext cx="114300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TRUE STOCK</a:t>
            </a:r>
            <a:endParaRPr lang="en-US" sz="1000" dirty="0"/>
          </a:p>
        </p:txBody>
      </p:sp>
      <p:sp>
        <p:nvSpPr>
          <p:cNvPr id="29" name="Shape 27"/>
          <p:cNvSpPr/>
          <p:nvPr/>
        </p:nvSpPr>
        <p:spPr>
          <a:xfrm>
            <a:off x="5166360" y="2788920"/>
            <a:ext cx="1280160" cy="0"/>
          </a:xfrm>
          <a:prstGeom prst="line">
            <a:avLst/>
          </a:prstGeom>
          <a:noFill/>
          <a:ln w="15875">
            <a:solidFill>
              <a:schemeClr val="tx1"/>
            </a:solidFill>
            <a:prstDash val="solid"/>
            <a:tailEnd type="triangle"/>
          </a:ln>
        </p:spPr>
      </p:sp>
      <p:sp>
        <p:nvSpPr>
          <p:cNvPr id="30" name="Text 28"/>
          <p:cNvSpPr txBox="1"/>
          <p:nvPr/>
        </p:nvSpPr>
        <p:spPr>
          <a:xfrm>
            <a:off x="5166360" y="2578608"/>
            <a:ext cx="128016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RESERVE ONCE</a:t>
            </a:r>
            <a:endParaRPr lang="en-US" sz="1000" dirty="0"/>
          </a:p>
        </p:txBody>
      </p:sp>
      <p:sp>
        <p:nvSpPr>
          <p:cNvPr id="31" name="Shape 29"/>
          <p:cNvSpPr/>
          <p:nvPr/>
        </p:nvSpPr>
        <p:spPr>
          <a:xfrm flipH="1">
            <a:off x="5166360" y="3154680"/>
            <a:ext cx="1280160" cy="0"/>
          </a:xfrm>
          <a:prstGeom prst="line">
            <a:avLst/>
          </a:prstGeom>
          <a:noFill/>
          <a:ln w="15875">
            <a:solidFill>
              <a:schemeClr val="tx1"/>
            </a:solidFill>
            <a:prstDash val="solid"/>
            <a:tailEnd type="triangle"/>
          </a:ln>
        </p:spPr>
      </p:sp>
      <p:sp>
        <p:nvSpPr>
          <p:cNvPr id="32" name="Text 30"/>
          <p:cNvSpPr txBox="1"/>
          <p:nvPr/>
        </p:nvSpPr>
        <p:spPr>
          <a:xfrm>
            <a:off x="5166360" y="3200400"/>
            <a:ext cx="128016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STOCK, SHIPPED</a:t>
            </a:r>
            <a:endParaRPr lang="en-US" sz="1000" dirty="0"/>
          </a:p>
        </p:txBody>
      </p:sp>
      <p:sp>
        <p:nvSpPr>
          <p:cNvPr id="33" name="Shape 31"/>
          <p:cNvSpPr/>
          <p:nvPr/>
        </p:nvSpPr>
        <p:spPr>
          <a:xfrm>
            <a:off x="4315968" y="4251960"/>
            <a:ext cx="0" cy="731520"/>
          </a:xfrm>
          <a:prstGeom prst="line">
            <a:avLst/>
          </a:prstGeom>
          <a:noFill/>
          <a:ln w="15875">
            <a:solidFill>
              <a:schemeClr val="tx1"/>
            </a:solidFill>
            <a:prstDash val="solid"/>
            <a:tailEnd type="triangle"/>
          </a:ln>
        </p:spPr>
      </p:sp>
      <p:sp>
        <p:nvSpPr>
          <p:cNvPr id="34" name="Text 32"/>
          <p:cNvSpPr txBox="1"/>
          <p:nvPr/>
        </p:nvSpPr>
        <p:spPr>
          <a:xfrm>
            <a:off x="4434840" y="4507992"/>
            <a:ext cx="1463040" cy="182880"/>
          </a:xfrm>
          <a:prstGeom prst="rect">
            <a:avLst/>
          </a:prstGeom>
          <a:noFill/>
          <a:ln/>
        </p:spPr>
        <p:txBody>
          <a:bodyPr wrap="square" lIns="0" tIns="0" rIns="0" bIns="0" rtlCol="0" anchor="ctr"/>
          <a:lstStyle/>
          <a:p>
            <a:pPr algn="l" indent="0" marL="0">
              <a:buNone/>
            </a:pPr>
            <a:r>
              <a:rPr lang="en-US" sz="1000" b="1" dirty="0">
                <a:solidFill>
                  <a:schemeClr val="tx2"/>
                </a:solidFill>
                <a:latin typeface="Courier New" pitchFamily="34" charset="0"/>
                <a:ea typeface="Courier New" pitchFamily="34" charset="-122"/>
                <a:cs typeface="Courier New" pitchFamily="34" charset="-120"/>
              </a:rPr>
              <a:t>WHEN UNSURE</a:t>
            </a:r>
            <a:endParaRPr lang="en-US" sz="1000" dirty="0"/>
          </a:p>
        </p:txBody>
      </p:sp>
      <p:sp>
        <p:nvSpPr>
          <p:cNvPr id="35" name="Text 33"/>
          <p:cNvSpPr txBox="1"/>
          <p:nvPr/>
        </p:nvSpPr>
        <p:spPr>
          <a:xfrm>
            <a:off x="8503920" y="1691640"/>
            <a:ext cx="3136392" cy="320040"/>
          </a:xfrm>
          <a:prstGeom prst="rect">
            <a:avLst/>
          </a:prstGeom>
          <a:noFill/>
          <a:ln/>
        </p:spPr>
        <p:txBody>
          <a:bodyPr wrap="square" lIns="0" tIns="0" rIns="0" bIns="0" rtlCol="0" anchor="t"/>
          <a:lstStyle/>
          <a:p>
            <a:pPr indent="0" marL="0">
              <a:buNone/>
            </a:pPr>
            <a:r>
              <a:rPr lang="en-US" sz="1800" b="1" dirty="0">
                <a:solidFill>
                  <a:schemeClr val="tx1"/>
                </a:solidFill>
              </a:rPr>
              <a:t>What it promises</a:t>
            </a:r>
            <a:endParaRPr lang="en-US" sz="1800" dirty="0"/>
          </a:p>
        </p:txBody>
      </p:sp>
      <p:sp>
        <p:nvSpPr>
          <p:cNvPr id="36" name="step 1"/>
          <p:cNvSpPr/>
          <p:nvPr/>
        </p:nvSpPr>
        <p:spPr>
          <a:xfrm>
            <a:off x="8503920" y="2194560"/>
            <a:ext cx="384048" cy="384048"/>
          </a:xfrm>
          <a:prstGeom prst="ellipse">
            <a:avLst/>
          </a:prstGeom>
          <a:solidFill>
            <a:schemeClr val="tx1"/>
          </a:solidFill>
          <a:ln/>
        </p:spPr>
      </p:sp>
      <p:sp>
        <p:nvSpPr>
          <p:cNvPr id="37" name="Text 35"/>
          <p:cNvSpPr txBox="1"/>
          <p:nvPr/>
        </p:nvSpPr>
        <p:spPr>
          <a:xfrm>
            <a:off x="8503920" y="21945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38" name="Text 36"/>
          <p:cNvSpPr txBox="1"/>
          <p:nvPr/>
        </p:nvSpPr>
        <p:spPr>
          <a:xfrm>
            <a:off x="9052560" y="2157984"/>
            <a:ext cx="2587752" cy="502920"/>
          </a:xfrm>
          <a:prstGeom prst="rect">
            <a:avLst/>
          </a:prstGeom>
          <a:noFill/>
          <a:ln/>
        </p:spPr>
        <p:txBody>
          <a:bodyPr wrap="square" lIns="0" tIns="0" rIns="0" bIns="0" rtlCol="0" anchor="t"/>
          <a:lstStyle/>
          <a:p>
            <a:pPr indent="0" marL="0">
              <a:buNone/>
            </a:pPr>
            <a:r>
              <a:rPr lang="en-US" sz="1500" b="1" dirty="0">
                <a:solidFill>
                  <a:schemeClr val="tx1"/>
                </a:solidFill>
              </a:rPr>
              <a:t>Every order reaches the warehouse once</a:t>
            </a:r>
            <a:endParaRPr lang="en-US" sz="1500" dirty="0"/>
          </a:p>
        </p:txBody>
      </p:sp>
      <p:sp>
        <p:nvSpPr>
          <p:cNvPr id="39" name="Text 37"/>
          <p:cNvSpPr txBox="1"/>
          <p:nvPr/>
        </p:nvSpPr>
        <p:spPr>
          <a:xfrm>
            <a:off x="9052560" y="2670048"/>
            <a:ext cx="2587752" cy="685800"/>
          </a:xfrm>
          <a:prstGeom prst="rect">
            <a:avLst/>
          </a:prstGeom>
          <a:noFill/>
          <a:ln/>
        </p:spPr>
        <p:txBody>
          <a:bodyPr wrap="square" lIns="0" tIns="0" rIns="0" bIns="0" rtlCol="0" anchor="t"/>
          <a:lstStyle/>
          <a:p>
            <a:pPr indent="0" marL="0">
              <a:buNone/>
            </a:pPr>
            <a:r>
              <a:rPr lang="en-US" sz="1400" dirty="0">
                <a:solidFill>
                  <a:schemeClr val="tx2"/>
                </a:solidFill>
              </a:rPr>
              <a:t>whatever is duplicated, delayed or out of order.</a:t>
            </a:r>
            <a:endParaRPr lang="en-US" sz="1400" dirty="0"/>
          </a:p>
        </p:txBody>
      </p:sp>
      <p:sp>
        <p:nvSpPr>
          <p:cNvPr id="40" name="step 2"/>
          <p:cNvSpPr/>
          <p:nvPr/>
        </p:nvSpPr>
        <p:spPr>
          <a:xfrm>
            <a:off x="8503920" y="3474720"/>
            <a:ext cx="384048" cy="384048"/>
          </a:xfrm>
          <a:prstGeom prst="ellipse">
            <a:avLst/>
          </a:prstGeom>
          <a:solidFill>
            <a:schemeClr val="tx1"/>
          </a:solidFill>
          <a:ln/>
        </p:spPr>
      </p:sp>
      <p:sp>
        <p:nvSpPr>
          <p:cNvPr id="41" name="Text 39"/>
          <p:cNvSpPr txBox="1"/>
          <p:nvPr/>
        </p:nvSpPr>
        <p:spPr>
          <a:xfrm>
            <a:off x="8503920" y="347472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42" name="Text 40"/>
          <p:cNvSpPr txBox="1"/>
          <p:nvPr/>
        </p:nvSpPr>
        <p:spPr>
          <a:xfrm>
            <a:off x="9052560" y="3438144"/>
            <a:ext cx="2587752" cy="502920"/>
          </a:xfrm>
          <a:prstGeom prst="rect">
            <a:avLst/>
          </a:prstGeom>
          <a:noFill/>
          <a:ln/>
        </p:spPr>
        <p:txBody>
          <a:bodyPr wrap="square" lIns="0" tIns="0" rIns="0" bIns="0" rtlCol="0" anchor="t"/>
          <a:lstStyle/>
          <a:p>
            <a:pPr indent="0" marL="0">
              <a:buNone/>
            </a:pPr>
            <a:r>
              <a:rPr lang="en-US" sz="1500" b="1" dirty="0">
                <a:solidFill>
                  <a:schemeClr val="tx1"/>
                </a:solidFill>
              </a:rPr>
              <a:t>Both channels show the warehouse's figure</a:t>
            </a:r>
            <a:endParaRPr lang="en-US" sz="1500" dirty="0"/>
          </a:p>
        </p:txBody>
      </p:sp>
      <p:sp>
        <p:nvSpPr>
          <p:cNvPr id="43" name="Text 41"/>
          <p:cNvSpPr txBox="1"/>
          <p:nvPr/>
        </p:nvSpPr>
        <p:spPr>
          <a:xfrm>
            <a:off x="9052560" y="3950208"/>
            <a:ext cx="2587752" cy="685800"/>
          </a:xfrm>
          <a:prstGeom prst="rect">
            <a:avLst/>
          </a:prstGeom>
          <a:noFill/>
          <a:ln/>
        </p:spPr>
        <p:txBody>
          <a:bodyPr wrap="square" lIns="0" tIns="0" rIns="0" bIns="0" rtlCol="0" anchor="t"/>
          <a:lstStyle/>
          <a:p>
            <a:pPr indent="0" marL="0">
              <a:buNone/>
            </a:pPr>
            <a:r>
              <a:rPr lang="en-US" sz="1400" dirty="0">
                <a:solidFill>
                  <a:schemeClr val="tx2"/>
                </a:solidFill>
              </a:rPr>
              <a:t>seconds after a change, and any drift heals within 10 seconds.</a:t>
            </a:r>
            <a:endParaRPr lang="en-US" sz="1400" dirty="0"/>
          </a:p>
        </p:txBody>
      </p:sp>
      <p:sp>
        <p:nvSpPr>
          <p:cNvPr id="44" name="step 3"/>
          <p:cNvSpPr/>
          <p:nvPr/>
        </p:nvSpPr>
        <p:spPr>
          <a:xfrm>
            <a:off x="8503920" y="4754880"/>
            <a:ext cx="384048" cy="384048"/>
          </a:xfrm>
          <a:prstGeom prst="ellipse">
            <a:avLst/>
          </a:prstGeom>
          <a:solidFill>
            <a:schemeClr val="tx1"/>
          </a:solidFill>
          <a:ln/>
        </p:spPr>
      </p:sp>
      <p:sp>
        <p:nvSpPr>
          <p:cNvPr id="45" name="Text 43"/>
          <p:cNvSpPr txBox="1"/>
          <p:nvPr/>
        </p:nvSpPr>
        <p:spPr>
          <a:xfrm>
            <a:off x="8503920" y="47548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46" name="Text 44"/>
          <p:cNvSpPr txBox="1"/>
          <p:nvPr/>
        </p:nvSpPr>
        <p:spPr>
          <a:xfrm>
            <a:off x="9052560" y="4718304"/>
            <a:ext cx="2587752" cy="502920"/>
          </a:xfrm>
          <a:prstGeom prst="rect">
            <a:avLst/>
          </a:prstGeom>
          <a:noFill/>
          <a:ln/>
        </p:spPr>
        <p:txBody>
          <a:bodyPr wrap="square" lIns="0" tIns="0" rIns="0" bIns="0" rtlCol="0" anchor="t"/>
          <a:lstStyle/>
          <a:p>
            <a:pPr indent="0" marL="0">
              <a:buNone/>
            </a:pPr>
            <a:r>
              <a:rPr lang="en-US" sz="1500" b="1" dirty="0">
                <a:solidFill>
                  <a:schemeClr val="tx1"/>
                </a:solidFill>
              </a:rPr>
              <a:t>When it cannot decide safely, it asks</a:t>
            </a:r>
            <a:endParaRPr lang="en-US" sz="1500" dirty="0"/>
          </a:p>
        </p:txBody>
      </p:sp>
      <p:sp>
        <p:nvSpPr>
          <p:cNvPr id="47" name="Text 45"/>
          <p:cNvSpPr txBox="1"/>
          <p:nvPr/>
        </p:nvSpPr>
        <p:spPr>
          <a:xfrm>
            <a:off x="9052560" y="5230368"/>
            <a:ext cx="2587752" cy="685800"/>
          </a:xfrm>
          <a:prstGeom prst="rect">
            <a:avLst/>
          </a:prstGeom>
          <a:noFill/>
          <a:ln/>
        </p:spPr>
        <p:txBody>
          <a:bodyPr wrap="square" lIns="0" tIns="0" rIns="0" bIns="0" rtlCol="0" anchor="t"/>
          <a:lstStyle/>
          <a:p>
            <a:pPr indent="0" marL="0">
              <a:buNone/>
            </a:pPr>
            <a:r>
              <a:rPr lang="en-US" sz="1400" dirty="0">
                <a:solidFill>
                  <a:schemeClr val="tx2"/>
                </a:solidFill>
              </a:rPr>
              <a:t>a person sees the order, the reason and what each choice does.</a:t>
            </a:r>
            <a:endParaRPr lang="en-US" sz="14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DESIGN</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Architecture</a:t>
            </a:r>
            <a:endParaRPr lang="en-US" sz="3200" dirty="0"/>
          </a:p>
        </p:txBody>
      </p:sp>
      <p:sp>
        <p:nvSpPr>
          <p:cNvPr id="4" name="glue"/>
          <p:cNvSpPr/>
          <p:nvPr/>
        </p:nvSpPr>
        <p:spPr>
          <a:xfrm>
            <a:off x="3886200" y="1463040"/>
            <a:ext cx="4434840" cy="3108960"/>
          </a:xfrm>
          <a:prstGeom prst="rect">
            <a:avLst/>
          </a:prstGeom>
          <a:solidFill>
            <a:schemeClr val="tx1"/>
          </a:solidFill>
          <a:ln/>
        </p:spPr>
      </p:sp>
      <p:sp>
        <p:nvSpPr>
          <p:cNvPr id="5" name="Text 3"/>
          <p:cNvSpPr txBox="1"/>
          <p:nvPr/>
        </p:nvSpPr>
        <p:spPr>
          <a:xfrm>
            <a:off x="4069080" y="1591056"/>
            <a:ext cx="4069080" cy="201168"/>
          </a:xfrm>
          <a:prstGeom prst="rect">
            <a:avLst/>
          </a:prstGeom>
          <a:noFill/>
          <a:ln/>
        </p:spPr>
        <p:txBody>
          <a:bodyPr wrap="square" lIns="0" tIns="0" rIns="0" bIns="0" rtlCol="0" anchor="t"/>
          <a:lstStyle/>
          <a:p>
            <a:pPr indent="0" marL="0">
              <a:buNone/>
            </a:pPr>
            <a:r>
              <a:rPr lang="en-US" sz="1000" b="1" spc="50" kern="0" dirty="0">
                <a:solidFill>
                  <a:srgbClr val="A3ABB8"/>
                </a:solidFill>
                <a:latin typeface="Courier New" pitchFamily="34" charset="0"/>
                <a:ea typeface="Courier New" pitchFamily="34" charset="-122"/>
                <a:cs typeface="Courier New" pitchFamily="34" charset="-120"/>
              </a:rPr>
              <a:t>GLUE · ONE FASTAPI PROCESS · :8000</a:t>
            </a:r>
            <a:endParaRPr lang="en-US" sz="1000" dirty="0"/>
          </a:p>
        </p:txBody>
      </p:sp>
      <p:sp>
        <p:nvSpPr>
          <p:cNvPr id="6" name="Inbox"/>
          <p:cNvSpPr/>
          <p:nvPr/>
        </p:nvSpPr>
        <p:spPr>
          <a:xfrm>
            <a:off x="4069080" y="1892808"/>
            <a:ext cx="1173480" cy="777240"/>
          </a:xfrm>
          <a:prstGeom prst="roundRect">
            <a:avLst>
              <a:gd name="adj" fmla="val 5882"/>
            </a:avLst>
          </a:prstGeom>
          <a:solidFill>
            <a:srgbClr val="262B33"/>
          </a:solidFill>
          <a:ln/>
        </p:spPr>
      </p:sp>
      <p:sp>
        <p:nvSpPr>
          <p:cNvPr id="7" name="Text 5"/>
          <p:cNvSpPr txBox="1"/>
          <p:nvPr/>
        </p:nvSpPr>
        <p:spPr>
          <a:xfrm>
            <a:off x="4160520" y="1975104"/>
            <a:ext cx="1036320" cy="219456"/>
          </a:xfrm>
          <a:prstGeom prst="rect">
            <a:avLst/>
          </a:prstGeom>
          <a:noFill/>
          <a:ln/>
        </p:spPr>
        <p:txBody>
          <a:bodyPr wrap="square" lIns="0" tIns="0" rIns="0" bIns="0" rtlCol="0" anchor="t"/>
          <a:lstStyle/>
          <a:p>
            <a:pPr indent="0" marL="0">
              <a:buNone/>
            </a:pPr>
            <a:r>
              <a:rPr lang="en-US" sz="1200" b="1" dirty="0">
                <a:solidFill>
                  <a:schemeClr val="bg1"/>
                </a:solidFill>
              </a:rPr>
              <a:t>Inbox</a:t>
            </a:r>
            <a:endParaRPr lang="en-US" sz="1200" dirty="0"/>
          </a:p>
        </p:txBody>
      </p:sp>
      <p:sp>
        <p:nvSpPr>
          <p:cNvPr id="8" name="Text 6"/>
          <p:cNvSpPr txBox="1"/>
          <p:nvPr/>
        </p:nvSpPr>
        <p:spPr>
          <a:xfrm>
            <a:off x="4160520" y="2221992"/>
            <a:ext cx="1036320" cy="384048"/>
          </a:xfrm>
          <a:prstGeom prst="rect">
            <a:avLst/>
          </a:prstGeom>
          <a:noFill/>
          <a:ln/>
        </p:spPr>
        <p:txBody>
          <a:bodyPr wrap="square" lIns="0" tIns="0" rIns="0" bIns="0" rtlCol="0" anchor="t"/>
          <a:lstStyle/>
          <a:p>
            <a:pPr indent="0" marL="0">
              <a:buNone/>
            </a:pPr>
            <a:r>
              <a:rPr lang="en-US" sz="1000" dirty="0">
                <a:solidFill>
                  <a:srgbClr val="D5DAE1"/>
                </a:solidFill>
              </a:rPr>
              <a:t>verify, save,</a:t>
            </a:r>
            <a:endParaRPr lang="en-US" sz="1000" dirty="0"/>
          </a:p>
          <a:p>
            <a:pPr indent="0" marL="0">
              <a:buNone/>
            </a:pPr>
            <a:r>
              <a:rPr lang="en-US" sz="1000" dirty="0">
                <a:solidFill>
                  <a:srgbClr val="D5DAE1"/>
                </a:solidFill>
              </a:rPr>
              <a:t>answer 202</a:t>
            </a:r>
            <a:endParaRPr lang="en-US" sz="1000" dirty="0"/>
          </a:p>
        </p:txBody>
      </p:sp>
      <p:sp>
        <p:nvSpPr>
          <p:cNvPr id="9" name="Worker"/>
          <p:cNvSpPr/>
          <p:nvPr/>
        </p:nvSpPr>
        <p:spPr>
          <a:xfrm>
            <a:off x="5516880" y="1892808"/>
            <a:ext cx="1173480" cy="777240"/>
          </a:xfrm>
          <a:prstGeom prst="roundRect">
            <a:avLst>
              <a:gd name="adj" fmla="val 5882"/>
            </a:avLst>
          </a:prstGeom>
          <a:solidFill>
            <a:srgbClr val="262B33"/>
          </a:solidFill>
          <a:ln/>
        </p:spPr>
      </p:sp>
      <p:sp>
        <p:nvSpPr>
          <p:cNvPr id="10" name="Text 8"/>
          <p:cNvSpPr txBox="1"/>
          <p:nvPr/>
        </p:nvSpPr>
        <p:spPr>
          <a:xfrm>
            <a:off x="5608320" y="1975104"/>
            <a:ext cx="1036320" cy="219456"/>
          </a:xfrm>
          <a:prstGeom prst="rect">
            <a:avLst/>
          </a:prstGeom>
          <a:noFill/>
          <a:ln/>
        </p:spPr>
        <p:txBody>
          <a:bodyPr wrap="square" lIns="0" tIns="0" rIns="0" bIns="0" rtlCol="0" anchor="t"/>
          <a:lstStyle/>
          <a:p>
            <a:pPr indent="0" marL="0">
              <a:buNone/>
            </a:pPr>
            <a:r>
              <a:rPr lang="en-US" sz="1200" b="1" dirty="0">
                <a:solidFill>
                  <a:schemeClr val="bg1"/>
                </a:solidFill>
              </a:rPr>
              <a:t>Worker</a:t>
            </a:r>
            <a:endParaRPr lang="en-US" sz="1200" dirty="0"/>
          </a:p>
        </p:txBody>
      </p:sp>
      <p:sp>
        <p:nvSpPr>
          <p:cNvPr id="11" name="Text 9"/>
          <p:cNvSpPr txBox="1"/>
          <p:nvPr/>
        </p:nvSpPr>
        <p:spPr>
          <a:xfrm>
            <a:off x="5608320" y="2221992"/>
            <a:ext cx="1036320" cy="384048"/>
          </a:xfrm>
          <a:prstGeom prst="rect">
            <a:avLst/>
          </a:prstGeom>
          <a:noFill/>
          <a:ln/>
        </p:spPr>
        <p:txBody>
          <a:bodyPr wrap="square" lIns="0" tIns="0" rIns="0" bIns="0" rtlCol="0" anchor="t"/>
          <a:lstStyle/>
          <a:p>
            <a:pPr indent="0" marL="0">
              <a:buNone/>
            </a:pPr>
            <a:r>
              <a:rPr lang="en-US" sz="1000" dirty="0">
                <a:solidFill>
                  <a:srgbClr val="D5DAE1"/>
                </a:solidFill>
              </a:rPr>
              <a:t>one order</a:t>
            </a:r>
            <a:endParaRPr lang="en-US" sz="1000" dirty="0"/>
          </a:p>
          <a:p>
            <a:pPr indent="0" marL="0">
              <a:buNone/>
            </a:pPr>
            <a:r>
              <a:rPr lang="en-US" sz="1000" dirty="0">
                <a:solidFill>
                  <a:srgbClr val="D5DAE1"/>
                </a:solidFill>
              </a:rPr>
              <a:t>at a time</a:t>
            </a:r>
            <a:endParaRPr lang="en-US" sz="1000" dirty="0"/>
          </a:p>
        </p:txBody>
      </p:sp>
      <p:sp>
        <p:nvSpPr>
          <p:cNvPr id="12" name="Router"/>
          <p:cNvSpPr/>
          <p:nvPr/>
        </p:nvSpPr>
        <p:spPr>
          <a:xfrm>
            <a:off x="6964680" y="1892808"/>
            <a:ext cx="1173480" cy="777240"/>
          </a:xfrm>
          <a:prstGeom prst="roundRect">
            <a:avLst>
              <a:gd name="adj" fmla="val 5882"/>
            </a:avLst>
          </a:prstGeom>
          <a:solidFill>
            <a:srgbClr val="262B33"/>
          </a:solidFill>
          <a:ln/>
        </p:spPr>
      </p:sp>
      <p:sp>
        <p:nvSpPr>
          <p:cNvPr id="13" name="Text 11"/>
          <p:cNvSpPr txBox="1"/>
          <p:nvPr/>
        </p:nvSpPr>
        <p:spPr>
          <a:xfrm>
            <a:off x="7056120" y="1975104"/>
            <a:ext cx="1036320" cy="219456"/>
          </a:xfrm>
          <a:prstGeom prst="rect">
            <a:avLst/>
          </a:prstGeom>
          <a:noFill/>
          <a:ln/>
        </p:spPr>
        <p:txBody>
          <a:bodyPr wrap="square" lIns="0" tIns="0" rIns="0" bIns="0" rtlCol="0" anchor="t"/>
          <a:lstStyle/>
          <a:p>
            <a:pPr indent="0" marL="0">
              <a:buNone/>
            </a:pPr>
            <a:r>
              <a:rPr lang="en-US" sz="1200" b="1" dirty="0">
                <a:solidFill>
                  <a:schemeClr val="bg1"/>
                </a:solidFill>
              </a:rPr>
              <a:t>Router</a:t>
            </a:r>
            <a:endParaRPr lang="en-US" sz="1200" dirty="0"/>
          </a:p>
        </p:txBody>
      </p:sp>
      <p:sp>
        <p:nvSpPr>
          <p:cNvPr id="14" name="Text 12"/>
          <p:cNvSpPr txBox="1"/>
          <p:nvPr/>
        </p:nvSpPr>
        <p:spPr>
          <a:xfrm>
            <a:off x="7056120" y="2221992"/>
            <a:ext cx="1036320" cy="384048"/>
          </a:xfrm>
          <a:prstGeom prst="rect">
            <a:avLst/>
          </a:prstGeom>
          <a:noFill/>
          <a:ln/>
        </p:spPr>
        <p:txBody>
          <a:bodyPr wrap="square" lIns="0" tIns="0" rIns="0" bIns="0" rtlCol="0" anchor="t"/>
          <a:lstStyle/>
          <a:p>
            <a:pPr indent="0" marL="0">
              <a:buNone/>
            </a:pPr>
            <a:r>
              <a:rPr lang="en-US" sz="1000" dirty="0">
                <a:solidFill>
                  <a:srgbClr val="D5DAE1"/>
                </a:solidFill>
              </a:rPr>
              <a:t>only writer of</a:t>
            </a:r>
            <a:endParaRPr lang="en-US" sz="1000" dirty="0"/>
          </a:p>
          <a:p>
            <a:pPr indent="0" marL="0">
              <a:buNone/>
            </a:pPr>
            <a:r>
              <a:rPr lang="en-US" sz="1000" dirty="0">
                <a:solidFill>
                  <a:srgbClr val="D5DAE1"/>
                </a:solidFill>
              </a:rPr>
              <a:t>order status</a:t>
            </a:r>
            <a:endParaRPr lang="en-US" sz="1000" dirty="0"/>
          </a:p>
        </p:txBody>
      </p:sp>
      <p:sp>
        <p:nvSpPr>
          <p:cNvPr id="15" name="Audit log"/>
          <p:cNvSpPr/>
          <p:nvPr/>
        </p:nvSpPr>
        <p:spPr>
          <a:xfrm>
            <a:off x="4069080" y="2944368"/>
            <a:ext cx="1173480" cy="777240"/>
          </a:xfrm>
          <a:prstGeom prst="roundRect">
            <a:avLst>
              <a:gd name="adj" fmla="val 5882"/>
            </a:avLst>
          </a:prstGeom>
          <a:solidFill>
            <a:srgbClr val="262B33"/>
          </a:solidFill>
          <a:ln/>
        </p:spPr>
      </p:sp>
      <p:sp>
        <p:nvSpPr>
          <p:cNvPr id="16" name="Text 14"/>
          <p:cNvSpPr txBox="1"/>
          <p:nvPr/>
        </p:nvSpPr>
        <p:spPr>
          <a:xfrm>
            <a:off x="4160520" y="3026664"/>
            <a:ext cx="1036320" cy="219456"/>
          </a:xfrm>
          <a:prstGeom prst="rect">
            <a:avLst/>
          </a:prstGeom>
          <a:noFill/>
          <a:ln/>
        </p:spPr>
        <p:txBody>
          <a:bodyPr wrap="square" lIns="0" tIns="0" rIns="0" bIns="0" rtlCol="0" anchor="t"/>
          <a:lstStyle/>
          <a:p>
            <a:pPr indent="0" marL="0">
              <a:buNone/>
            </a:pPr>
            <a:r>
              <a:rPr lang="en-US" sz="1200" b="1" dirty="0">
                <a:solidFill>
                  <a:schemeClr val="bg1"/>
                </a:solidFill>
              </a:rPr>
              <a:t>Audit log</a:t>
            </a:r>
            <a:endParaRPr lang="en-US" sz="1200" dirty="0"/>
          </a:p>
        </p:txBody>
      </p:sp>
      <p:sp>
        <p:nvSpPr>
          <p:cNvPr id="17" name="Text 15"/>
          <p:cNvSpPr txBox="1"/>
          <p:nvPr/>
        </p:nvSpPr>
        <p:spPr>
          <a:xfrm>
            <a:off x="4160520" y="3273552"/>
            <a:ext cx="1036320" cy="384048"/>
          </a:xfrm>
          <a:prstGeom prst="rect">
            <a:avLst/>
          </a:prstGeom>
          <a:noFill/>
          <a:ln/>
        </p:spPr>
        <p:txBody>
          <a:bodyPr wrap="square" lIns="0" tIns="0" rIns="0" bIns="0" rtlCol="0" anchor="t"/>
          <a:lstStyle/>
          <a:p>
            <a:pPr indent="0" marL="0">
              <a:buNone/>
            </a:pPr>
            <a:r>
              <a:rPr lang="en-US" sz="1000" dirty="0">
                <a:solidFill>
                  <a:srgbClr val="D5DAE1"/>
                </a:solidFill>
              </a:rPr>
              <a:t>every step, with</a:t>
            </a:r>
            <a:endParaRPr lang="en-US" sz="1000" dirty="0"/>
          </a:p>
          <a:p>
            <a:pPr indent="0" marL="0">
              <a:buNone/>
            </a:pPr>
            <a:r>
              <a:rPr lang="en-US" sz="1000" dirty="0">
                <a:solidFill>
                  <a:srgbClr val="D5DAE1"/>
                </a:solidFill>
              </a:rPr>
              <a:t>a correlation id</a:t>
            </a:r>
            <a:endParaRPr lang="en-US" sz="1000" dirty="0"/>
          </a:p>
        </p:txBody>
      </p:sp>
      <p:sp>
        <p:nvSpPr>
          <p:cNvPr id="18" name="Reconciler"/>
          <p:cNvSpPr/>
          <p:nvPr/>
        </p:nvSpPr>
        <p:spPr>
          <a:xfrm>
            <a:off x="5516880" y="2944368"/>
            <a:ext cx="1173480" cy="777240"/>
          </a:xfrm>
          <a:prstGeom prst="roundRect">
            <a:avLst>
              <a:gd name="adj" fmla="val 5882"/>
            </a:avLst>
          </a:prstGeom>
          <a:solidFill>
            <a:srgbClr val="262B33"/>
          </a:solidFill>
          <a:ln/>
        </p:spPr>
      </p:sp>
      <p:sp>
        <p:nvSpPr>
          <p:cNvPr id="19" name="Text 17"/>
          <p:cNvSpPr txBox="1"/>
          <p:nvPr/>
        </p:nvSpPr>
        <p:spPr>
          <a:xfrm>
            <a:off x="5608320" y="3026664"/>
            <a:ext cx="1036320" cy="219456"/>
          </a:xfrm>
          <a:prstGeom prst="rect">
            <a:avLst/>
          </a:prstGeom>
          <a:noFill/>
          <a:ln/>
        </p:spPr>
        <p:txBody>
          <a:bodyPr wrap="square" lIns="0" tIns="0" rIns="0" bIns="0" rtlCol="0" anchor="t"/>
          <a:lstStyle/>
          <a:p>
            <a:pPr indent="0" marL="0">
              <a:buNone/>
            </a:pPr>
            <a:r>
              <a:rPr lang="en-US" sz="1200" b="1" dirty="0">
                <a:solidFill>
                  <a:schemeClr val="bg1"/>
                </a:solidFill>
              </a:rPr>
              <a:t>Reconciler</a:t>
            </a:r>
            <a:endParaRPr lang="en-US" sz="1200" dirty="0"/>
          </a:p>
        </p:txBody>
      </p:sp>
      <p:sp>
        <p:nvSpPr>
          <p:cNvPr id="20" name="Text 18"/>
          <p:cNvSpPr txBox="1"/>
          <p:nvPr/>
        </p:nvSpPr>
        <p:spPr>
          <a:xfrm>
            <a:off x="5608320" y="3273552"/>
            <a:ext cx="1036320" cy="384048"/>
          </a:xfrm>
          <a:prstGeom prst="rect">
            <a:avLst/>
          </a:prstGeom>
          <a:noFill/>
          <a:ln/>
        </p:spPr>
        <p:txBody>
          <a:bodyPr wrap="square" lIns="0" tIns="0" rIns="0" bIns="0" rtlCol="0" anchor="t"/>
          <a:lstStyle/>
          <a:p>
            <a:pPr indent="0" marL="0">
              <a:buNone/>
            </a:pPr>
            <a:r>
              <a:rPr lang="en-US" sz="1000" dirty="0">
                <a:solidFill>
                  <a:srgbClr val="D5DAE1"/>
                </a:solidFill>
              </a:rPr>
              <a:t>true stock to</a:t>
            </a:r>
            <a:endParaRPr lang="en-US" sz="1000" dirty="0"/>
          </a:p>
          <a:p>
            <a:pPr indent="0" marL="0">
              <a:buNone/>
            </a:pPr>
            <a:r>
              <a:rPr lang="en-US" sz="1000" dirty="0">
                <a:solidFill>
                  <a:srgbClr val="D5DAE1"/>
                </a:solidFill>
              </a:rPr>
              <a:t>both channels</a:t>
            </a:r>
            <a:endParaRPr lang="en-US" sz="1000" dirty="0"/>
          </a:p>
        </p:txBody>
      </p:sp>
      <p:sp>
        <p:nvSpPr>
          <p:cNvPr id="21" name="Review queue"/>
          <p:cNvSpPr/>
          <p:nvPr/>
        </p:nvSpPr>
        <p:spPr>
          <a:xfrm>
            <a:off x="6964680" y="2944368"/>
            <a:ext cx="1173480" cy="777240"/>
          </a:xfrm>
          <a:prstGeom prst="roundRect">
            <a:avLst>
              <a:gd name="adj" fmla="val 5882"/>
            </a:avLst>
          </a:prstGeom>
          <a:solidFill>
            <a:srgbClr val="262B33"/>
          </a:solidFill>
          <a:ln/>
        </p:spPr>
      </p:sp>
      <p:sp>
        <p:nvSpPr>
          <p:cNvPr id="22" name="Text 20"/>
          <p:cNvSpPr txBox="1"/>
          <p:nvPr/>
        </p:nvSpPr>
        <p:spPr>
          <a:xfrm>
            <a:off x="7056120" y="3026664"/>
            <a:ext cx="1036320" cy="219456"/>
          </a:xfrm>
          <a:prstGeom prst="rect">
            <a:avLst/>
          </a:prstGeom>
          <a:noFill/>
          <a:ln/>
        </p:spPr>
        <p:txBody>
          <a:bodyPr wrap="square" lIns="0" tIns="0" rIns="0" bIns="0" rtlCol="0" anchor="t"/>
          <a:lstStyle/>
          <a:p>
            <a:pPr indent="0" marL="0">
              <a:buNone/>
            </a:pPr>
            <a:r>
              <a:rPr lang="en-US" sz="1200" b="1" dirty="0">
                <a:solidFill>
                  <a:schemeClr val="bg1"/>
                </a:solidFill>
              </a:rPr>
              <a:t>Review queue</a:t>
            </a:r>
            <a:endParaRPr lang="en-US" sz="1200" dirty="0"/>
          </a:p>
        </p:txBody>
      </p:sp>
      <p:sp>
        <p:nvSpPr>
          <p:cNvPr id="23" name="Text 21"/>
          <p:cNvSpPr txBox="1"/>
          <p:nvPr/>
        </p:nvSpPr>
        <p:spPr>
          <a:xfrm>
            <a:off x="7056120" y="3273552"/>
            <a:ext cx="1036320" cy="384048"/>
          </a:xfrm>
          <a:prstGeom prst="rect">
            <a:avLst/>
          </a:prstGeom>
          <a:noFill/>
          <a:ln/>
        </p:spPr>
        <p:txBody>
          <a:bodyPr wrap="square" lIns="0" tIns="0" rIns="0" bIns="0" rtlCol="0" anchor="t"/>
          <a:lstStyle/>
          <a:p>
            <a:pPr indent="0" marL="0">
              <a:buNone/>
            </a:pPr>
            <a:r>
              <a:rPr lang="en-US" sz="1000" dirty="0">
                <a:solidFill>
                  <a:srgbClr val="D5DAE1"/>
                </a:solidFill>
              </a:rPr>
              <a:t>a person</a:t>
            </a:r>
            <a:endParaRPr lang="en-US" sz="1000" dirty="0"/>
          </a:p>
          <a:p>
            <a:pPr indent="0" marL="0">
              <a:buNone/>
            </a:pPr>
            <a:r>
              <a:rPr lang="en-US" sz="1000" dirty="0">
                <a:solidFill>
                  <a:srgbClr val="D5DAE1"/>
                </a:solidFill>
              </a:rPr>
              <a:t>decides</a:t>
            </a:r>
            <a:endParaRPr lang="en-US" sz="1000" dirty="0"/>
          </a:p>
        </p:txBody>
      </p:sp>
      <p:sp>
        <p:nvSpPr>
          <p:cNvPr id="24" name="SQLite"/>
          <p:cNvSpPr/>
          <p:nvPr/>
        </p:nvSpPr>
        <p:spPr>
          <a:xfrm>
            <a:off x="4069080" y="3950208"/>
            <a:ext cx="2621280" cy="457200"/>
          </a:xfrm>
          <a:prstGeom prst="roundRect">
            <a:avLst>
              <a:gd name="adj" fmla="val 10000"/>
            </a:avLst>
          </a:prstGeom>
          <a:solidFill>
            <a:srgbClr val="262B33"/>
          </a:solidFill>
          <a:ln/>
        </p:spPr>
      </p:sp>
      <p:sp>
        <p:nvSpPr>
          <p:cNvPr id="25" name="Text 23"/>
          <p:cNvSpPr txBox="1"/>
          <p:nvPr/>
        </p:nvSpPr>
        <p:spPr>
          <a:xfrm>
            <a:off x="4160520" y="3950208"/>
            <a:ext cx="2484120" cy="457200"/>
          </a:xfrm>
          <a:prstGeom prst="rect">
            <a:avLst/>
          </a:prstGeom>
          <a:noFill/>
          <a:ln/>
        </p:spPr>
        <p:txBody>
          <a:bodyPr wrap="square" lIns="0" tIns="0" rIns="0" bIns="0" rtlCol="0" anchor="ctr"/>
          <a:lstStyle/>
          <a:p>
            <a:pPr indent="0" marL="0">
              <a:buNone/>
            </a:pPr>
            <a:r>
              <a:rPr lang="en-US" sz="1200" b="1" dirty="0">
                <a:solidFill>
                  <a:schemeClr val="bg1"/>
                </a:solidFill>
              </a:rPr>
              <a:t>SQLite</a:t>
            </a:r>
            <a:r>
              <a:rPr lang="en-US" sz="1000" dirty="0">
                <a:solidFill>
                  <a:srgbClr val="D5DAE1"/>
                </a:solidFill>
              </a:rPr>
              <a:t>   inbox, orders, stock, audit</a:t>
            </a:r>
            <a:endParaRPr lang="en-US" sz="1400" dirty="0"/>
          </a:p>
        </p:txBody>
      </p:sp>
      <p:sp>
        <p:nvSpPr>
          <p:cNvPr id="26" name="Retry policy"/>
          <p:cNvSpPr/>
          <p:nvPr/>
        </p:nvSpPr>
        <p:spPr>
          <a:xfrm>
            <a:off x="6964680" y="3950208"/>
            <a:ext cx="1173480" cy="457200"/>
          </a:xfrm>
          <a:prstGeom prst="roundRect">
            <a:avLst>
              <a:gd name="adj" fmla="val 10000"/>
            </a:avLst>
          </a:prstGeom>
          <a:solidFill>
            <a:srgbClr val="262B33"/>
          </a:solidFill>
          <a:ln/>
        </p:spPr>
      </p:sp>
      <p:sp>
        <p:nvSpPr>
          <p:cNvPr id="27" name="Text 25"/>
          <p:cNvSpPr txBox="1"/>
          <p:nvPr/>
        </p:nvSpPr>
        <p:spPr>
          <a:xfrm>
            <a:off x="7056120" y="3950208"/>
            <a:ext cx="1036320" cy="457200"/>
          </a:xfrm>
          <a:prstGeom prst="rect">
            <a:avLst/>
          </a:prstGeom>
          <a:noFill/>
          <a:ln/>
        </p:spPr>
        <p:txBody>
          <a:bodyPr wrap="square" lIns="0" tIns="0" rIns="0" bIns="0" rtlCol="0" anchor="ctr"/>
          <a:lstStyle/>
          <a:p>
            <a:pPr indent="0" marL="0">
              <a:buNone/>
            </a:pPr>
            <a:r>
              <a:rPr lang="en-US" sz="1200" b="1" dirty="0">
                <a:solidFill>
                  <a:schemeClr val="bg1"/>
                </a:solidFill>
              </a:rPr>
              <a:t>Retry policy</a:t>
            </a:r>
            <a:endParaRPr lang="en-US" sz="1400" dirty="0"/>
          </a:p>
        </p:txBody>
      </p:sp>
      <p:sp>
        <p:nvSpPr>
          <p:cNvPr id="28" name="Shape 26"/>
          <p:cNvSpPr/>
          <p:nvPr/>
        </p:nvSpPr>
        <p:spPr>
          <a:xfrm>
            <a:off x="5269992" y="2281428"/>
            <a:ext cx="219456" cy="0"/>
          </a:xfrm>
          <a:prstGeom prst="line">
            <a:avLst/>
          </a:prstGeom>
          <a:noFill/>
          <a:ln w="12700">
            <a:solidFill>
              <a:srgbClr val="A3ABB8"/>
            </a:solidFill>
            <a:prstDash val="solid"/>
            <a:tailEnd type="triangle"/>
          </a:ln>
        </p:spPr>
      </p:sp>
      <p:sp>
        <p:nvSpPr>
          <p:cNvPr id="29" name="Shape 27"/>
          <p:cNvSpPr/>
          <p:nvPr/>
        </p:nvSpPr>
        <p:spPr>
          <a:xfrm>
            <a:off x="6717792" y="2281428"/>
            <a:ext cx="219456" cy="0"/>
          </a:xfrm>
          <a:prstGeom prst="line">
            <a:avLst/>
          </a:prstGeom>
          <a:noFill/>
          <a:ln w="12700">
            <a:solidFill>
              <a:srgbClr val="A3ABB8"/>
            </a:solidFill>
            <a:prstDash val="solid"/>
            <a:tailEnd type="triangle"/>
          </a:ln>
        </p:spPr>
      </p:sp>
      <p:sp>
        <p:nvSpPr>
          <p:cNvPr id="30" name="Shape 28"/>
          <p:cNvSpPr/>
          <p:nvPr/>
        </p:nvSpPr>
        <p:spPr>
          <a:xfrm>
            <a:off x="6103620" y="2697480"/>
            <a:ext cx="0" cy="219456"/>
          </a:xfrm>
          <a:prstGeom prst="line">
            <a:avLst/>
          </a:prstGeom>
          <a:noFill/>
          <a:ln w="12700">
            <a:solidFill>
              <a:srgbClr val="A3ABB8"/>
            </a:solidFill>
            <a:prstDash val="solid"/>
            <a:tailEnd type="triangle"/>
          </a:ln>
        </p:spPr>
      </p:sp>
      <p:sp>
        <p:nvSpPr>
          <p:cNvPr id="31" name="Shape 29"/>
          <p:cNvSpPr/>
          <p:nvPr/>
        </p:nvSpPr>
        <p:spPr>
          <a:xfrm>
            <a:off x="7551420" y="2697480"/>
            <a:ext cx="0" cy="219456"/>
          </a:xfrm>
          <a:prstGeom prst="line">
            <a:avLst/>
          </a:prstGeom>
          <a:noFill/>
          <a:ln w="12700">
            <a:solidFill>
              <a:srgbClr val="A3ABB8"/>
            </a:solidFill>
            <a:prstDash val="solid"/>
            <a:tailEnd type="triangle"/>
          </a:ln>
        </p:spPr>
      </p:sp>
      <p:sp>
        <p:nvSpPr>
          <p:cNvPr id="32" name="shop"/>
          <p:cNvSpPr/>
          <p:nvPr/>
        </p:nvSpPr>
        <p:spPr>
          <a:xfrm>
            <a:off x="548640" y="1600200"/>
            <a:ext cx="2011680" cy="960120"/>
          </a:xfrm>
          <a:prstGeom prst="rect">
            <a:avLst/>
          </a:prstGeom>
          <a:solidFill>
            <a:schemeClr val="bg1"/>
          </a:solidFill>
          <a:ln w="19050">
            <a:solidFill>
              <a:schemeClr val="accent2"/>
            </a:solidFill>
            <a:prstDash val="solid"/>
          </a:ln>
        </p:spPr>
      </p:sp>
      <p:sp>
        <p:nvSpPr>
          <p:cNvPr id="33" name="Text 31"/>
          <p:cNvSpPr txBox="1"/>
          <p:nvPr/>
        </p:nvSpPr>
        <p:spPr>
          <a:xfrm>
            <a:off x="694944" y="1719072"/>
            <a:ext cx="1737360" cy="201168"/>
          </a:xfrm>
          <a:prstGeom prst="rect">
            <a:avLst/>
          </a:prstGeom>
          <a:noFill/>
          <a:ln/>
        </p:spPr>
        <p:txBody>
          <a:bodyPr wrap="square" lIns="0" tIns="0" rIns="0" bIns="0" rtlCol="0" anchor="t"/>
          <a:lstStyle/>
          <a:p>
            <a:pPr indent="0" marL="0">
              <a:buNone/>
            </a:pPr>
            <a:r>
              <a:rPr lang="en-US" sz="1000" b="1" spc="50" kern="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34" name="Text 32"/>
          <p:cNvSpPr txBox="1"/>
          <p:nvPr/>
        </p:nvSpPr>
        <p:spPr>
          <a:xfrm>
            <a:off x="694944" y="1938528"/>
            <a:ext cx="1737360" cy="292608"/>
          </a:xfrm>
          <a:prstGeom prst="rect">
            <a:avLst/>
          </a:prstGeom>
          <a:noFill/>
          <a:ln/>
        </p:spPr>
        <p:txBody>
          <a:bodyPr wrap="square" lIns="0" tIns="0" rIns="0" bIns="0" rtlCol="0" anchor="t"/>
          <a:lstStyle/>
          <a:p>
            <a:pPr indent="0" marL="0">
              <a:buNone/>
            </a:pPr>
            <a:r>
              <a:rPr lang="en-US" sz="1500" b="1" dirty="0">
                <a:solidFill>
                  <a:schemeClr val="tx1"/>
                </a:solidFill>
              </a:rPr>
              <a:t>Electronic Market</a:t>
            </a:r>
            <a:endParaRPr lang="en-US" sz="1500" dirty="0"/>
          </a:p>
        </p:txBody>
      </p:sp>
      <p:sp>
        <p:nvSpPr>
          <p:cNvPr id="35" name="Text 33"/>
          <p:cNvSpPr txBox="1"/>
          <p:nvPr/>
        </p:nvSpPr>
        <p:spPr>
          <a:xfrm>
            <a:off x="694944" y="2258568"/>
            <a:ext cx="1737360" cy="228600"/>
          </a:xfrm>
          <a:prstGeom prst="rect">
            <a:avLst/>
          </a:prstGeom>
          <a:noFill/>
          <a:ln/>
        </p:spPr>
        <p:txBody>
          <a:bodyPr wrap="square" lIns="0" tIns="0" rIns="0" bIns="0" rtlCol="0" anchor="t"/>
          <a:lstStyle/>
          <a:p>
            <a:pPr indent="0" marL="0">
              <a:buNone/>
            </a:pPr>
            <a:r>
              <a:rPr lang="en-US" sz="1100" dirty="0">
                <a:solidFill>
                  <a:schemeClr val="tx2"/>
                </a:solidFill>
              </a:rPr>
              <a:t>mock, :8001</a:t>
            </a:r>
            <a:endParaRPr lang="en-US" sz="1100" dirty="0"/>
          </a:p>
        </p:txBody>
      </p:sp>
      <p:sp>
        <p:nvSpPr>
          <p:cNvPr id="36" name="emag"/>
          <p:cNvSpPr/>
          <p:nvPr/>
        </p:nvSpPr>
        <p:spPr>
          <a:xfrm>
            <a:off x="548640" y="3246120"/>
            <a:ext cx="2011680" cy="960120"/>
          </a:xfrm>
          <a:prstGeom prst="rect">
            <a:avLst/>
          </a:prstGeom>
          <a:solidFill>
            <a:schemeClr val="bg1"/>
          </a:solidFill>
          <a:ln w="19050">
            <a:solidFill>
              <a:schemeClr val="accent3"/>
            </a:solidFill>
            <a:prstDash val="solid"/>
          </a:ln>
        </p:spPr>
      </p:sp>
      <p:sp>
        <p:nvSpPr>
          <p:cNvPr id="37" name="Text 35"/>
          <p:cNvSpPr txBox="1"/>
          <p:nvPr/>
        </p:nvSpPr>
        <p:spPr>
          <a:xfrm>
            <a:off x="694944" y="3364992"/>
            <a:ext cx="1737360" cy="201168"/>
          </a:xfrm>
          <a:prstGeom prst="rect">
            <a:avLst/>
          </a:prstGeom>
          <a:noFill/>
          <a:ln/>
        </p:spPr>
        <p:txBody>
          <a:bodyPr wrap="square" lIns="0" tIns="0" rIns="0" bIns="0" rtlCol="0" anchor="t"/>
          <a:lstStyle/>
          <a:p>
            <a:pPr indent="0" marL="0">
              <a:buNone/>
            </a:pPr>
            <a:r>
              <a:rPr lang="en-US" sz="1000" b="1" spc="50" kern="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38" name="Text 36"/>
          <p:cNvSpPr txBox="1"/>
          <p:nvPr/>
        </p:nvSpPr>
        <p:spPr>
          <a:xfrm>
            <a:off x="694944" y="3584448"/>
            <a:ext cx="1737360" cy="292608"/>
          </a:xfrm>
          <a:prstGeom prst="rect">
            <a:avLst/>
          </a:prstGeom>
          <a:noFill/>
          <a:ln/>
        </p:spPr>
        <p:txBody>
          <a:bodyPr wrap="square" lIns="0" tIns="0" rIns="0" bIns="0" rtlCol="0" anchor="t"/>
          <a:lstStyle/>
          <a:p>
            <a:pPr indent="0" marL="0">
              <a:buNone/>
            </a:pPr>
            <a:r>
              <a:rPr lang="en-US" sz="1500" b="1" dirty="0">
                <a:solidFill>
                  <a:schemeClr val="tx1"/>
                </a:solidFill>
              </a:rPr>
              <a:t>eMAG</a:t>
            </a:r>
            <a:endParaRPr lang="en-US" sz="1500" dirty="0"/>
          </a:p>
        </p:txBody>
      </p:sp>
      <p:sp>
        <p:nvSpPr>
          <p:cNvPr id="39" name="Text 37"/>
          <p:cNvSpPr txBox="1"/>
          <p:nvPr/>
        </p:nvSpPr>
        <p:spPr>
          <a:xfrm>
            <a:off x="694944" y="3904488"/>
            <a:ext cx="1737360" cy="228600"/>
          </a:xfrm>
          <a:prstGeom prst="rect">
            <a:avLst/>
          </a:prstGeom>
          <a:noFill/>
          <a:ln/>
        </p:spPr>
        <p:txBody>
          <a:bodyPr wrap="square" lIns="0" tIns="0" rIns="0" bIns="0" rtlCol="0" anchor="t"/>
          <a:lstStyle/>
          <a:p>
            <a:pPr indent="0" marL="0">
              <a:buNone/>
            </a:pPr>
            <a:r>
              <a:rPr lang="en-US" sz="1100" dirty="0">
                <a:solidFill>
                  <a:schemeClr val="tx2"/>
                </a:solidFill>
              </a:rPr>
              <a:t>mock, :8002</a:t>
            </a:r>
            <a:endParaRPr lang="en-US" sz="1100" dirty="0"/>
          </a:p>
        </p:txBody>
      </p:sp>
      <p:sp>
        <p:nvSpPr>
          <p:cNvPr id="40" name="warehouse"/>
          <p:cNvSpPr/>
          <p:nvPr/>
        </p:nvSpPr>
        <p:spPr>
          <a:xfrm>
            <a:off x="9628632" y="2331720"/>
            <a:ext cx="2011680" cy="1188720"/>
          </a:xfrm>
          <a:prstGeom prst="rect">
            <a:avLst/>
          </a:prstGeom>
          <a:solidFill>
            <a:schemeClr val="bg1"/>
          </a:solidFill>
          <a:ln w="19050">
            <a:solidFill>
              <a:schemeClr val="accent4"/>
            </a:solidFill>
            <a:prstDash val="solid"/>
          </a:ln>
        </p:spPr>
      </p:sp>
      <p:sp>
        <p:nvSpPr>
          <p:cNvPr id="41" name="Text 39"/>
          <p:cNvSpPr txBox="1"/>
          <p:nvPr/>
        </p:nvSpPr>
        <p:spPr>
          <a:xfrm>
            <a:off x="9774936" y="2450592"/>
            <a:ext cx="1737360" cy="201168"/>
          </a:xfrm>
          <a:prstGeom prst="rect">
            <a:avLst/>
          </a:prstGeom>
          <a:noFill/>
          <a:ln/>
        </p:spPr>
        <p:txBody>
          <a:bodyPr wrap="square" lIns="0" tIns="0" rIns="0" bIns="0" rtlCol="0" anchor="t"/>
          <a:lstStyle/>
          <a:p>
            <a:pPr indent="0" marL="0">
              <a:buNone/>
            </a:pPr>
            <a:r>
              <a:rPr lang="en-US" sz="1000" b="1" spc="50" kern="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42" name="Text 40"/>
          <p:cNvSpPr txBox="1"/>
          <p:nvPr/>
        </p:nvSpPr>
        <p:spPr>
          <a:xfrm>
            <a:off x="9774936" y="2670048"/>
            <a:ext cx="1737360" cy="512064"/>
          </a:xfrm>
          <a:prstGeom prst="rect">
            <a:avLst/>
          </a:prstGeom>
          <a:noFill/>
          <a:ln/>
        </p:spPr>
        <p:txBody>
          <a:bodyPr wrap="square" lIns="0" tIns="0" rIns="0" bIns="0" rtlCol="0" anchor="t"/>
          <a:lstStyle/>
          <a:p>
            <a:pPr indent="0" marL="0">
              <a:buNone/>
            </a:pPr>
            <a:r>
              <a:rPr lang="en-US" sz="1500" b="1" dirty="0">
                <a:solidFill>
                  <a:schemeClr val="tx1"/>
                </a:solidFill>
              </a:rPr>
              <a:t>Bucharest</a:t>
            </a:r>
            <a:endParaRPr lang="en-US" sz="1500" dirty="0"/>
          </a:p>
          <a:p>
            <a:pPr indent="0" marL="0">
              <a:buNone/>
            </a:pPr>
            <a:r>
              <a:rPr lang="en-US" sz="1500" b="1" dirty="0">
                <a:solidFill>
                  <a:schemeClr val="tx1"/>
                </a:solidFill>
              </a:rPr>
              <a:t>warehouse</a:t>
            </a:r>
            <a:endParaRPr lang="en-US" sz="1500" dirty="0"/>
          </a:p>
        </p:txBody>
      </p:sp>
      <p:sp>
        <p:nvSpPr>
          <p:cNvPr id="43" name="Text 41"/>
          <p:cNvSpPr txBox="1"/>
          <p:nvPr/>
        </p:nvSpPr>
        <p:spPr>
          <a:xfrm>
            <a:off x="9774936" y="3209544"/>
            <a:ext cx="1737360" cy="228600"/>
          </a:xfrm>
          <a:prstGeom prst="rect">
            <a:avLst/>
          </a:prstGeom>
          <a:noFill/>
          <a:ln/>
        </p:spPr>
        <p:txBody>
          <a:bodyPr wrap="square" lIns="0" tIns="0" rIns="0" bIns="0" rtlCol="0" anchor="t"/>
          <a:lstStyle/>
          <a:p>
            <a:pPr indent="0" marL="0">
              <a:buNone/>
            </a:pPr>
            <a:r>
              <a:rPr lang="en-US" sz="1100" dirty="0">
                <a:solidFill>
                  <a:schemeClr val="tx2"/>
                </a:solidFill>
              </a:rPr>
              <a:t>mock, :8003</a:t>
            </a:r>
            <a:endParaRPr lang="en-US" sz="1100" dirty="0"/>
          </a:p>
        </p:txBody>
      </p:sp>
      <p:sp>
        <p:nvSpPr>
          <p:cNvPr id="44" name="operator"/>
          <p:cNvSpPr/>
          <p:nvPr/>
        </p:nvSpPr>
        <p:spPr>
          <a:xfrm>
            <a:off x="548640" y="5074920"/>
            <a:ext cx="2011680" cy="960120"/>
          </a:xfrm>
          <a:prstGeom prst="rect">
            <a:avLst/>
          </a:prstGeom>
          <a:solidFill>
            <a:schemeClr val="bg1"/>
          </a:solidFill>
          <a:ln w="15875">
            <a:solidFill>
              <a:srgbClr val="8A93A1"/>
            </a:solidFill>
            <a:prstDash val="solid"/>
          </a:ln>
        </p:spPr>
      </p:sp>
      <p:sp>
        <p:nvSpPr>
          <p:cNvPr id="45" name="Text 43"/>
          <p:cNvSpPr txBox="1"/>
          <p:nvPr/>
        </p:nvSpPr>
        <p:spPr>
          <a:xfrm>
            <a:off x="694944" y="5193792"/>
            <a:ext cx="1737360" cy="201168"/>
          </a:xfrm>
          <a:prstGeom prst="rect">
            <a:avLst/>
          </a:prstGeom>
          <a:noFill/>
          <a:ln/>
        </p:spPr>
        <p:txBody>
          <a:bodyPr wrap="square" lIns="0" tIns="0" rIns="0" bIns="0" rtlCol="0" anchor="t"/>
          <a:lstStyle/>
          <a:p>
            <a:pPr indent="0" marL="0">
              <a:buNone/>
            </a:pPr>
            <a:r>
              <a:rPr lang="en-US" sz="1000" b="1" spc="50" kern="0" dirty="0">
                <a:solidFill>
                  <a:srgbClr val="3D4552"/>
                </a:solidFill>
                <a:latin typeface="Courier New" pitchFamily="34" charset="0"/>
                <a:ea typeface="Courier New" pitchFamily="34" charset="-122"/>
                <a:cs typeface="Courier New" pitchFamily="34" charset="-120"/>
              </a:rPr>
              <a:t>PEOPLE</a:t>
            </a:r>
            <a:endParaRPr lang="en-US" sz="1000" dirty="0"/>
          </a:p>
        </p:txBody>
      </p:sp>
      <p:sp>
        <p:nvSpPr>
          <p:cNvPr id="46" name="Text 44"/>
          <p:cNvSpPr txBox="1"/>
          <p:nvPr/>
        </p:nvSpPr>
        <p:spPr>
          <a:xfrm>
            <a:off x="694944" y="5413248"/>
            <a:ext cx="1737360" cy="292608"/>
          </a:xfrm>
          <a:prstGeom prst="rect">
            <a:avLst/>
          </a:prstGeom>
          <a:noFill/>
          <a:ln/>
        </p:spPr>
        <p:txBody>
          <a:bodyPr wrap="square" lIns="0" tIns="0" rIns="0" bIns="0" rtlCol="0" anchor="t"/>
          <a:lstStyle/>
          <a:p>
            <a:pPr indent="0" marL="0">
              <a:buNone/>
            </a:pPr>
            <a:r>
              <a:rPr lang="en-US" sz="1500" b="1" dirty="0">
                <a:solidFill>
                  <a:schemeClr val="tx1"/>
                </a:solidFill>
              </a:rPr>
              <a:t>Operator</a:t>
            </a:r>
            <a:endParaRPr lang="en-US" sz="1500" dirty="0"/>
          </a:p>
        </p:txBody>
      </p:sp>
      <p:sp>
        <p:nvSpPr>
          <p:cNvPr id="47" name="Text 45"/>
          <p:cNvSpPr txBox="1"/>
          <p:nvPr/>
        </p:nvSpPr>
        <p:spPr>
          <a:xfrm>
            <a:off x="694944" y="5733288"/>
            <a:ext cx="1737360" cy="228600"/>
          </a:xfrm>
          <a:prstGeom prst="rect">
            <a:avLst/>
          </a:prstGeom>
          <a:noFill/>
          <a:ln/>
        </p:spPr>
        <p:txBody>
          <a:bodyPr wrap="square" lIns="0" tIns="0" rIns="0" bIns="0" rtlCol="0" anchor="t"/>
          <a:lstStyle/>
          <a:p>
            <a:pPr indent="0" marL="0">
              <a:buNone/>
            </a:pPr>
            <a:r>
              <a:rPr lang="en-US" sz="1100" dirty="0">
                <a:solidFill>
                  <a:schemeClr val="tx2"/>
                </a:solidFill>
              </a:rPr>
              <a:t>viewer, operator, admin</a:t>
            </a:r>
            <a:endParaRPr lang="en-US" sz="1100" dirty="0"/>
          </a:p>
        </p:txBody>
      </p:sp>
      <p:sp>
        <p:nvSpPr>
          <p:cNvPr id="48" name="dashboard"/>
          <p:cNvSpPr/>
          <p:nvPr/>
        </p:nvSpPr>
        <p:spPr>
          <a:xfrm>
            <a:off x="3886200" y="5074920"/>
            <a:ext cx="2103120" cy="960120"/>
          </a:xfrm>
          <a:prstGeom prst="rect">
            <a:avLst/>
          </a:prstGeom>
          <a:solidFill>
            <a:schemeClr val="bg1"/>
          </a:solidFill>
          <a:ln w="19050">
            <a:solidFill>
              <a:schemeClr val="tx1"/>
            </a:solidFill>
            <a:prstDash val="solid"/>
          </a:ln>
        </p:spPr>
      </p:sp>
      <p:sp>
        <p:nvSpPr>
          <p:cNvPr id="49" name="Text 47"/>
          <p:cNvSpPr txBox="1"/>
          <p:nvPr/>
        </p:nvSpPr>
        <p:spPr>
          <a:xfrm>
            <a:off x="4032504" y="5193792"/>
            <a:ext cx="1828800" cy="201168"/>
          </a:xfrm>
          <a:prstGeom prst="rect">
            <a:avLst/>
          </a:prstGeom>
          <a:noFill/>
          <a:ln/>
        </p:spPr>
        <p:txBody>
          <a:bodyPr wrap="square" lIns="0" tIns="0" rIns="0" bIns="0" rtlCol="0" anchor="t"/>
          <a:lstStyle/>
          <a:p>
            <a:pPr indent="0" marL="0">
              <a:buNone/>
            </a:pPr>
            <a:r>
              <a:rPr lang="en-US" sz="1000" b="1" spc="50" kern="0" dirty="0">
                <a:solidFill>
                  <a:srgbClr val="3D4552"/>
                </a:solidFill>
                <a:latin typeface="Courier New" pitchFamily="34" charset="0"/>
                <a:ea typeface="Courier New" pitchFamily="34" charset="-122"/>
                <a:cs typeface="Courier New" pitchFamily="34" charset="-120"/>
              </a:rPr>
              <a:t>BROWSER</a:t>
            </a:r>
            <a:endParaRPr lang="en-US" sz="1000" dirty="0"/>
          </a:p>
        </p:txBody>
      </p:sp>
      <p:sp>
        <p:nvSpPr>
          <p:cNvPr id="50" name="Text 48"/>
          <p:cNvSpPr txBox="1"/>
          <p:nvPr/>
        </p:nvSpPr>
        <p:spPr>
          <a:xfrm>
            <a:off x="4032504" y="5413248"/>
            <a:ext cx="1828800" cy="292608"/>
          </a:xfrm>
          <a:prstGeom prst="rect">
            <a:avLst/>
          </a:prstGeom>
          <a:noFill/>
          <a:ln/>
        </p:spPr>
        <p:txBody>
          <a:bodyPr wrap="square" lIns="0" tIns="0" rIns="0" bIns="0" rtlCol="0" anchor="t"/>
          <a:lstStyle/>
          <a:p>
            <a:pPr indent="0" marL="0">
              <a:buNone/>
            </a:pPr>
            <a:r>
              <a:rPr lang="en-US" sz="1500" b="1" dirty="0">
                <a:solidFill>
                  <a:schemeClr val="tx1"/>
                </a:solidFill>
              </a:rPr>
              <a:t>React dashboard</a:t>
            </a:r>
            <a:endParaRPr lang="en-US" sz="1500" dirty="0"/>
          </a:p>
        </p:txBody>
      </p:sp>
      <p:sp>
        <p:nvSpPr>
          <p:cNvPr id="51" name="Text 49"/>
          <p:cNvSpPr txBox="1"/>
          <p:nvPr/>
        </p:nvSpPr>
        <p:spPr>
          <a:xfrm>
            <a:off x="4032504" y="5733288"/>
            <a:ext cx="1828800" cy="228600"/>
          </a:xfrm>
          <a:prstGeom prst="rect">
            <a:avLst/>
          </a:prstGeom>
          <a:noFill/>
          <a:ln/>
        </p:spPr>
        <p:txBody>
          <a:bodyPr wrap="square" lIns="0" tIns="0" rIns="0" bIns="0" rtlCol="0" anchor="t"/>
          <a:lstStyle/>
          <a:p>
            <a:pPr indent="0" marL="0">
              <a:buNone/>
            </a:pPr>
            <a:r>
              <a:rPr lang="en-US" sz="1100" dirty="0">
                <a:solidFill>
                  <a:schemeClr val="tx2"/>
                </a:solidFill>
              </a:rPr>
              <a:t>served by the glue</a:t>
            </a:r>
            <a:endParaRPr lang="en-US" sz="1100" dirty="0"/>
          </a:p>
        </p:txBody>
      </p:sp>
      <p:sp>
        <p:nvSpPr>
          <p:cNvPr id="52" name="ollama"/>
          <p:cNvSpPr/>
          <p:nvPr/>
        </p:nvSpPr>
        <p:spPr>
          <a:xfrm>
            <a:off x="6217920" y="5074920"/>
            <a:ext cx="2103120" cy="960120"/>
          </a:xfrm>
          <a:prstGeom prst="rect">
            <a:avLst/>
          </a:prstGeom>
          <a:solidFill>
            <a:schemeClr val="bg1"/>
          </a:solidFill>
          <a:ln w="15875">
            <a:solidFill>
              <a:srgbClr val="8A93A1"/>
            </a:solidFill>
            <a:prstDash val="solid"/>
          </a:ln>
        </p:spPr>
      </p:sp>
      <p:sp>
        <p:nvSpPr>
          <p:cNvPr id="53" name="Text 51"/>
          <p:cNvSpPr txBox="1"/>
          <p:nvPr/>
        </p:nvSpPr>
        <p:spPr>
          <a:xfrm>
            <a:off x="6364224" y="5193792"/>
            <a:ext cx="1828800" cy="201168"/>
          </a:xfrm>
          <a:prstGeom prst="rect">
            <a:avLst/>
          </a:prstGeom>
          <a:noFill/>
          <a:ln/>
        </p:spPr>
        <p:txBody>
          <a:bodyPr wrap="square" lIns="0" tIns="0" rIns="0" bIns="0" rtlCol="0" anchor="t"/>
          <a:lstStyle/>
          <a:p>
            <a:pPr indent="0" marL="0">
              <a:buNone/>
            </a:pPr>
            <a:r>
              <a:rPr lang="en-US" sz="1000" b="1" spc="50" kern="0" dirty="0">
                <a:solidFill>
                  <a:srgbClr val="3D4552"/>
                </a:solidFill>
                <a:latin typeface="Courier New" pitchFamily="34" charset="0"/>
                <a:ea typeface="Courier New" pitchFamily="34" charset="-122"/>
                <a:cs typeface="Courier New" pitchFamily="34" charset="-120"/>
              </a:rPr>
              <a:t>OLLAMA CONTAINER</a:t>
            </a:r>
            <a:endParaRPr lang="en-US" sz="1000" dirty="0"/>
          </a:p>
        </p:txBody>
      </p:sp>
      <p:sp>
        <p:nvSpPr>
          <p:cNvPr id="54" name="Text 52"/>
          <p:cNvSpPr txBox="1"/>
          <p:nvPr/>
        </p:nvSpPr>
        <p:spPr>
          <a:xfrm>
            <a:off x="6364224" y="5413248"/>
            <a:ext cx="1828800" cy="292608"/>
          </a:xfrm>
          <a:prstGeom prst="rect">
            <a:avLst/>
          </a:prstGeom>
          <a:noFill/>
          <a:ln/>
        </p:spPr>
        <p:txBody>
          <a:bodyPr wrap="square" lIns="0" tIns="0" rIns="0" bIns="0" rtlCol="0" anchor="t"/>
          <a:lstStyle/>
          <a:p>
            <a:pPr indent="0" marL="0">
              <a:buNone/>
            </a:pPr>
            <a:r>
              <a:rPr lang="en-US" sz="1500" b="1" dirty="0">
                <a:solidFill>
                  <a:schemeClr val="tx1"/>
                </a:solidFill>
              </a:rPr>
              <a:t>Local model</a:t>
            </a:r>
            <a:endParaRPr lang="en-US" sz="1500" dirty="0"/>
          </a:p>
        </p:txBody>
      </p:sp>
      <p:sp>
        <p:nvSpPr>
          <p:cNvPr id="55" name="Text 53"/>
          <p:cNvSpPr txBox="1"/>
          <p:nvPr/>
        </p:nvSpPr>
        <p:spPr>
          <a:xfrm>
            <a:off x="6364224" y="5733288"/>
            <a:ext cx="1828800" cy="228600"/>
          </a:xfrm>
          <a:prstGeom prst="rect">
            <a:avLst/>
          </a:prstGeom>
          <a:noFill/>
          <a:ln/>
        </p:spPr>
        <p:txBody>
          <a:bodyPr wrap="square" lIns="0" tIns="0" rIns="0" bIns="0" rtlCol="0" anchor="t"/>
          <a:lstStyle/>
          <a:p>
            <a:pPr indent="0" marL="0">
              <a:buNone/>
            </a:pPr>
            <a:r>
              <a:rPr lang="en-US" sz="1100" dirty="0">
                <a:solidFill>
                  <a:schemeClr val="tx2"/>
                </a:solidFill>
              </a:rPr>
              <a:t>qwen2.5:3b, read-only use</a:t>
            </a:r>
            <a:endParaRPr lang="en-US" sz="1100" dirty="0"/>
          </a:p>
        </p:txBody>
      </p:sp>
      <p:sp>
        <p:nvSpPr>
          <p:cNvPr id="56" name="Shape 54"/>
          <p:cNvSpPr/>
          <p:nvPr/>
        </p:nvSpPr>
        <p:spPr>
          <a:xfrm>
            <a:off x="2560320" y="1920240"/>
            <a:ext cx="1325880" cy="0"/>
          </a:xfrm>
          <a:prstGeom prst="line">
            <a:avLst/>
          </a:prstGeom>
          <a:noFill/>
          <a:ln w="15875">
            <a:solidFill>
              <a:schemeClr val="tx1"/>
            </a:solidFill>
            <a:prstDash val="solid"/>
            <a:tailEnd type="triangle"/>
          </a:ln>
        </p:spPr>
      </p:sp>
      <p:sp>
        <p:nvSpPr>
          <p:cNvPr id="57" name="Text 55"/>
          <p:cNvSpPr txBox="1"/>
          <p:nvPr/>
        </p:nvSpPr>
        <p:spPr>
          <a:xfrm>
            <a:off x="2560320" y="1700784"/>
            <a:ext cx="132588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SIGNED EVENTS</a:t>
            </a:r>
            <a:endParaRPr lang="en-US" sz="1000" dirty="0"/>
          </a:p>
        </p:txBody>
      </p:sp>
      <p:sp>
        <p:nvSpPr>
          <p:cNvPr id="58" name="Shape 56"/>
          <p:cNvSpPr/>
          <p:nvPr/>
        </p:nvSpPr>
        <p:spPr>
          <a:xfrm flipH="1">
            <a:off x="2560320" y="2240280"/>
            <a:ext cx="1325880" cy="0"/>
          </a:xfrm>
          <a:prstGeom prst="line">
            <a:avLst/>
          </a:prstGeom>
          <a:noFill/>
          <a:ln w="15875">
            <a:solidFill>
              <a:schemeClr val="tx1"/>
            </a:solidFill>
            <a:prstDash val="solid"/>
            <a:tailEnd type="triangle"/>
          </a:ln>
        </p:spPr>
      </p:sp>
      <p:sp>
        <p:nvSpPr>
          <p:cNvPr id="59" name="Text 57"/>
          <p:cNvSpPr txBox="1"/>
          <p:nvPr/>
        </p:nvSpPr>
        <p:spPr>
          <a:xfrm>
            <a:off x="2560320" y="2286000"/>
            <a:ext cx="132588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STOCK, STATUS</a:t>
            </a:r>
            <a:endParaRPr lang="en-US" sz="1000" dirty="0"/>
          </a:p>
        </p:txBody>
      </p:sp>
      <p:sp>
        <p:nvSpPr>
          <p:cNvPr id="60" name="Shape 58"/>
          <p:cNvSpPr/>
          <p:nvPr/>
        </p:nvSpPr>
        <p:spPr>
          <a:xfrm>
            <a:off x="2560320" y="3566160"/>
            <a:ext cx="1325880" cy="0"/>
          </a:xfrm>
          <a:prstGeom prst="line">
            <a:avLst/>
          </a:prstGeom>
          <a:noFill/>
          <a:ln w="15875">
            <a:solidFill>
              <a:schemeClr val="tx1"/>
            </a:solidFill>
            <a:prstDash val="solid"/>
            <a:tailEnd type="triangle"/>
          </a:ln>
        </p:spPr>
      </p:sp>
      <p:sp>
        <p:nvSpPr>
          <p:cNvPr id="61" name="Text 59"/>
          <p:cNvSpPr txBox="1"/>
          <p:nvPr/>
        </p:nvSpPr>
        <p:spPr>
          <a:xfrm>
            <a:off x="2560320" y="3346704"/>
            <a:ext cx="132588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NOTIFY: ID ONLY</a:t>
            </a:r>
            <a:endParaRPr lang="en-US" sz="1000" dirty="0"/>
          </a:p>
        </p:txBody>
      </p:sp>
      <p:sp>
        <p:nvSpPr>
          <p:cNvPr id="62" name="Shape 60"/>
          <p:cNvSpPr/>
          <p:nvPr/>
        </p:nvSpPr>
        <p:spPr>
          <a:xfrm flipH="1">
            <a:off x="2560320" y="3886200"/>
            <a:ext cx="1325880" cy="0"/>
          </a:xfrm>
          <a:prstGeom prst="line">
            <a:avLst/>
          </a:prstGeom>
          <a:noFill/>
          <a:ln w="15875">
            <a:solidFill>
              <a:schemeClr val="tx1"/>
            </a:solidFill>
            <a:prstDash val="solid"/>
            <a:tailEnd type="triangle"/>
          </a:ln>
        </p:spPr>
      </p:sp>
      <p:sp>
        <p:nvSpPr>
          <p:cNvPr id="63" name="Text 61"/>
          <p:cNvSpPr txBox="1"/>
          <p:nvPr/>
        </p:nvSpPr>
        <p:spPr>
          <a:xfrm>
            <a:off x="2560320" y="3931920"/>
            <a:ext cx="132588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READ, ACK, STOCK</a:t>
            </a:r>
            <a:endParaRPr lang="en-US" sz="1000" dirty="0"/>
          </a:p>
        </p:txBody>
      </p:sp>
      <p:sp>
        <p:nvSpPr>
          <p:cNvPr id="64" name="Shape 62"/>
          <p:cNvSpPr/>
          <p:nvPr/>
        </p:nvSpPr>
        <p:spPr>
          <a:xfrm>
            <a:off x="8321040" y="2743200"/>
            <a:ext cx="1307592" cy="0"/>
          </a:xfrm>
          <a:prstGeom prst="line">
            <a:avLst/>
          </a:prstGeom>
          <a:noFill/>
          <a:ln w="15875">
            <a:solidFill>
              <a:schemeClr val="tx1"/>
            </a:solidFill>
            <a:prstDash val="solid"/>
            <a:tailEnd type="triangle"/>
          </a:ln>
        </p:spPr>
      </p:sp>
      <p:sp>
        <p:nvSpPr>
          <p:cNvPr id="65" name="Text 63"/>
          <p:cNvSpPr txBox="1"/>
          <p:nvPr/>
        </p:nvSpPr>
        <p:spPr>
          <a:xfrm>
            <a:off x="8321040" y="2523744"/>
            <a:ext cx="1307592"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RESERVE, CANCEL</a:t>
            </a:r>
            <a:endParaRPr lang="en-US" sz="1000" dirty="0"/>
          </a:p>
        </p:txBody>
      </p:sp>
      <p:sp>
        <p:nvSpPr>
          <p:cNvPr id="66" name="Shape 64"/>
          <p:cNvSpPr/>
          <p:nvPr/>
        </p:nvSpPr>
        <p:spPr>
          <a:xfrm flipH="1">
            <a:off x="8321040" y="3108960"/>
            <a:ext cx="1307592" cy="0"/>
          </a:xfrm>
          <a:prstGeom prst="line">
            <a:avLst/>
          </a:prstGeom>
          <a:noFill/>
          <a:ln w="15875">
            <a:solidFill>
              <a:schemeClr val="tx1"/>
            </a:solidFill>
            <a:prstDash val="solid"/>
            <a:tailEnd type="triangle"/>
          </a:ln>
        </p:spPr>
      </p:sp>
      <p:sp>
        <p:nvSpPr>
          <p:cNvPr id="67" name="Text 65"/>
          <p:cNvSpPr txBox="1"/>
          <p:nvPr/>
        </p:nvSpPr>
        <p:spPr>
          <a:xfrm>
            <a:off x="8321040" y="3154680"/>
            <a:ext cx="1307592"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SHIPPED, RECOUNT</a:t>
            </a:r>
            <a:endParaRPr lang="en-US" sz="1000" dirty="0"/>
          </a:p>
        </p:txBody>
      </p:sp>
      <p:sp>
        <p:nvSpPr>
          <p:cNvPr id="68" name="Shape 66"/>
          <p:cNvSpPr/>
          <p:nvPr/>
        </p:nvSpPr>
        <p:spPr>
          <a:xfrm>
            <a:off x="2560320" y="5554980"/>
            <a:ext cx="1325880" cy="0"/>
          </a:xfrm>
          <a:prstGeom prst="line">
            <a:avLst/>
          </a:prstGeom>
          <a:noFill/>
          <a:ln w="15875">
            <a:solidFill>
              <a:schemeClr val="tx1"/>
            </a:solidFill>
            <a:prstDash val="solid"/>
            <a:tailEnd type="triangle"/>
          </a:ln>
        </p:spPr>
      </p:sp>
      <p:sp>
        <p:nvSpPr>
          <p:cNvPr id="69" name="Text 67"/>
          <p:cNvSpPr txBox="1"/>
          <p:nvPr/>
        </p:nvSpPr>
        <p:spPr>
          <a:xfrm>
            <a:off x="2560320" y="5330952"/>
            <a:ext cx="1325880" cy="182880"/>
          </a:xfrm>
          <a:prstGeom prst="rect">
            <a:avLst/>
          </a:prstGeom>
          <a:noFill/>
          <a:ln/>
        </p:spPr>
        <p:txBody>
          <a:bodyPr wrap="square" lIns="0" tIns="0" rIns="0" bIns="0" rtlCol="0" anchor="ctr"/>
          <a:lstStyle/>
          <a:p>
            <a:pPr algn="ctr" indent="0" marL="0">
              <a:buNone/>
            </a:pPr>
            <a:r>
              <a:rPr lang="en-US" sz="1000" b="1" dirty="0">
                <a:solidFill>
                  <a:schemeClr val="tx2"/>
                </a:solidFill>
                <a:latin typeface="Courier New" pitchFamily="34" charset="0"/>
                <a:ea typeface="Courier New" pitchFamily="34" charset="-122"/>
                <a:cs typeface="Courier New" pitchFamily="34" charset="-120"/>
              </a:rPr>
              <a:t>SIGNS IN</a:t>
            </a:r>
            <a:endParaRPr lang="en-US" sz="1000" dirty="0"/>
          </a:p>
        </p:txBody>
      </p:sp>
      <p:sp>
        <p:nvSpPr>
          <p:cNvPr id="70" name="Shape 68"/>
          <p:cNvSpPr/>
          <p:nvPr/>
        </p:nvSpPr>
        <p:spPr>
          <a:xfrm flipV="1">
            <a:off x="4937760" y="4572000"/>
            <a:ext cx="0" cy="502920"/>
          </a:xfrm>
          <a:prstGeom prst="line">
            <a:avLst/>
          </a:prstGeom>
          <a:noFill/>
          <a:ln w="15875">
            <a:solidFill>
              <a:schemeClr val="tx1"/>
            </a:solidFill>
            <a:prstDash val="solid"/>
            <a:tailEnd type="triangle"/>
          </a:ln>
        </p:spPr>
      </p:sp>
      <p:sp>
        <p:nvSpPr>
          <p:cNvPr id="71" name="Text 69"/>
          <p:cNvSpPr txBox="1"/>
          <p:nvPr/>
        </p:nvSpPr>
        <p:spPr>
          <a:xfrm>
            <a:off x="5029200" y="4727448"/>
            <a:ext cx="914400" cy="182880"/>
          </a:xfrm>
          <a:prstGeom prst="rect">
            <a:avLst/>
          </a:prstGeom>
          <a:noFill/>
          <a:ln/>
        </p:spPr>
        <p:txBody>
          <a:bodyPr wrap="square" lIns="0" tIns="0" rIns="0" bIns="0" rtlCol="0" anchor="ctr"/>
          <a:lstStyle/>
          <a:p>
            <a:pPr algn="l" indent="0" marL="0">
              <a:buNone/>
            </a:pPr>
            <a:r>
              <a:rPr lang="en-US" sz="1000" b="1" dirty="0">
                <a:solidFill>
                  <a:schemeClr val="tx2"/>
                </a:solidFill>
                <a:latin typeface="Courier New" pitchFamily="34" charset="0"/>
                <a:ea typeface="Courier New" pitchFamily="34" charset="-122"/>
                <a:cs typeface="Courier New" pitchFamily="34" charset="-120"/>
              </a:rPr>
              <a:t>JSON API</a:t>
            </a:r>
            <a:endParaRPr lang="en-US" sz="1000" dirty="0"/>
          </a:p>
        </p:txBody>
      </p:sp>
      <p:sp>
        <p:nvSpPr>
          <p:cNvPr id="72" name="Shape 70"/>
          <p:cNvSpPr/>
          <p:nvPr/>
        </p:nvSpPr>
        <p:spPr>
          <a:xfrm>
            <a:off x="7269480" y="4572000"/>
            <a:ext cx="0" cy="502920"/>
          </a:xfrm>
          <a:prstGeom prst="line">
            <a:avLst/>
          </a:prstGeom>
          <a:noFill/>
          <a:ln w="15875">
            <a:solidFill>
              <a:schemeClr val="tx1"/>
            </a:solidFill>
            <a:prstDash val="solid"/>
            <a:tailEnd type="triangle"/>
          </a:ln>
        </p:spPr>
      </p:sp>
      <p:sp>
        <p:nvSpPr>
          <p:cNvPr id="73" name="Text 71"/>
          <p:cNvSpPr txBox="1"/>
          <p:nvPr/>
        </p:nvSpPr>
        <p:spPr>
          <a:xfrm>
            <a:off x="7360920" y="4727448"/>
            <a:ext cx="1463040" cy="182880"/>
          </a:xfrm>
          <a:prstGeom prst="rect">
            <a:avLst/>
          </a:prstGeom>
          <a:noFill/>
          <a:ln/>
        </p:spPr>
        <p:txBody>
          <a:bodyPr wrap="square" lIns="0" tIns="0" rIns="0" bIns="0" rtlCol="0" anchor="ctr"/>
          <a:lstStyle/>
          <a:p>
            <a:pPr algn="l" indent="0" marL="0">
              <a:buNone/>
            </a:pPr>
            <a:r>
              <a:rPr lang="en-US" sz="1000" b="1" dirty="0">
                <a:solidFill>
                  <a:schemeClr val="tx2"/>
                </a:solidFill>
                <a:latin typeface="Courier New" pitchFamily="34" charset="0"/>
                <a:ea typeface="Courier New" pitchFamily="34" charset="-122"/>
                <a:cs typeface="Courier New" pitchFamily="34" charset="-120"/>
              </a:rPr>
              <a:t>OPENAI-COMPATIBLE</a:t>
            </a:r>
            <a:endParaRPr lang="en-US" sz="1000" dirty="0"/>
          </a:p>
        </p:txBody>
      </p:sp>
      <p:sp>
        <p:nvSpPr>
          <p:cNvPr id="74" name="Text 72"/>
          <p:cNvSpPr txBox="1"/>
          <p:nvPr/>
        </p:nvSpPr>
        <p:spPr>
          <a:xfrm>
            <a:off x="9628632" y="5166360"/>
            <a:ext cx="2011680" cy="868680"/>
          </a:xfrm>
          <a:prstGeom prst="rect">
            <a:avLst/>
          </a:prstGeom>
          <a:noFill/>
          <a:ln/>
        </p:spPr>
        <p:txBody>
          <a:bodyPr wrap="square" lIns="0" tIns="0" rIns="0" bIns="0" rtlCol="0" anchor="t"/>
          <a:lstStyle/>
          <a:p>
            <a:pPr indent="0" marL="0">
              <a:buNone/>
            </a:pPr>
            <a:r>
              <a:rPr lang="en-US" sz="1100" dirty="0">
                <a:solidFill>
                  <a:schemeClr val="tx2"/>
                </a:solidFill>
              </a:rPr>
              <a:t>Docker Compose: four services from one image, plus Ollama.</a:t>
            </a:r>
            <a:endParaRPr lang="en-US" sz="11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DESIGN</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Technologies, and why each one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2514600"/>
                <a:gridCol w="4709160"/>
              </a:tblGrid>
              <a:tr h="448056">
                <a:tc>
                  <a:txBody>
                    <a:bodyPr/>
                    <a:lstStyle/>
                    <a:p>
                      <a:pPr indent="0" marL="0">
                        <a:buNone/>
                      </a:pPr>
                      <a:r>
                        <a:rPr lang="en-US" sz="1400" b="1" dirty="0">
                          <a:solidFill>
                            <a:schemeClr val="tx1"/>
                          </a:solidFill>
                        </a:rPr>
                        <a:t>Python 3.12</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One language for the glue, the three mocks and the tests</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448056">
                <a:tc>
                  <a:txBody>
                    <a:bodyPr/>
                    <a:lstStyle/>
                    <a:p>
                      <a:pPr indent="0" marL="0">
                        <a:buNone/>
                      </a:pPr>
                      <a:r>
                        <a:rPr lang="en-US" sz="1400" b="1" dirty="0">
                          <a:solidFill>
                            <a:schemeClr val="tx1"/>
                          </a:solidFill>
                        </a:rPr>
                        <a:t>FastAPI + pydantic</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Typed routes; every inbound payload validated</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448056">
                <a:tc>
                  <a:txBody>
                    <a:bodyPr/>
                    <a:lstStyle/>
                    <a:p>
                      <a:pPr indent="0" marL="0">
                        <a:buNone/>
                      </a:pPr>
                      <a:r>
                        <a:rPr lang="en-US" sz="1400" b="1" dirty="0">
                          <a:solidFill>
                            <a:schemeClr val="tx1"/>
                          </a:solidFill>
                        </a:rPr>
                        <a:t>httpx, async</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Explicit timeouts; tests run all four apps in one process</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448056">
                <a:tc>
                  <a:txBody>
                    <a:bodyPr/>
                    <a:lstStyle/>
                    <a:p>
                      <a:pPr indent="0" marL="0">
                        <a:buNone/>
                      </a:pPr>
                      <a:r>
                        <a:rPr lang="en-US" sz="1400" b="1" dirty="0">
                          <a:solidFill>
                            <a:schemeClr val="tx1"/>
                          </a:solidFill>
                        </a:rPr>
                        <a:t>SQLite, stdlib</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Durable inbox, orders and audit log, no extra service</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448056">
                <a:tc>
                  <a:txBody>
                    <a:bodyPr/>
                    <a:lstStyle/>
                    <a:p>
                      <a:pPr indent="0" marL="0">
                        <a:buNone/>
                      </a:pPr>
                      <a:r>
                        <a:rPr lang="en-US" sz="1400" b="1" dirty="0">
                          <a:solidFill>
                            <a:schemeClr val="tx1"/>
                          </a:solidFill>
                        </a:rPr>
                        <a:t>React + TypeScript + Vite</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The operator console, built once and served by FastAPI</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448056">
                <a:tc>
                  <a:txBody>
                    <a:bodyPr/>
                    <a:lstStyle/>
                    <a:p>
                      <a:pPr indent="0" marL="0">
                        <a:buNone/>
                      </a:pPr>
                      <a:r>
                        <a:rPr lang="en-US" sz="1400" b="1" dirty="0">
                          <a:solidFill>
                            <a:schemeClr val="tx1"/>
                          </a:solidFill>
                        </a:rPr>
                        <a:t>TanStack Query</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Polling and caching for live pages, no websockets needed</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448056">
                <a:tc>
                  <a:txBody>
                    <a:bodyPr/>
                    <a:lstStyle/>
                    <a:p>
                      <a:pPr indent="0" marL="0">
                        <a:buNone/>
                      </a:pPr>
                      <a:r>
                        <a:rPr lang="en-US" sz="1400" b="1" dirty="0">
                          <a:solidFill>
                            <a:schemeClr val="tx1"/>
                          </a:solidFill>
                        </a:rPr>
                        <a:t>Recharts, cmdk</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Flow charts; a command palette to jump to any order</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448056">
                <a:tc>
                  <a:txBody>
                    <a:bodyPr/>
                    <a:lstStyle/>
                    <a:p>
                      <a:pPr indent="0" marL="0">
                        <a:buNone/>
                      </a:pPr>
                      <a:r>
                        <a:rPr lang="en-US" sz="1400" b="1" dirty="0">
                          <a:solidFill>
                            <a:schemeClr val="tx1"/>
                          </a:solidFill>
                        </a:rPr>
                        <a:t>Ollama + OpenAI SDK</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Local model, no key, order data stays on the machine</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448056">
                <a:tc>
                  <a:txBody>
                    <a:bodyPr/>
                    <a:lstStyle/>
                    <a:p>
                      <a:pPr indent="0" marL="0">
                        <a:buNone/>
                      </a:pPr>
                      <a:r>
                        <a:rPr lang="en-US" sz="1400" b="1" dirty="0">
                          <a:solidFill>
                            <a:schemeClr val="tx1"/>
                          </a:solidFill>
                        </a:rPr>
                        <a:t>Docker Compose</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One command; health checks start services in order</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448056">
                <a:tc>
                  <a:txBody>
                    <a:bodyPr/>
                    <a:lstStyle/>
                    <a:p>
                      <a:pPr indent="0" marL="0">
                        <a:buNone/>
                      </a:pPr>
                      <a:r>
                        <a:rPr lang="en-US" sz="1400" b="1" dirty="0">
                          <a:solidFill>
                            <a:schemeClr val="tx1"/>
                          </a:solidFill>
                        </a:rPr>
                        <a:t>pytest, Vitest, ruff</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227 backend and 222 frontend tests, lint on both sides</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bl>
          </a:graphicData>
        </a:graphic>
      </p:graphicFrame>
      <p:sp>
        <p:nvSpPr>
          <p:cNvPr id="5" name="not used"/>
          <p:cNvSpPr/>
          <p:nvPr/>
        </p:nvSpPr>
        <p:spPr>
          <a:xfrm>
            <a:off x="8092440" y="1463040"/>
            <a:ext cx="3547872" cy="4526280"/>
          </a:xfrm>
          <a:prstGeom prst="roundRect">
            <a:avLst>
              <a:gd name="adj" fmla="val 2062"/>
            </a:avLst>
          </a:prstGeom>
          <a:solidFill>
            <a:schemeClr val="bg2"/>
          </a:solidFill>
          <a:ln/>
        </p:spPr>
      </p:sp>
      <p:sp>
        <p:nvSpPr>
          <p:cNvPr id="6" name="Text 3"/>
          <p:cNvSpPr txBox="1"/>
          <p:nvPr/>
        </p:nvSpPr>
        <p:spPr>
          <a:xfrm>
            <a:off x="8321040" y="1645920"/>
            <a:ext cx="3108960" cy="320040"/>
          </a:xfrm>
          <a:prstGeom prst="rect">
            <a:avLst/>
          </a:prstGeom>
          <a:noFill/>
          <a:ln/>
        </p:spPr>
        <p:txBody>
          <a:bodyPr wrap="square" lIns="0" tIns="0" rIns="0" bIns="0" rtlCol="0" anchor="t"/>
          <a:lstStyle/>
          <a:p>
            <a:pPr indent="0" marL="0">
              <a:buNone/>
            </a:pPr>
            <a:r>
              <a:rPr lang="en-US" sz="1700" b="1" dirty="0">
                <a:solidFill>
                  <a:schemeClr val="tx1"/>
                </a:solidFill>
              </a:rPr>
              <a:t>Deliberately not used</a:t>
            </a:r>
            <a:endParaRPr lang="en-US" sz="1700" dirty="0"/>
          </a:p>
        </p:txBody>
      </p:sp>
      <p:sp>
        <p:nvSpPr>
          <p:cNvPr id="7" name="Text 4"/>
          <p:cNvSpPr txBox="1"/>
          <p:nvPr/>
        </p:nvSpPr>
        <p:spPr>
          <a:xfrm>
            <a:off x="8321040" y="2103120"/>
            <a:ext cx="3154680" cy="374904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A message broker. </a:t>
            </a:r>
            <a:r>
              <a:rPr lang="en-US" sz="1400" dirty="0">
                <a:solidFill>
                  <a:srgbClr val="3D4552"/>
                </a:solidFill>
              </a:rPr>
              <a:t>The inbox table is the queue and survives restarts. One shop does not need more yet.</a:t>
            </a:r>
            <a:endParaRPr lang="en-US" sz="1400" dirty="0"/>
          </a:p>
          <a:p>
            <a:pPr marL="177800" indent="-177800">
              <a:spcAft>
                <a:spcPts val="900"/>
              </a:spcAft>
              <a:buSzPct val="100000"/>
              <a:buChar char="•"/>
            </a:pPr>
            <a:r>
              <a:rPr lang="en-US" sz="1400" b="1" dirty="0">
                <a:solidFill>
                  <a:schemeClr val="tx1"/>
                </a:solidFill>
              </a:rPr>
              <a:t>Postgres. </a:t>
            </a:r>
            <a:r>
              <a:rPr lang="en-US" sz="1400" dirty="0">
                <a:solidFill>
                  <a:srgbClr val="3D4552"/>
                </a:solidFill>
              </a:rPr>
              <a:t>One writer is enough here. All SQL is in glue/db.py, so the move is one file.</a:t>
            </a:r>
            <a:endParaRPr lang="en-US" sz="1400" dirty="0"/>
          </a:p>
          <a:p>
            <a:pPr marL="177800" indent="-177800">
              <a:spcAft>
                <a:spcPts val="900"/>
              </a:spcAft>
              <a:buSzPct val="100000"/>
              <a:buChar char="•"/>
            </a:pPr>
            <a:r>
              <a:rPr lang="en-US" sz="1400" b="1" dirty="0">
                <a:solidFill>
                  <a:schemeClr val="tx1"/>
                </a:solidFill>
              </a:rPr>
              <a:t>An ORM. </a:t>
            </a:r>
            <a:r>
              <a:rPr lang="en-US" sz="1400" dirty="0">
                <a:solidFill>
                  <a:srgbClr val="3D4552"/>
                </a:solidFill>
              </a:rPr>
              <a:t>Plain SQL in one file is easier to review.</a:t>
            </a:r>
            <a:endParaRPr lang="en-US" sz="1400" dirty="0"/>
          </a:p>
          <a:p>
            <a:pPr marL="177800" indent="-177800">
              <a:spcAft>
                <a:spcPts val="900"/>
              </a:spcAft>
              <a:buSzPct val="100000"/>
              <a:buChar char="•"/>
            </a:pPr>
            <a:r>
              <a:rPr lang="en-US" sz="1400" b="1" dirty="0">
                <a:solidFill>
                  <a:schemeClr val="tx1"/>
                </a:solidFill>
              </a:rPr>
              <a:t>Websockets. </a:t>
            </a:r>
            <a:r>
              <a:rPr lang="en-US" sz="1400" dirty="0">
                <a:solidFill>
                  <a:srgbClr val="3D4552"/>
                </a:solidFill>
              </a:rPr>
              <a:t>Polling every few seconds is fine for one operator.</a:t>
            </a:r>
            <a:endParaRPr lang="en-US" sz="1400" dirty="0"/>
          </a:p>
          <a:p>
            <a:pPr marL="177800" indent="-177800">
              <a:spcAft>
                <a:spcPts val="900"/>
              </a:spcAft>
              <a:buSzPct val="100000"/>
              <a:buChar char="•"/>
            </a:pPr>
            <a:r>
              <a:rPr lang="en-US" sz="1400" b="1" dirty="0">
                <a:solidFill>
                  <a:schemeClr val="tx1"/>
                </a:solidFill>
              </a:rPr>
              <a:t>A hosted model. </a:t>
            </a:r>
            <a:r>
              <a:rPr lang="en-US" sz="1400" dirty="0">
                <a:solidFill>
                  <a:srgbClr val="3D4552"/>
                </a:solidFill>
              </a:rPr>
              <a:t>Order data stays local. Hosted models show as coming soon.</a:t>
            </a:r>
            <a:endParaRPr lang="en-US" sz="14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HOW IT WORKS</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A shop order, with retries</a:t>
            </a:r>
            <a:endParaRPr lang="en-US" sz="3200" dirty="0"/>
          </a:p>
        </p:txBody>
      </p:sp>
      <p:sp>
        <p:nvSpPr>
          <p:cNvPr id="4" name="Customer pays"/>
          <p:cNvSpPr/>
          <p:nvPr/>
        </p:nvSpPr>
        <p:spPr>
          <a:xfrm>
            <a:off x="548640" y="1508760"/>
            <a:ext cx="2011680" cy="1188720"/>
          </a:xfrm>
          <a:prstGeom prst="roundRect">
            <a:avLst>
              <a:gd name="adj" fmla="val 6154"/>
            </a:avLst>
          </a:prstGeom>
          <a:solidFill>
            <a:schemeClr val="bg1"/>
          </a:solidFill>
          <a:ln w="9525">
            <a:solidFill>
              <a:srgbClr val="E3E6EB"/>
            </a:solidFill>
            <a:prstDash val="solid"/>
          </a:ln>
        </p:spPr>
      </p:sp>
      <p:sp>
        <p:nvSpPr>
          <p:cNvPr id="5" name="step 1"/>
          <p:cNvSpPr/>
          <p:nvPr/>
        </p:nvSpPr>
        <p:spPr>
          <a:xfrm>
            <a:off x="713232" y="1673352"/>
            <a:ext cx="329184" cy="329184"/>
          </a:xfrm>
          <a:prstGeom prst="ellipse">
            <a:avLst/>
          </a:prstGeom>
          <a:solidFill>
            <a:schemeClr val="tx1"/>
          </a:solidFill>
          <a:ln/>
        </p:spPr>
      </p:sp>
      <p:sp>
        <p:nvSpPr>
          <p:cNvPr id="6" name="Text 4"/>
          <p:cNvSpPr txBox="1"/>
          <p:nvPr/>
        </p:nvSpPr>
        <p:spPr>
          <a:xfrm>
            <a:off x="713232" y="16733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143000" y="1664208"/>
            <a:ext cx="1371600" cy="384048"/>
          </a:xfrm>
          <a:prstGeom prst="rect">
            <a:avLst/>
          </a:prstGeom>
          <a:noFill/>
          <a:ln/>
        </p:spPr>
        <p:txBody>
          <a:bodyPr wrap="square" lIns="0" tIns="0" rIns="0" bIns="0" rtlCol="0" anchor="ctr"/>
          <a:lstStyle/>
          <a:p>
            <a:pPr indent="0" marL="0">
              <a:buNone/>
            </a:pPr>
            <a:r>
              <a:rPr lang="en-US" sz="1400" b="1" dirty="0">
                <a:solidFill>
                  <a:schemeClr val="tx1"/>
                </a:solidFill>
              </a:rPr>
              <a:t>Customer pays</a:t>
            </a:r>
            <a:endParaRPr lang="en-US" sz="1400" dirty="0"/>
          </a:p>
        </p:txBody>
      </p:sp>
      <p:sp>
        <p:nvSpPr>
          <p:cNvPr id="8" name="Text 6"/>
          <p:cNvSpPr txBox="1"/>
          <p:nvPr/>
        </p:nvSpPr>
        <p:spPr>
          <a:xfrm>
            <a:off x="713232" y="2130552"/>
            <a:ext cx="1737360" cy="502920"/>
          </a:xfrm>
          <a:prstGeom prst="rect">
            <a:avLst/>
          </a:prstGeom>
          <a:noFill/>
          <a:ln/>
        </p:spPr>
        <p:txBody>
          <a:bodyPr wrap="square" lIns="0" tIns="0" rIns="0" bIns="0" rtlCol="0" anchor="t"/>
          <a:lstStyle/>
          <a:p>
            <a:pPr indent="0" marL="0">
              <a:buNone/>
            </a:pPr>
            <a:r>
              <a:rPr lang="en-US" sz="1200" dirty="0">
                <a:solidFill>
                  <a:schemeClr val="tx2"/>
                </a:solidFill>
              </a:rPr>
              <a:t>order.placed, signed, with an event id</a:t>
            </a:r>
            <a:endParaRPr lang="en-US" sz="1200" dirty="0"/>
          </a:p>
        </p:txBody>
      </p:sp>
      <p:sp>
        <p:nvSpPr>
          <p:cNvPr id="9" name="Shape 7"/>
          <p:cNvSpPr/>
          <p:nvPr/>
        </p:nvSpPr>
        <p:spPr>
          <a:xfrm>
            <a:off x="2578608" y="2103120"/>
            <a:ext cx="219456" cy="0"/>
          </a:xfrm>
          <a:prstGeom prst="line">
            <a:avLst/>
          </a:prstGeom>
          <a:noFill/>
          <a:ln w="15875">
            <a:solidFill>
              <a:schemeClr val="tx1"/>
            </a:solidFill>
            <a:prstDash val="solid"/>
            <a:tailEnd type="triangle"/>
          </a:ln>
        </p:spPr>
      </p:sp>
      <p:sp>
        <p:nvSpPr>
          <p:cNvPr id="10" name="Inbox"/>
          <p:cNvSpPr/>
          <p:nvPr/>
        </p:nvSpPr>
        <p:spPr>
          <a:xfrm>
            <a:off x="2816352" y="1508760"/>
            <a:ext cx="2011680" cy="1188720"/>
          </a:xfrm>
          <a:prstGeom prst="roundRect">
            <a:avLst>
              <a:gd name="adj" fmla="val 6154"/>
            </a:avLst>
          </a:prstGeom>
          <a:solidFill>
            <a:schemeClr val="bg1"/>
          </a:solidFill>
          <a:ln w="9525">
            <a:solidFill>
              <a:srgbClr val="E3E6EB"/>
            </a:solidFill>
            <a:prstDash val="solid"/>
          </a:ln>
        </p:spPr>
      </p:sp>
      <p:sp>
        <p:nvSpPr>
          <p:cNvPr id="11" name="step 2"/>
          <p:cNvSpPr/>
          <p:nvPr/>
        </p:nvSpPr>
        <p:spPr>
          <a:xfrm>
            <a:off x="2980944" y="1673352"/>
            <a:ext cx="329184" cy="329184"/>
          </a:xfrm>
          <a:prstGeom prst="ellipse">
            <a:avLst/>
          </a:prstGeom>
          <a:solidFill>
            <a:schemeClr val="tx1"/>
          </a:solidFill>
          <a:ln/>
        </p:spPr>
      </p:sp>
      <p:sp>
        <p:nvSpPr>
          <p:cNvPr id="12" name="Text 10"/>
          <p:cNvSpPr txBox="1"/>
          <p:nvPr/>
        </p:nvSpPr>
        <p:spPr>
          <a:xfrm>
            <a:off x="2980944" y="16733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3410712" y="1664208"/>
            <a:ext cx="1371600" cy="384048"/>
          </a:xfrm>
          <a:prstGeom prst="rect">
            <a:avLst/>
          </a:prstGeom>
          <a:noFill/>
          <a:ln/>
        </p:spPr>
        <p:txBody>
          <a:bodyPr wrap="square" lIns="0" tIns="0" rIns="0" bIns="0" rtlCol="0" anchor="ctr"/>
          <a:lstStyle/>
          <a:p>
            <a:pPr indent="0" marL="0">
              <a:buNone/>
            </a:pPr>
            <a:r>
              <a:rPr lang="en-US" sz="1400" b="1" dirty="0">
                <a:solidFill>
                  <a:schemeClr val="tx1"/>
                </a:solidFill>
              </a:rPr>
              <a:t>Inbox</a:t>
            </a:r>
            <a:endParaRPr lang="en-US" sz="1400" dirty="0"/>
          </a:p>
        </p:txBody>
      </p:sp>
      <p:sp>
        <p:nvSpPr>
          <p:cNvPr id="14" name="Text 12"/>
          <p:cNvSpPr txBox="1"/>
          <p:nvPr/>
        </p:nvSpPr>
        <p:spPr>
          <a:xfrm>
            <a:off x="2980944" y="2130552"/>
            <a:ext cx="1737360" cy="502920"/>
          </a:xfrm>
          <a:prstGeom prst="rect">
            <a:avLst/>
          </a:prstGeom>
          <a:noFill/>
          <a:ln/>
        </p:spPr>
        <p:txBody>
          <a:bodyPr wrap="square" lIns="0" tIns="0" rIns="0" bIns="0" rtlCol="0" anchor="t"/>
          <a:lstStyle/>
          <a:p>
            <a:pPr indent="0" marL="0">
              <a:buNone/>
            </a:pPr>
            <a:r>
              <a:rPr lang="en-US" sz="1200" dirty="0">
                <a:solidFill>
                  <a:schemeClr val="tx2"/>
                </a:solidFill>
              </a:rPr>
              <a:t>verify, save, answer 202</a:t>
            </a:r>
            <a:endParaRPr lang="en-US" sz="1200" dirty="0"/>
          </a:p>
        </p:txBody>
      </p:sp>
      <p:sp>
        <p:nvSpPr>
          <p:cNvPr id="15" name="Shape 13"/>
          <p:cNvSpPr/>
          <p:nvPr/>
        </p:nvSpPr>
        <p:spPr>
          <a:xfrm>
            <a:off x="4846320" y="2103120"/>
            <a:ext cx="219456" cy="0"/>
          </a:xfrm>
          <a:prstGeom prst="line">
            <a:avLst/>
          </a:prstGeom>
          <a:noFill/>
          <a:ln w="15875">
            <a:solidFill>
              <a:schemeClr val="tx1"/>
            </a:solidFill>
            <a:prstDash val="solid"/>
            <a:tailEnd type="triangle"/>
          </a:ln>
        </p:spPr>
      </p:sp>
      <p:sp>
        <p:nvSpPr>
          <p:cNvPr id="16" name="Worker"/>
          <p:cNvSpPr/>
          <p:nvPr/>
        </p:nvSpPr>
        <p:spPr>
          <a:xfrm>
            <a:off x="5084064" y="1508760"/>
            <a:ext cx="2011680" cy="1188720"/>
          </a:xfrm>
          <a:prstGeom prst="roundRect">
            <a:avLst>
              <a:gd name="adj" fmla="val 6154"/>
            </a:avLst>
          </a:prstGeom>
          <a:solidFill>
            <a:schemeClr val="bg1"/>
          </a:solidFill>
          <a:ln w="9525">
            <a:solidFill>
              <a:srgbClr val="E3E6EB"/>
            </a:solidFill>
            <a:prstDash val="solid"/>
          </a:ln>
        </p:spPr>
      </p:sp>
      <p:sp>
        <p:nvSpPr>
          <p:cNvPr id="17" name="step 3"/>
          <p:cNvSpPr/>
          <p:nvPr/>
        </p:nvSpPr>
        <p:spPr>
          <a:xfrm>
            <a:off x="5248656" y="1673352"/>
            <a:ext cx="329184" cy="329184"/>
          </a:xfrm>
          <a:prstGeom prst="ellipse">
            <a:avLst/>
          </a:prstGeom>
          <a:solidFill>
            <a:schemeClr val="tx1"/>
          </a:solidFill>
          <a:ln/>
        </p:spPr>
      </p:sp>
      <p:sp>
        <p:nvSpPr>
          <p:cNvPr id="18" name="Text 16"/>
          <p:cNvSpPr txBox="1"/>
          <p:nvPr/>
        </p:nvSpPr>
        <p:spPr>
          <a:xfrm>
            <a:off x="5248656" y="16733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9" name="Text 17"/>
          <p:cNvSpPr txBox="1"/>
          <p:nvPr/>
        </p:nvSpPr>
        <p:spPr>
          <a:xfrm>
            <a:off x="5678424" y="1664208"/>
            <a:ext cx="1371600" cy="384048"/>
          </a:xfrm>
          <a:prstGeom prst="rect">
            <a:avLst/>
          </a:prstGeom>
          <a:noFill/>
          <a:ln/>
        </p:spPr>
        <p:txBody>
          <a:bodyPr wrap="square" lIns="0" tIns="0" rIns="0" bIns="0" rtlCol="0" anchor="ctr"/>
          <a:lstStyle/>
          <a:p>
            <a:pPr indent="0" marL="0">
              <a:buNone/>
            </a:pPr>
            <a:r>
              <a:rPr lang="en-US" sz="1400" b="1" dirty="0">
                <a:solidFill>
                  <a:schemeClr val="tx1"/>
                </a:solidFill>
              </a:rPr>
              <a:t>Worker</a:t>
            </a:r>
            <a:endParaRPr lang="en-US" sz="1400" dirty="0"/>
          </a:p>
        </p:txBody>
      </p:sp>
      <p:sp>
        <p:nvSpPr>
          <p:cNvPr id="20" name="Text 18"/>
          <p:cNvSpPr txBox="1"/>
          <p:nvPr/>
        </p:nvSpPr>
        <p:spPr>
          <a:xfrm>
            <a:off x="5248656" y="2130552"/>
            <a:ext cx="1737360" cy="502920"/>
          </a:xfrm>
          <a:prstGeom prst="rect">
            <a:avLst/>
          </a:prstGeom>
          <a:noFill/>
          <a:ln/>
        </p:spPr>
        <p:txBody>
          <a:bodyPr wrap="square" lIns="0" tIns="0" rIns="0" bIns="0" rtlCol="0" anchor="t"/>
          <a:lstStyle/>
          <a:p>
            <a:pPr indent="0" marL="0">
              <a:buNone/>
            </a:pPr>
            <a:r>
              <a:rPr lang="en-US" sz="1200" dirty="0">
                <a:solidFill>
                  <a:schemeClr val="tx2"/>
                </a:solidFill>
              </a:rPr>
              <a:t>claims it, takes the order's lock</a:t>
            </a:r>
            <a:endParaRPr lang="en-US" sz="1200" dirty="0"/>
          </a:p>
        </p:txBody>
      </p:sp>
      <p:sp>
        <p:nvSpPr>
          <p:cNvPr id="21" name="Shape 19"/>
          <p:cNvSpPr/>
          <p:nvPr/>
        </p:nvSpPr>
        <p:spPr>
          <a:xfrm>
            <a:off x="7114032" y="2103120"/>
            <a:ext cx="219456" cy="0"/>
          </a:xfrm>
          <a:prstGeom prst="line">
            <a:avLst/>
          </a:prstGeom>
          <a:noFill/>
          <a:ln w="15875">
            <a:solidFill>
              <a:schemeClr val="tx1"/>
            </a:solidFill>
            <a:prstDash val="solid"/>
            <a:tailEnd type="triangle"/>
          </a:ln>
        </p:spPr>
      </p:sp>
      <p:sp>
        <p:nvSpPr>
          <p:cNvPr id="22" name="Warehouse reserve"/>
          <p:cNvSpPr/>
          <p:nvPr/>
        </p:nvSpPr>
        <p:spPr>
          <a:xfrm>
            <a:off x="7351776" y="1508760"/>
            <a:ext cx="2011680" cy="1188720"/>
          </a:xfrm>
          <a:prstGeom prst="roundRect">
            <a:avLst>
              <a:gd name="adj" fmla="val 6154"/>
            </a:avLst>
          </a:prstGeom>
          <a:solidFill>
            <a:srgbClr val="FBF1DF"/>
          </a:solidFill>
          <a:ln w="9525">
            <a:solidFill>
              <a:srgbClr val="E9CF9F"/>
            </a:solidFill>
            <a:prstDash val="solid"/>
          </a:ln>
        </p:spPr>
      </p:sp>
      <p:sp>
        <p:nvSpPr>
          <p:cNvPr id="23" name="step 4"/>
          <p:cNvSpPr/>
          <p:nvPr/>
        </p:nvSpPr>
        <p:spPr>
          <a:xfrm>
            <a:off x="7516368" y="1673352"/>
            <a:ext cx="329184" cy="329184"/>
          </a:xfrm>
          <a:prstGeom prst="ellipse">
            <a:avLst/>
          </a:prstGeom>
          <a:solidFill>
            <a:schemeClr val="tx1"/>
          </a:solidFill>
          <a:ln/>
        </p:spPr>
      </p:sp>
      <p:sp>
        <p:nvSpPr>
          <p:cNvPr id="24" name="Text 22"/>
          <p:cNvSpPr txBox="1"/>
          <p:nvPr/>
        </p:nvSpPr>
        <p:spPr>
          <a:xfrm>
            <a:off x="7516368" y="16733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5" name="Text 23"/>
          <p:cNvSpPr txBox="1"/>
          <p:nvPr/>
        </p:nvSpPr>
        <p:spPr>
          <a:xfrm>
            <a:off x="7946136" y="1664208"/>
            <a:ext cx="1371600" cy="384048"/>
          </a:xfrm>
          <a:prstGeom prst="rect">
            <a:avLst/>
          </a:prstGeom>
          <a:noFill/>
          <a:ln/>
        </p:spPr>
        <p:txBody>
          <a:bodyPr wrap="square" lIns="0" tIns="0" rIns="0" bIns="0" rtlCol="0" anchor="ctr"/>
          <a:lstStyle/>
          <a:p>
            <a:pPr indent="0" marL="0">
              <a:buNone/>
            </a:pPr>
            <a:r>
              <a:rPr lang="en-US" sz="1400" b="1" dirty="0">
                <a:solidFill>
                  <a:schemeClr val="tx1"/>
                </a:solidFill>
              </a:rPr>
              <a:t>Warehouse reserve</a:t>
            </a:r>
            <a:endParaRPr lang="en-US" sz="1400" dirty="0"/>
          </a:p>
        </p:txBody>
      </p:sp>
      <p:sp>
        <p:nvSpPr>
          <p:cNvPr id="26" name="Text 24"/>
          <p:cNvSpPr txBox="1"/>
          <p:nvPr/>
        </p:nvSpPr>
        <p:spPr>
          <a:xfrm>
            <a:off x="7516368" y="2130552"/>
            <a:ext cx="1737360" cy="502920"/>
          </a:xfrm>
          <a:prstGeom prst="rect">
            <a:avLst/>
          </a:prstGeom>
          <a:noFill/>
          <a:ln/>
        </p:spPr>
        <p:txBody>
          <a:bodyPr wrap="square" lIns="0" tIns="0" rIns="0" bIns="0" rtlCol="0" anchor="t"/>
          <a:lstStyle/>
          <a:p>
            <a:pPr indent="0" marL="0">
              <a:buNone/>
            </a:pPr>
            <a:r>
              <a:rPr lang="en-US" sz="1200" dirty="0">
                <a:solidFill>
                  <a:schemeClr val="tx2"/>
                </a:solidFill>
              </a:rPr>
              <a:t>Idempotency-Key: shop-1001</a:t>
            </a:r>
            <a:endParaRPr lang="en-US" sz="1200" dirty="0"/>
          </a:p>
        </p:txBody>
      </p:sp>
      <p:sp>
        <p:nvSpPr>
          <p:cNvPr id="27" name="Shape 25"/>
          <p:cNvSpPr/>
          <p:nvPr/>
        </p:nvSpPr>
        <p:spPr>
          <a:xfrm>
            <a:off x="9381744" y="2103120"/>
            <a:ext cx="219456" cy="0"/>
          </a:xfrm>
          <a:prstGeom prst="line">
            <a:avLst/>
          </a:prstGeom>
          <a:noFill/>
          <a:ln w="15875">
            <a:solidFill>
              <a:schemeClr val="tx1"/>
            </a:solidFill>
            <a:prstDash val="solid"/>
            <a:tailEnd type="triangle"/>
          </a:ln>
        </p:spPr>
      </p:sp>
      <p:sp>
        <p:nvSpPr>
          <p:cNvPr id="28" name="Stock pushed"/>
          <p:cNvSpPr/>
          <p:nvPr/>
        </p:nvSpPr>
        <p:spPr>
          <a:xfrm>
            <a:off x="9619488" y="1508760"/>
            <a:ext cx="2011680" cy="1188720"/>
          </a:xfrm>
          <a:prstGeom prst="roundRect">
            <a:avLst>
              <a:gd name="adj" fmla="val 6154"/>
            </a:avLst>
          </a:prstGeom>
          <a:solidFill>
            <a:schemeClr val="bg1"/>
          </a:solidFill>
          <a:ln w="9525">
            <a:solidFill>
              <a:srgbClr val="E3E6EB"/>
            </a:solidFill>
            <a:prstDash val="solid"/>
          </a:ln>
        </p:spPr>
      </p:sp>
      <p:sp>
        <p:nvSpPr>
          <p:cNvPr id="29" name="step 5"/>
          <p:cNvSpPr/>
          <p:nvPr/>
        </p:nvSpPr>
        <p:spPr>
          <a:xfrm>
            <a:off x="9784080" y="1673352"/>
            <a:ext cx="329184" cy="329184"/>
          </a:xfrm>
          <a:prstGeom prst="ellipse">
            <a:avLst/>
          </a:prstGeom>
          <a:solidFill>
            <a:schemeClr val="tx1"/>
          </a:solidFill>
          <a:ln/>
        </p:spPr>
      </p:sp>
      <p:sp>
        <p:nvSpPr>
          <p:cNvPr id="30" name="Text 28"/>
          <p:cNvSpPr txBox="1"/>
          <p:nvPr/>
        </p:nvSpPr>
        <p:spPr>
          <a:xfrm>
            <a:off x="9784080" y="167335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1" name="Text 29"/>
          <p:cNvSpPr txBox="1"/>
          <p:nvPr/>
        </p:nvSpPr>
        <p:spPr>
          <a:xfrm>
            <a:off x="10213848" y="1664208"/>
            <a:ext cx="1371600" cy="384048"/>
          </a:xfrm>
          <a:prstGeom prst="rect">
            <a:avLst/>
          </a:prstGeom>
          <a:noFill/>
          <a:ln/>
        </p:spPr>
        <p:txBody>
          <a:bodyPr wrap="square" lIns="0" tIns="0" rIns="0" bIns="0" rtlCol="0" anchor="ctr"/>
          <a:lstStyle/>
          <a:p>
            <a:pPr indent="0" marL="0">
              <a:buNone/>
            </a:pPr>
            <a:r>
              <a:rPr lang="en-US" sz="1400" b="1" dirty="0">
                <a:solidFill>
                  <a:schemeClr val="tx1"/>
                </a:solidFill>
              </a:rPr>
              <a:t>Stock pushed</a:t>
            </a:r>
            <a:endParaRPr lang="en-US" sz="1400" dirty="0"/>
          </a:p>
        </p:txBody>
      </p:sp>
      <p:sp>
        <p:nvSpPr>
          <p:cNvPr id="32" name="Text 30"/>
          <p:cNvSpPr txBox="1"/>
          <p:nvPr/>
        </p:nvSpPr>
        <p:spPr>
          <a:xfrm>
            <a:off x="9784080" y="2130552"/>
            <a:ext cx="1737360" cy="502920"/>
          </a:xfrm>
          <a:prstGeom prst="rect">
            <a:avLst/>
          </a:prstGeom>
          <a:noFill/>
          <a:ln/>
        </p:spPr>
        <p:txBody>
          <a:bodyPr wrap="square" lIns="0" tIns="0" rIns="0" bIns="0" rtlCol="0" anchor="t"/>
          <a:lstStyle/>
          <a:p>
            <a:pPr indent="0" marL="0">
              <a:buNone/>
            </a:pPr>
            <a:r>
              <a:rPr lang="en-US" sz="1200" dirty="0">
                <a:solidFill>
                  <a:schemeClr val="tx2"/>
                </a:solidFill>
              </a:rPr>
              <a:t>new figure to the shop and eMAG</a:t>
            </a:r>
            <a:endParaRPr lang="en-US" sz="1200" dirty="0"/>
          </a:p>
        </p:txBody>
      </p:sp>
      <p:sp>
        <p:nvSpPr>
          <p:cNvPr id="33" name="Text 31"/>
          <p:cNvSpPr txBox="1"/>
          <p:nvPr/>
        </p:nvSpPr>
        <p:spPr>
          <a:xfrm>
            <a:off x="548640" y="3017520"/>
            <a:ext cx="6858000" cy="274320"/>
          </a:xfrm>
          <a:prstGeom prst="rect">
            <a:avLst/>
          </a:prstGeom>
          <a:noFill/>
          <a:ln/>
        </p:spPr>
        <p:txBody>
          <a:bodyPr wrap="square" lIns="0" tIns="0" rIns="0" bIns="0" rtlCol="0" anchor="t"/>
          <a:lstStyle/>
          <a:p>
            <a:pPr indent="0" marL="0">
              <a:buNone/>
            </a:pPr>
            <a:r>
              <a:rPr lang="en-US" sz="1400" b="1" dirty="0">
                <a:solidFill>
                  <a:schemeClr val="tx1"/>
                </a:solidFill>
              </a:rPr>
              <a:t>Step 4 when the warehouse is struggling</a:t>
            </a:r>
            <a:endParaRPr lang="en-US" sz="1400" dirty="0"/>
          </a:p>
        </p:txBody>
      </p:sp>
      <p:sp>
        <p:nvSpPr>
          <p:cNvPr id="34" name="tag 503 · Retry-After: 2"/>
          <p:cNvSpPr/>
          <p:nvPr/>
        </p:nvSpPr>
        <p:spPr>
          <a:xfrm>
            <a:off x="548640" y="3401568"/>
            <a:ext cx="1953158" cy="290779"/>
          </a:xfrm>
          <a:prstGeom prst="roundRect">
            <a:avLst>
              <a:gd name="adj" fmla="val 12579"/>
            </a:avLst>
          </a:prstGeom>
          <a:solidFill>
            <a:srgbClr val="FFF3D6"/>
          </a:solidFill>
          <a:ln/>
        </p:spPr>
      </p:sp>
      <p:sp>
        <p:nvSpPr>
          <p:cNvPr id="35" name="Text 33"/>
          <p:cNvSpPr txBox="1"/>
          <p:nvPr/>
        </p:nvSpPr>
        <p:spPr>
          <a:xfrm>
            <a:off x="548640" y="3401568"/>
            <a:ext cx="1953158" cy="290779"/>
          </a:xfrm>
          <a:prstGeom prst="rect">
            <a:avLst/>
          </a:prstGeom>
          <a:noFill/>
          <a:ln/>
        </p:spPr>
        <p:txBody>
          <a:bodyPr wrap="square" lIns="0" tIns="0" rIns="0" bIns="0" rtlCol="0" anchor="ctr"/>
          <a:lstStyle/>
          <a:p>
            <a:pPr algn="ctr" indent="0" marL="0">
              <a:buNone/>
            </a:pPr>
            <a:r>
              <a:rPr lang="en-US" sz="1200" b="1" dirty="0">
                <a:solidFill>
                  <a:srgbClr val="8A5300"/>
                </a:solidFill>
              </a:rPr>
              <a:t>503 · Retry-After: 2</a:t>
            </a:r>
            <a:endParaRPr lang="en-US" sz="1200" dirty="0"/>
          </a:p>
        </p:txBody>
      </p:sp>
      <p:sp>
        <p:nvSpPr>
          <p:cNvPr id="36" name="Shape 34"/>
          <p:cNvSpPr/>
          <p:nvPr/>
        </p:nvSpPr>
        <p:spPr>
          <a:xfrm>
            <a:off x="2556662" y="3546958"/>
            <a:ext cx="219456" cy="0"/>
          </a:xfrm>
          <a:prstGeom prst="line">
            <a:avLst/>
          </a:prstGeom>
          <a:noFill/>
          <a:ln w="12700">
            <a:solidFill>
              <a:schemeClr val="tx2"/>
            </a:solidFill>
            <a:prstDash val="solid"/>
            <a:tailEnd type="triangle"/>
          </a:ln>
        </p:spPr>
      </p:sp>
      <p:sp>
        <p:nvSpPr>
          <p:cNvPr id="37" name="tag wait 2 s"/>
          <p:cNvSpPr/>
          <p:nvPr/>
        </p:nvSpPr>
        <p:spPr>
          <a:xfrm>
            <a:off x="2830982" y="3401568"/>
            <a:ext cx="912937" cy="290779"/>
          </a:xfrm>
          <a:prstGeom prst="roundRect">
            <a:avLst>
              <a:gd name="adj" fmla="val 12579"/>
            </a:avLst>
          </a:prstGeom>
          <a:solidFill>
            <a:srgbClr val="F1F3F6"/>
          </a:solidFill>
          <a:ln/>
        </p:spPr>
      </p:sp>
      <p:sp>
        <p:nvSpPr>
          <p:cNvPr id="38" name="Text 36"/>
          <p:cNvSpPr txBox="1"/>
          <p:nvPr/>
        </p:nvSpPr>
        <p:spPr>
          <a:xfrm>
            <a:off x="2830982" y="3401568"/>
            <a:ext cx="912937" cy="290779"/>
          </a:xfrm>
          <a:prstGeom prst="rect">
            <a:avLst/>
          </a:prstGeom>
          <a:noFill/>
          <a:ln/>
        </p:spPr>
        <p:txBody>
          <a:bodyPr wrap="square" lIns="0" tIns="0" rIns="0" bIns="0" rtlCol="0" anchor="ctr"/>
          <a:lstStyle/>
          <a:p>
            <a:pPr algn="ctr" indent="0" marL="0">
              <a:buNone/>
            </a:pPr>
            <a:r>
              <a:rPr lang="en-US" sz="1200" b="1" dirty="0">
                <a:solidFill>
                  <a:srgbClr val="5B6472"/>
                </a:solidFill>
              </a:rPr>
              <a:t>wait 2 s</a:t>
            </a:r>
            <a:endParaRPr lang="en-US" sz="1200" dirty="0"/>
          </a:p>
        </p:txBody>
      </p:sp>
      <p:sp>
        <p:nvSpPr>
          <p:cNvPr id="39" name="Shape 37"/>
          <p:cNvSpPr/>
          <p:nvPr/>
        </p:nvSpPr>
        <p:spPr>
          <a:xfrm>
            <a:off x="3798783" y="3546958"/>
            <a:ext cx="219456" cy="0"/>
          </a:xfrm>
          <a:prstGeom prst="line">
            <a:avLst/>
          </a:prstGeom>
          <a:noFill/>
          <a:ln w="12700">
            <a:solidFill>
              <a:schemeClr val="tx2"/>
            </a:solidFill>
            <a:prstDash val="solid"/>
            <a:tailEnd type="triangle"/>
          </a:ln>
        </p:spPr>
      </p:sp>
      <p:sp>
        <p:nvSpPr>
          <p:cNvPr id="40" name="tag 503"/>
          <p:cNvSpPr/>
          <p:nvPr/>
        </p:nvSpPr>
        <p:spPr>
          <a:xfrm>
            <a:off x="4073103" y="3401568"/>
            <a:ext cx="479511" cy="290779"/>
          </a:xfrm>
          <a:prstGeom prst="roundRect">
            <a:avLst>
              <a:gd name="adj" fmla="val 12579"/>
            </a:avLst>
          </a:prstGeom>
          <a:solidFill>
            <a:srgbClr val="FFF3D6"/>
          </a:solidFill>
          <a:ln/>
        </p:spPr>
      </p:sp>
      <p:sp>
        <p:nvSpPr>
          <p:cNvPr id="41" name="Text 39"/>
          <p:cNvSpPr txBox="1"/>
          <p:nvPr/>
        </p:nvSpPr>
        <p:spPr>
          <a:xfrm>
            <a:off x="4073103" y="3401568"/>
            <a:ext cx="479511" cy="290779"/>
          </a:xfrm>
          <a:prstGeom prst="rect">
            <a:avLst/>
          </a:prstGeom>
          <a:noFill/>
          <a:ln/>
        </p:spPr>
        <p:txBody>
          <a:bodyPr wrap="square" lIns="0" tIns="0" rIns="0" bIns="0" rtlCol="0" anchor="ctr"/>
          <a:lstStyle/>
          <a:p>
            <a:pPr algn="ctr" indent="0" marL="0">
              <a:buNone/>
            </a:pPr>
            <a:r>
              <a:rPr lang="en-US" sz="1200" b="1" dirty="0">
                <a:solidFill>
                  <a:srgbClr val="8A5300"/>
                </a:solidFill>
              </a:rPr>
              <a:t>503</a:t>
            </a:r>
            <a:endParaRPr lang="en-US" sz="1200" dirty="0"/>
          </a:p>
        </p:txBody>
      </p:sp>
      <p:sp>
        <p:nvSpPr>
          <p:cNvPr id="42" name="Shape 40"/>
          <p:cNvSpPr/>
          <p:nvPr/>
        </p:nvSpPr>
        <p:spPr>
          <a:xfrm>
            <a:off x="4607479" y="3546958"/>
            <a:ext cx="219456" cy="0"/>
          </a:xfrm>
          <a:prstGeom prst="line">
            <a:avLst/>
          </a:prstGeom>
          <a:noFill/>
          <a:ln w="12700">
            <a:solidFill>
              <a:schemeClr val="tx2"/>
            </a:solidFill>
            <a:prstDash val="solid"/>
            <a:tailEnd type="triangle"/>
          </a:ln>
        </p:spPr>
      </p:sp>
      <p:sp>
        <p:nvSpPr>
          <p:cNvPr id="43" name="tag wait 2 s"/>
          <p:cNvSpPr/>
          <p:nvPr/>
        </p:nvSpPr>
        <p:spPr>
          <a:xfrm>
            <a:off x="4881799" y="3401568"/>
            <a:ext cx="912937" cy="290779"/>
          </a:xfrm>
          <a:prstGeom prst="roundRect">
            <a:avLst>
              <a:gd name="adj" fmla="val 12579"/>
            </a:avLst>
          </a:prstGeom>
          <a:solidFill>
            <a:srgbClr val="F1F3F6"/>
          </a:solidFill>
          <a:ln/>
        </p:spPr>
      </p:sp>
      <p:sp>
        <p:nvSpPr>
          <p:cNvPr id="44" name="Text 42"/>
          <p:cNvSpPr txBox="1"/>
          <p:nvPr/>
        </p:nvSpPr>
        <p:spPr>
          <a:xfrm>
            <a:off x="4881799" y="3401568"/>
            <a:ext cx="912937" cy="290779"/>
          </a:xfrm>
          <a:prstGeom prst="rect">
            <a:avLst/>
          </a:prstGeom>
          <a:noFill/>
          <a:ln/>
        </p:spPr>
        <p:txBody>
          <a:bodyPr wrap="square" lIns="0" tIns="0" rIns="0" bIns="0" rtlCol="0" anchor="ctr"/>
          <a:lstStyle/>
          <a:p>
            <a:pPr algn="ctr" indent="0" marL="0">
              <a:buNone/>
            </a:pPr>
            <a:r>
              <a:rPr lang="en-US" sz="1200" b="1" dirty="0">
                <a:solidFill>
                  <a:srgbClr val="5B6472"/>
                </a:solidFill>
              </a:rPr>
              <a:t>wait 2 s</a:t>
            </a:r>
            <a:endParaRPr lang="en-US" sz="1200" dirty="0"/>
          </a:p>
        </p:txBody>
      </p:sp>
      <p:sp>
        <p:nvSpPr>
          <p:cNvPr id="45" name="Shape 43"/>
          <p:cNvSpPr/>
          <p:nvPr/>
        </p:nvSpPr>
        <p:spPr>
          <a:xfrm>
            <a:off x="5849600" y="3546958"/>
            <a:ext cx="219456" cy="0"/>
          </a:xfrm>
          <a:prstGeom prst="line">
            <a:avLst/>
          </a:prstGeom>
          <a:noFill/>
          <a:ln w="12700">
            <a:solidFill>
              <a:schemeClr val="tx2"/>
            </a:solidFill>
            <a:prstDash val="solid"/>
            <a:tailEnd type="triangle"/>
          </a:ln>
        </p:spPr>
      </p:sp>
      <p:sp>
        <p:nvSpPr>
          <p:cNvPr id="46" name="tag 201"/>
          <p:cNvSpPr/>
          <p:nvPr/>
        </p:nvSpPr>
        <p:spPr>
          <a:xfrm>
            <a:off x="6123920" y="3401568"/>
            <a:ext cx="479511" cy="290779"/>
          </a:xfrm>
          <a:prstGeom prst="roundRect">
            <a:avLst>
              <a:gd name="adj" fmla="val 12579"/>
            </a:avLst>
          </a:prstGeom>
          <a:solidFill>
            <a:srgbClr val="E6F4EC"/>
          </a:solidFill>
          <a:ln/>
        </p:spPr>
      </p:sp>
      <p:sp>
        <p:nvSpPr>
          <p:cNvPr id="47" name="Text 45"/>
          <p:cNvSpPr txBox="1"/>
          <p:nvPr/>
        </p:nvSpPr>
        <p:spPr>
          <a:xfrm>
            <a:off x="6123920" y="3401568"/>
            <a:ext cx="479511" cy="290779"/>
          </a:xfrm>
          <a:prstGeom prst="rect">
            <a:avLst/>
          </a:prstGeom>
          <a:noFill/>
          <a:ln/>
        </p:spPr>
        <p:txBody>
          <a:bodyPr wrap="square" lIns="0" tIns="0" rIns="0" bIns="0" rtlCol="0" anchor="ctr"/>
          <a:lstStyle/>
          <a:p>
            <a:pPr algn="ctr" indent="0" marL="0">
              <a:buNone/>
            </a:pPr>
            <a:r>
              <a:rPr lang="en-US" sz="1200" b="1" dirty="0">
                <a:solidFill>
                  <a:srgbClr val="127A4B"/>
                </a:solidFill>
              </a:rPr>
              <a:t>201</a:t>
            </a:r>
            <a:endParaRPr lang="en-US" sz="1200" dirty="0"/>
          </a:p>
        </p:txBody>
      </p:sp>
      <p:sp>
        <p:nvSpPr>
          <p:cNvPr id="48" name="tag 201"/>
          <p:cNvSpPr/>
          <p:nvPr/>
        </p:nvSpPr>
        <p:spPr>
          <a:xfrm>
            <a:off x="548640" y="3950208"/>
            <a:ext cx="479511" cy="290779"/>
          </a:xfrm>
          <a:prstGeom prst="roundRect">
            <a:avLst>
              <a:gd name="adj" fmla="val 12579"/>
            </a:avLst>
          </a:prstGeom>
          <a:solidFill>
            <a:srgbClr val="E6F4EC"/>
          </a:solidFill>
          <a:ln/>
        </p:spPr>
      </p:sp>
      <p:sp>
        <p:nvSpPr>
          <p:cNvPr id="49" name="Text 47"/>
          <p:cNvSpPr txBox="1"/>
          <p:nvPr/>
        </p:nvSpPr>
        <p:spPr>
          <a:xfrm>
            <a:off x="548640" y="3950208"/>
            <a:ext cx="479511" cy="290779"/>
          </a:xfrm>
          <a:prstGeom prst="rect">
            <a:avLst/>
          </a:prstGeom>
          <a:noFill/>
          <a:ln/>
        </p:spPr>
        <p:txBody>
          <a:bodyPr wrap="square" lIns="0" tIns="0" rIns="0" bIns="0" rtlCol="0" anchor="ctr"/>
          <a:lstStyle/>
          <a:p>
            <a:pPr algn="ctr" indent="0" marL="0">
              <a:buNone/>
            </a:pPr>
            <a:r>
              <a:rPr lang="en-US" sz="1200" b="1" dirty="0">
                <a:solidFill>
                  <a:srgbClr val="127A4B"/>
                </a:solidFill>
              </a:rPr>
              <a:t>201</a:t>
            </a:r>
            <a:endParaRPr lang="en-US" sz="1200" dirty="0"/>
          </a:p>
        </p:txBody>
      </p:sp>
      <p:sp>
        <p:nvSpPr>
          <p:cNvPr id="50" name="Text 48"/>
          <p:cNvSpPr txBox="1"/>
          <p:nvPr/>
        </p:nvSpPr>
        <p:spPr>
          <a:xfrm>
            <a:off x="1463040" y="3931920"/>
            <a:ext cx="5669280" cy="594360"/>
          </a:xfrm>
          <a:prstGeom prst="rect">
            <a:avLst/>
          </a:prstGeom>
          <a:noFill/>
          <a:ln/>
        </p:spPr>
        <p:txBody>
          <a:bodyPr wrap="square" lIns="0" tIns="0" rIns="0" bIns="0" rtlCol="0" anchor="t"/>
          <a:lstStyle/>
          <a:p>
            <a:pPr indent="0" marL="0">
              <a:buNone/>
            </a:pPr>
            <a:r>
              <a:rPr lang="en-US" sz="1400" b="1" dirty="0">
                <a:solidFill>
                  <a:schemeClr val="tx1"/>
                </a:solidFill>
              </a:rPr>
              <a:t>Reserved. </a:t>
            </a:r>
            <a:r>
              <a:rPr lang="en-US" sz="1400" dirty="0">
                <a:solidFill>
                  <a:srgbClr val="3D4552"/>
                </a:solidFill>
              </a:rPr>
              <a:t>The reconciler pushes the new figure for that product to both channels.</a:t>
            </a:r>
            <a:endParaRPr lang="en-US" sz="1400" dirty="0"/>
          </a:p>
        </p:txBody>
      </p:sp>
      <p:sp>
        <p:nvSpPr>
          <p:cNvPr id="51" name="tag 409"/>
          <p:cNvSpPr/>
          <p:nvPr/>
        </p:nvSpPr>
        <p:spPr>
          <a:xfrm>
            <a:off x="548640" y="4663440"/>
            <a:ext cx="479511" cy="290779"/>
          </a:xfrm>
          <a:prstGeom prst="roundRect">
            <a:avLst>
              <a:gd name="adj" fmla="val 12579"/>
            </a:avLst>
          </a:prstGeom>
          <a:solidFill>
            <a:srgbClr val="FDE3DE"/>
          </a:solidFill>
          <a:ln/>
        </p:spPr>
      </p:sp>
      <p:sp>
        <p:nvSpPr>
          <p:cNvPr id="52" name="Text 50"/>
          <p:cNvSpPr txBox="1"/>
          <p:nvPr/>
        </p:nvSpPr>
        <p:spPr>
          <a:xfrm>
            <a:off x="548640" y="4663440"/>
            <a:ext cx="479511" cy="290779"/>
          </a:xfrm>
          <a:prstGeom prst="rect">
            <a:avLst/>
          </a:prstGeom>
          <a:noFill/>
          <a:ln/>
        </p:spPr>
        <p:txBody>
          <a:bodyPr wrap="square" lIns="0" tIns="0" rIns="0" bIns="0" rtlCol="0" anchor="ctr"/>
          <a:lstStyle/>
          <a:p>
            <a:pPr algn="ctr" indent="0" marL="0">
              <a:buNone/>
            </a:pPr>
            <a:r>
              <a:rPr lang="en-US" sz="1200" b="1" dirty="0">
                <a:solidFill>
                  <a:srgbClr val="9F1D10"/>
                </a:solidFill>
              </a:rPr>
              <a:t>409</a:t>
            </a:r>
            <a:endParaRPr lang="en-US" sz="1200" dirty="0"/>
          </a:p>
        </p:txBody>
      </p:sp>
      <p:sp>
        <p:nvSpPr>
          <p:cNvPr id="53" name="Text 51"/>
          <p:cNvSpPr txBox="1"/>
          <p:nvPr/>
        </p:nvSpPr>
        <p:spPr>
          <a:xfrm>
            <a:off x="1463040" y="4645152"/>
            <a:ext cx="5669280" cy="594360"/>
          </a:xfrm>
          <a:prstGeom prst="rect">
            <a:avLst/>
          </a:prstGeom>
          <a:noFill/>
          <a:ln/>
        </p:spPr>
        <p:txBody>
          <a:bodyPr wrap="square" lIns="0" tIns="0" rIns="0" bIns="0" rtlCol="0" anchor="t"/>
          <a:lstStyle/>
          <a:p>
            <a:pPr indent="0" marL="0">
              <a:buNone/>
            </a:pPr>
            <a:r>
              <a:rPr lang="en-US" sz="1400" b="1" dirty="0">
                <a:solidFill>
                  <a:schemeClr val="tx1"/>
                </a:solidFill>
              </a:rPr>
              <a:t>Sold out. </a:t>
            </a:r>
            <a:r>
              <a:rPr lang="en-US" sz="1400" dirty="0">
                <a:solidFill>
                  <a:srgbClr val="3D4552"/>
                </a:solidFill>
              </a:rPr>
              <a:t>Review item; a person decides: retry later, cancel, or close.</a:t>
            </a:r>
            <a:endParaRPr lang="en-US" sz="1400" dirty="0"/>
          </a:p>
        </p:txBody>
      </p:sp>
      <p:sp>
        <p:nvSpPr>
          <p:cNvPr id="54" name="tag 5 tries"/>
          <p:cNvSpPr/>
          <p:nvPr/>
        </p:nvSpPr>
        <p:spPr>
          <a:xfrm>
            <a:off x="548640" y="5376672"/>
            <a:ext cx="826252" cy="290779"/>
          </a:xfrm>
          <a:prstGeom prst="roundRect">
            <a:avLst>
              <a:gd name="adj" fmla="val 12579"/>
            </a:avLst>
          </a:prstGeom>
          <a:solidFill>
            <a:srgbClr val="FFF3D6"/>
          </a:solidFill>
          <a:ln/>
        </p:spPr>
      </p:sp>
      <p:sp>
        <p:nvSpPr>
          <p:cNvPr id="55" name="Text 53"/>
          <p:cNvSpPr txBox="1"/>
          <p:nvPr/>
        </p:nvSpPr>
        <p:spPr>
          <a:xfrm>
            <a:off x="548640" y="5376672"/>
            <a:ext cx="826252" cy="290779"/>
          </a:xfrm>
          <a:prstGeom prst="rect">
            <a:avLst/>
          </a:prstGeom>
          <a:noFill/>
          <a:ln/>
        </p:spPr>
        <p:txBody>
          <a:bodyPr wrap="square" lIns="0" tIns="0" rIns="0" bIns="0" rtlCol="0" anchor="ctr"/>
          <a:lstStyle/>
          <a:p>
            <a:pPr algn="ctr" indent="0" marL="0">
              <a:buNone/>
            </a:pPr>
            <a:r>
              <a:rPr lang="en-US" sz="1200" b="1" dirty="0">
                <a:solidFill>
                  <a:srgbClr val="8A5300"/>
                </a:solidFill>
              </a:rPr>
              <a:t>5 tries</a:t>
            </a:r>
            <a:endParaRPr lang="en-US" sz="1200" dirty="0"/>
          </a:p>
        </p:txBody>
      </p:sp>
      <p:sp>
        <p:nvSpPr>
          <p:cNvPr id="56" name="Text 54"/>
          <p:cNvSpPr txBox="1"/>
          <p:nvPr/>
        </p:nvSpPr>
        <p:spPr>
          <a:xfrm>
            <a:off x="1463040" y="5358384"/>
            <a:ext cx="5669280" cy="594360"/>
          </a:xfrm>
          <a:prstGeom prst="rect">
            <a:avLst/>
          </a:prstGeom>
          <a:noFill/>
          <a:ln/>
        </p:spPr>
        <p:txBody>
          <a:bodyPr wrap="square" lIns="0" tIns="0" rIns="0" bIns="0" rtlCol="0" anchor="t"/>
          <a:lstStyle/>
          <a:p>
            <a:pPr indent="0" marL="0">
              <a:buNone/>
            </a:pPr>
            <a:r>
              <a:rPr lang="en-US" sz="1400" b="1" dirty="0">
                <a:solidFill>
                  <a:schemeClr val="tx1"/>
                </a:solidFill>
              </a:rPr>
              <a:t>Warehouse outage. </a:t>
            </a:r>
            <a:r>
              <a:rPr lang="en-US" sz="1400" dirty="0">
                <a:solidFill>
                  <a:srgbClr val="3D4552"/>
                </a:solidFill>
              </a:rPr>
              <a:t>Review item: Retry, Retry all, or the auto-retry rule once the warehouse answers.</a:t>
            </a:r>
            <a:endParaRPr lang="en-US" sz="1400" dirty="0"/>
          </a:p>
        </p:txBody>
      </p:sp>
      <p:pic>
        <p:nvPicPr>
          <p:cNvPr id="57" name="Image 0" descr="History of a shop order while the warehouse was not answering: received, four retries 2 seconds apart, failed after 5 tries, sent to review">    </p:cNvPr>
          <p:cNvPicPr>
            <a:picLocks noChangeAspect="1"/>
          </p:cNvPicPr>
          <p:nvPr/>
        </p:nvPicPr>
        <p:blipFill>
          <a:blip r:embed="rId1"/>
          <a:stretch>
            <a:fillRect/>
          </a:stretch>
        </p:blipFill>
        <p:spPr>
          <a:xfrm>
            <a:off x="7589520" y="3017520"/>
            <a:ext cx="4050792" cy="2988649"/>
          </a:xfrm>
          <a:prstGeom prst="rect">
            <a:avLst/>
          </a:prstGeom>
        </p:spPr>
      </p:pic>
      <p:sp>
        <p:nvSpPr>
          <p:cNvPr id="58" name="frame"/>
          <p:cNvSpPr/>
          <p:nvPr/>
        </p:nvSpPr>
        <p:spPr>
          <a:xfrm>
            <a:off x="7589520" y="3017520"/>
            <a:ext cx="4050792" cy="2988649"/>
          </a:xfrm>
          <a:prstGeom prst="rect">
            <a:avLst/>
          </a:prstGeom>
          <a:noFill/>
          <a:ln w="9525">
            <a:solidFill>
              <a:srgbClr val="E3E6EB"/>
            </a:solidFill>
            <a:prstDash val="solid"/>
          </a:ln>
        </p:spPr>
      </p:sp>
      <p:sp>
        <p:nvSpPr>
          <p:cNvPr id="59" name="Text 56"/>
          <p:cNvSpPr txBox="1"/>
          <p:nvPr/>
        </p:nvSpPr>
        <p:spPr>
          <a:xfrm>
            <a:off x="7589520" y="6079321"/>
            <a:ext cx="4050792" cy="411480"/>
          </a:xfrm>
          <a:prstGeom prst="rect">
            <a:avLst/>
          </a:prstGeom>
          <a:noFill/>
          <a:ln/>
        </p:spPr>
        <p:txBody>
          <a:bodyPr wrap="square" lIns="0" tIns="0" rIns="0" bIns="0" rtlCol="0" anchor="t"/>
          <a:lstStyle/>
          <a:p>
            <a:pPr indent="0" marL="0">
              <a:buNone/>
            </a:pPr>
            <a:r>
              <a:rPr lang="en-US" sz="1100" dirty="0">
                <a:solidFill>
                  <a:schemeClr val="tx2"/>
                </a:solidFill>
              </a:rPr>
              <a:t>A real order's history: four retries 2 s apart, then review. A person retried it later and it was reserved.</a:t>
            </a:r>
            <a:endParaRPr lang="en-US" sz="11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HOW IT WORKS</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An eMAG order: notify, read, reserve, acknowledge</a:t>
            </a:r>
            <a:endParaRPr lang="en-US" sz="3200" dirty="0"/>
          </a:p>
        </p:txBody>
      </p:sp>
      <p:sp>
        <p:nvSpPr>
          <p:cNvPr id="4" name="step 1"/>
          <p:cNvSpPr/>
          <p:nvPr/>
        </p:nvSpPr>
        <p:spPr>
          <a:xfrm>
            <a:off x="548640" y="1517904"/>
            <a:ext cx="365760" cy="365760"/>
          </a:xfrm>
          <a:prstGeom prst="ellipse">
            <a:avLst/>
          </a:prstGeom>
          <a:solidFill>
            <a:schemeClr val="accent3"/>
          </a:solidFill>
          <a:ln/>
        </p:spPr>
      </p:sp>
      <p:sp>
        <p:nvSpPr>
          <p:cNvPr id="5" name="Text 3"/>
          <p:cNvSpPr txBox="1"/>
          <p:nvPr/>
        </p:nvSpPr>
        <p:spPr>
          <a:xfrm>
            <a:off x="548640" y="1517904"/>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4"/>
          <p:cNvSpPr txBox="1"/>
          <p:nvPr/>
        </p:nvSpPr>
        <p:spPr>
          <a:xfrm>
            <a:off x="1097280" y="1481328"/>
            <a:ext cx="4480560" cy="256032"/>
          </a:xfrm>
          <a:prstGeom prst="rect">
            <a:avLst/>
          </a:prstGeom>
          <a:noFill/>
          <a:ln/>
        </p:spPr>
        <p:txBody>
          <a:bodyPr wrap="square" lIns="0" tIns="0" rIns="0" bIns="0" rtlCol="0" anchor="t"/>
          <a:lstStyle/>
          <a:p>
            <a:pPr indent="0" marL="0">
              <a:buNone/>
            </a:pPr>
            <a:r>
              <a:rPr lang="en-US" sz="1500" b="1" dirty="0">
                <a:solidFill>
                  <a:schemeClr val="tx1"/>
                </a:solidFill>
              </a:rPr>
              <a:t>eMAG notifies</a:t>
            </a:r>
            <a:endParaRPr lang="en-US" sz="1500" dirty="0"/>
          </a:p>
        </p:txBody>
      </p:sp>
      <p:sp>
        <p:nvSpPr>
          <p:cNvPr id="7" name="Text 5"/>
          <p:cNvSpPr txBox="1"/>
          <p:nvPr/>
        </p:nvSpPr>
        <p:spPr>
          <a:xfrm>
            <a:off x="1097280" y="1746504"/>
            <a:ext cx="4480560" cy="274320"/>
          </a:xfrm>
          <a:prstGeom prst="rect">
            <a:avLst/>
          </a:prstGeom>
          <a:noFill/>
          <a:ln/>
        </p:spPr>
        <p:txBody>
          <a:bodyPr wrap="square" lIns="0" tIns="0" rIns="0" bIns="0" rtlCol="0" anchor="t"/>
          <a:lstStyle/>
          <a:p>
            <a:pPr indent="0" marL="0">
              <a:buNone/>
            </a:pPr>
            <a:r>
              <a:rPr lang="en-US" sz="1300" dirty="0">
                <a:solidFill>
                  <a:schemeClr val="tx2"/>
                </a:solidFill>
              </a:rPr>
              <a:t>only the order id and type</a:t>
            </a:r>
            <a:endParaRPr lang="en-US" sz="1300" dirty="0"/>
          </a:p>
        </p:txBody>
      </p:sp>
      <p:sp>
        <p:nvSpPr>
          <p:cNvPr id="8" name="Shape 6"/>
          <p:cNvSpPr/>
          <p:nvPr/>
        </p:nvSpPr>
        <p:spPr>
          <a:xfrm>
            <a:off x="731520" y="1901952"/>
            <a:ext cx="0" cy="219456"/>
          </a:xfrm>
          <a:prstGeom prst="line">
            <a:avLst/>
          </a:prstGeom>
          <a:noFill/>
          <a:ln w="12700">
            <a:solidFill>
              <a:srgbClr val="8A93A1"/>
            </a:solidFill>
            <a:prstDash val="solid"/>
          </a:ln>
        </p:spPr>
      </p:sp>
      <p:sp>
        <p:nvSpPr>
          <p:cNvPr id="9" name="step 2"/>
          <p:cNvSpPr/>
          <p:nvPr/>
        </p:nvSpPr>
        <p:spPr>
          <a:xfrm>
            <a:off x="548640" y="2139696"/>
            <a:ext cx="365760" cy="365760"/>
          </a:xfrm>
          <a:prstGeom prst="ellipse">
            <a:avLst/>
          </a:prstGeom>
          <a:solidFill>
            <a:schemeClr val="accent3"/>
          </a:solidFill>
          <a:ln/>
        </p:spPr>
      </p:sp>
      <p:sp>
        <p:nvSpPr>
          <p:cNvPr id="10" name="Text 8"/>
          <p:cNvSpPr txBox="1"/>
          <p:nvPr/>
        </p:nvSpPr>
        <p:spPr>
          <a:xfrm>
            <a:off x="548640" y="2139696"/>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9"/>
          <p:cNvSpPr txBox="1"/>
          <p:nvPr/>
        </p:nvSpPr>
        <p:spPr>
          <a:xfrm>
            <a:off x="1097280" y="2103120"/>
            <a:ext cx="4480560" cy="256032"/>
          </a:xfrm>
          <a:prstGeom prst="rect">
            <a:avLst/>
          </a:prstGeom>
          <a:noFill/>
          <a:ln/>
        </p:spPr>
        <p:txBody>
          <a:bodyPr wrap="square" lIns="0" tIns="0" rIns="0" bIns="0" rtlCol="0" anchor="t"/>
          <a:lstStyle/>
          <a:p>
            <a:pPr indent="0" marL="0">
              <a:buNone/>
            </a:pPr>
            <a:r>
              <a:rPr lang="en-US" sz="1500" b="1" dirty="0">
                <a:solidFill>
                  <a:schemeClr val="tx1"/>
                </a:solidFill>
              </a:rPr>
              <a:t>Inbox</a:t>
            </a:r>
            <a:endParaRPr lang="en-US" sz="1500" dirty="0"/>
          </a:p>
        </p:txBody>
      </p:sp>
      <p:sp>
        <p:nvSpPr>
          <p:cNvPr id="12" name="Text 10"/>
          <p:cNvSpPr txBox="1"/>
          <p:nvPr/>
        </p:nvSpPr>
        <p:spPr>
          <a:xfrm>
            <a:off x="1097280" y="2368296"/>
            <a:ext cx="4480560" cy="274320"/>
          </a:xfrm>
          <a:prstGeom prst="rect">
            <a:avLst/>
          </a:prstGeom>
          <a:noFill/>
          <a:ln/>
        </p:spPr>
        <p:txBody>
          <a:bodyPr wrap="square" lIns="0" tIns="0" rIns="0" bIns="0" rtlCol="0" anchor="t"/>
          <a:lstStyle/>
          <a:p>
            <a:pPr indent="0" marL="0">
              <a:buNone/>
            </a:pPr>
            <a:r>
              <a:rPr lang="en-US" sz="1300" dirty="0">
                <a:solidFill>
                  <a:schemeClr val="tx2"/>
                </a:solidFill>
              </a:rPr>
              <a:t>event id emag-notify-500123-new; a repeat is dropped</a:t>
            </a:r>
            <a:endParaRPr lang="en-US" sz="1300" dirty="0"/>
          </a:p>
        </p:txBody>
      </p:sp>
      <p:sp>
        <p:nvSpPr>
          <p:cNvPr id="13" name="Shape 11"/>
          <p:cNvSpPr/>
          <p:nvPr/>
        </p:nvSpPr>
        <p:spPr>
          <a:xfrm>
            <a:off x="731520" y="2523744"/>
            <a:ext cx="0" cy="219456"/>
          </a:xfrm>
          <a:prstGeom prst="line">
            <a:avLst/>
          </a:prstGeom>
          <a:noFill/>
          <a:ln w="12700">
            <a:solidFill>
              <a:srgbClr val="8A93A1"/>
            </a:solidFill>
            <a:prstDash val="solid"/>
          </a:ln>
        </p:spPr>
      </p:sp>
      <p:sp>
        <p:nvSpPr>
          <p:cNvPr id="14" name="step 3"/>
          <p:cNvSpPr/>
          <p:nvPr/>
        </p:nvSpPr>
        <p:spPr>
          <a:xfrm>
            <a:off x="548640" y="2761488"/>
            <a:ext cx="365760" cy="365760"/>
          </a:xfrm>
          <a:prstGeom prst="ellipse">
            <a:avLst/>
          </a:prstGeom>
          <a:solidFill>
            <a:schemeClr val="accent3"/>
          </a:solidFill>
          <a:ln/>
        </p:spPr>
      </p:sp>
      <p:sp>
        <p:nvSpPr>
          <p:cNvPr id="15" name="Text 13"/>
          <p:cNvSpPr txBox="1"/>
          <p:nvPr/>
        </p:nvSpPr>
        <p:spPr>
          <a:xfrm>
            <a:off x="548640" y="276148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097280" y="2724912"/>
            <a:ext cx="4480560" cy="256032"/>
          </a:xfrm>
          <a:prstGeom prst="rect">
            <a:avLst/>
          </a:prstGeom>
          <a:noFill/>
          <a:ln/>
        </p:spPr>
        <p:txBody>
          <a:bodyPr wrap="square" lIns="0" tIns="0" rIns="0" bIns="0" rtlCol="0" anchor="t"/>
          <a:lstStyle/>
          <a:p>
            <a:pPr indent="0" marL="0">
              <a:buNone/>
            </a:pPr>
            <a:r>
              <a:rPr lang="en-US" sz="1500" b="1" dirty="0">
                <a:solidFill>
                  <a:schemeClr val="tx1"/>
                </a:solidFill>
              </a:rPr>
              <a:t>Read the order</a:t>
            </a:r>
            <a:endParaRPr lang="en-US" sz="1500" dirty="0"/>
          </a:p>
        </p:txBody>
      </p:sp>
      <p:sp>
        <p:nvSpPr>
          <p:cNvPr id="17" name="Text 15"/>
          <p:cNvSpPr txBox="1"/>
          <p:nvPr/>
        </p:nvSpPr>
        <p:spPr>
          <a:xfrm>
            <a:off x="1097280" y="2990088"/>
            <a:ext cx="4480560" cy="274320"/>
          </a:xfrm>
          <a:prstGeom prst="rect">
            <a:avLst/>
          </a:prstGeom>
          <a:noFill/>
          <a:ln/>
        </p:spPr>
        <p:txBody>
          <a:bodyPr wrap="square" lIns="0" tIns="0" rIns="0" bIns="0" rtlCol="0" anchor="t"/>
          <a:lstStyle/>
          <a:p>
            <a:pPr indent="0" marL="0">
              <a:buNone/>
            </a:pPr>
            <a:r>
              <a:rPr lang="en-US" sz="1300" dirty="0">
                <a:solidFill>
                  <a:schemeClr val="tx2"/>
                </a:solidFill>
              </a:rPr>
              <a:t>order/read through the authenticated API</a:t>
            </a:r>
            <a:endParaRPr lang="en-US" sz="1300" dirty="0"/>
          </a:p>
        </p:txBody>
      </p:sp>
      <p:sp>
        <p:nvSpPr>
          <p:cNvPr id="18" name="Shape 16"/>
          <p:cNvSpPr/>
          <p:nvPr/>
        </p:nvSpPr>
        <p:spPr>
          <a:xfrm>
            <a:off x="731520" y="3145536"/>
            <a:ext cx="0" cy="219456"/>
          </a:xfrm>
          <a:prstGeom prst="line">
            <a:avLst/>
          </a:prstGeom>
          <a:noFill/>
          <a:ln w="12700">
            <a:solidFill>
              <a:srgbClr val="8A93A1"/>
            </a:solidFill>
            <a:prstDash val="solid"/>
          </a:ln>
        </p:spPr>
      </p:sp>
      <p:sp>
        <p:nvSpPr>
          <p:cNvPr id="19" name="step 4"/>
          <p:cNvSpPr/>
          <p:nvPr/>
        </p:nvSpPr>
        <p:spPr>
          <a:xfrm>
            <a:off x="548640" y="3383280"/>
            <a:ext cx="365760" cy="365760"/>
          </a:xfrm>
          <a:prstGeom prst="ellipse">
            <a:avLst/>
          </a:prstGeom>
          <a:solidFill>
            <a:schemeClr val="accent3"/>
          </a:solidFill>
          <a:ln/>
        </p:spPr>
      </p:sp>
      <p:sp>
        <p:nvSpPr>
          <p:cNvPr id="20" name="Text 18"/>
          <p:cNvSpPr txBox="1"/>
          <p:nvPr/>
        </p:nvSpPr>
        <p:spPr>
          <a:xfrm>
            <a:off x="548640" y="3383280"/>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1" name="Text 19"/>
          <p:cNvSpPr txBox="1"/>
          <p:nvPr/>
        </p:nvSpPr>
        <p:spPr>
          <a:xfrm>
            <a:off x="1097280" y="3346704"/>
            <a:ext cx="4480560" cy="256032"/>
          </a:xfrm>
          <a:prstGeom prst="rect">
            <a:avLst/>
          </a:prstGeom>
          <a:noFill/>
          <a:ln/>
        </p:spPr>
        <p:txBody>
          <a:bodyPr wrap="square" lIns="0" tIns="0" rIns="0" bIns="0" rtlCol="0" anchor="t"/>
          <a:lstStyle/>
          <a:p>
            <a:pPr indent="0" marL="0">
              <a:buNone/>
            </a:pPr>
            <a:r>
              <a:rPr lang="en-US" sz="1500" b="1" dirty="0">
                <a:solidFill>
                  <a:schemeClr val="tx1"/>
                </a:solidFill>
              </a:rPr>
              <a:t>Reserve</a:t>
            </a:r>
            <a:endParaRPr lang="en-US" sz="1500" dirty="0"/>
          </a:p>
        </p:txBody>
      </p:sp>
      <p:sp>
        <p:nvSpPr>
          <p:cNvPr id="22" name="Text 20"/>
          <p:cNvSpPr txBox="1"/>
          <p:nvPr/>
        </p:nvSpPr>
        <p:spPr>
          <a:xfrm>
            <a:off x="1097280" y="3611880"/>
            <a:ext cx="4480560" cy="274320"/>
          </a:xfrm>
          <a:prstGeom prst="rect">
            <a:avLst/>
          </a:prstGeom>
          <a:noFill/>
          <a:ln/>
        </p:spPr>
        <p:txBody>
          <a:bodyPr wrap="square" lIns="0" tIns="0" rIns="0" bIns="0" rtlCol="0" anchor="t"/>
          <a:lstStyle/>
          <a:p>
            <a:pPr indent="0" marL="0">
              <a:buNone/>
            </a:pPr>
            <a:r>
              <a:rPr lang="en-US" sz="1300" dirty="0">
                <a:solidFill>
                  <a:schemeClr val="tx2"/>
                </a:solidFill>
              </a:rPr>
              <a:t>Idempotency-Key: emag-500123</a:t>
            </a:r>
            <a:endParaRPr lang="en-US" sz="1300" dirty="0"/>
          </a:p>
        </p:txBody>
      </p:sp>
      <p:sp>
        <p:nvSpPr>
          <p:cNvPr id="23" name="Shape 21"/>
          <p:cNvSpPr/>
          <p:nvPr/>
        </p:nvSpPr>
        <p:spPr>
          <a:xfrm>
            <a:off x="731520" y="3767328"/>
            <a:ext cx="0" cy="219456"/>
          </a:xfrm>
          <a:prstGeom prst="line">
            <a:avLst/>
          </a:prstGeom>
          <a:noFill/>
          <a:ln w="12700">
            <a:solidFill>
              <a:srgbClr val="8A93A1"/>
            </a:solidFill>
            <a:prstDash val="solid"/>
          </a:ln>
        </p:spPr>
      </p:sp>
      <p:sp>
        <p:nvSpPr>
          <p:cNvPr id="24" name="step 5"/>
          <p:cNvSpPr/>
          <p:nvPr/>
        </p:nvSpPr>
        <p:spPr>
          <a:xfrm>
            <a:off x="548640" y="4005072"/>
            <a:ext cx="365760" cy="365760"/>
          </a:xfrm>
          <a:prstGeom prst="ellipse">
            <a:avLst/>
          </a:prstGeom>
          <a:solidFill>
            <a:schemeClr val="accent3"/>
          </a:solidFill>
          <a:ln/>
        </p:spPr>
      </p:sp>
      <p:sp>
        <p:nvSpPr>
          <p:cNvPr id="25" name="Text 23"/>
          <p:cNvSpPr txBox="1"/>
          <p:nvPr/>
        </p:nvSpPr>
        <p:spPr>
          <a:xfrm>
            <a:off x="548640" y="400507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6" name="Text 24"/>
          <p:cNvSpPr txBox="1"/>
          <p:nvPr/>
        </p:nvSpPr>
        <p:spPr>
          <a:xfrm>
            <a:off x="1097280" y="3968496"/>
            <a:ext cx="4480560" cy="256032"/>
          </a:xfrm>
          <a:prstGeom prst="rect">
            <a:avLst/>
          </a:prstGeom>
          <a:noFill/>
          <a:ln/>
        </p:spPr>
        <p:txBody>
          <a:bodyPr wrap="square" lIns="0" tIns="0" rIns="0" bIns="0" rtlCol="0" anchor="t"/>
          <a:lstStyle/>
          <a:p>
            <a:pPr indent="0" marL="0">
              <a:buNone/>
            </a:pPr>
            <a:r>
              <a:rPr lang="en-US" sz="1500" b="1" dirty="0">
                <a:solidFill>
                  <a:schemeClr val="tx1"/>
                </a:solidFill>
              </a:rPr>
              <a:t>Acknowledge</a:t>
            </a:r>
            <a:endParaRPr lang="en-US" sz="1500" dirty="0"/>
          </a:p>
        </p:txBody>
      </p:sp>
      <p:sp>
        <p:nvSpPr>
          <p:cNvPr id="27" name="Text 25"/>
          <p:cNvSpPr txBox="1"/>
          <p:nvPr/>
        </p:nvSpPr>
        <p:spPr>
          <a:xfrm>
            <a:off x="1097280" y="4233672"/>
            <a:ext cx="4480560" cy="274320"/>
          </a:xfrm>
          <a:prstGeom prst="rect">
            <a:avLst/>
          </a:prstGeom>
          <a:noFill/>
          <a:ln/>
        </p:spPr>
        <p:txBody>
          <a:bodyPr wrap="square" lIns="0" tIns="0" rIns="0" bIns="0" rtlCol="0" anchor="t"/>
          <a:lstStyle/>
          <a:p>
            <a:pPr indent="0" marL="0">
              <a:buNone/>
            </a:pPr>
            <a:r>
              <a:rPr lang="en-US" sz="1300" dirty="0">
                <a:solidFill>
                  <a:schemeClr val="tx2"/>
                </a:solidFill>
              </a:rPr>
              <a:t>eMAG moves it to in progress and stops re-sending</a:t>
            </a:r>
            <a:endParaRPr lang="en-US" sz="1300" dirty="0"/>
          </a:p>
        </p:txBody>
      </p:sp>
      <p:sp>
        <p:nvSpPr>
          <p:cNvPr id="28" name="renotify"/>
          <p:cNvSpPr/>
          <p:nvPr/>
        </p:nvSpPr>
        <p:spPr>
          <a:xfrm>
            <a:off x="548640" y="4709160"/>
            <a:ext cx="5120640" cy="1280160"/>
          </a:xfrm>
          <a:prstGeom prst="roundRect">
            <a:avLst>
              <a:gd name="adj" fmla="val 5714"/>
            </a:avLst>
          </a:prstGeom>
          <a:solidFill>
            <a:srgbClr val="F3E8F7"/>
          </a:solidFill>
          <a:ln w="9525">
            <a:solidFill>
              <a:srgbClr val="DCC3E6"/>
            </a:solidFill>
            <a:prstDash val="solid"/>
          </a:ln>
        </p:spPr>
      </p:sp>
      <p:sp>
        <p:nvSpPr>
          <p:cNvPr id="29" name="Text 27"/>
          <p:cNvSpPr txBox="1"/>
          <p:nvPr/>
        </p:nvSpPr>
        <p:spPr>
          <a:xfrm>
            <a:off x="749808" y="4818888"/>
            <a:ext cx="4754880" cy="457200"/>
          </a:xfrm>
          <a:prstGeom prst="rect">
            <a:avLst/>
          </a:prstGeom>
          <a:noFill/>
          <a:ln/>
        </p:spPr>
        <p:txBody>
          <a:bodyPr wrap="square" lIns="0" tIns="0" rIns="0" bIns="0" rtlCol="0" anchor="t"/>
          <a:lstStyle/>
          <a:p>
            <a:pPr indent="0" marL="0">
              <a:buNone/>
            </a:pPr>
            <a:r>
              <a:rPr lang="en-US" sz="1400" b="1" dirty="0">
                <a:solidFill>
                  <a:srgbClr val="5B2569"/>
                </a:solidFill>
              </a:rPr>
              <a:t>eMAG re-sends the notification every 20 s until it is acknowledged.</a:t>
            </a:r>
            <a:endParaRPr lang="en-US" sz="1400" dirty="0"/>
          </a:p>
        </p:txBody>
      </p:sp>
      <p:sp>
        <p:nvSpPr>
          <p:cNvPr id="30" name="Text 28"/>
          <p:cNvSpPr txBox="1"/>
          <p:nvPr/>
        </p:nvSpPr>
        <p:spPr>
          <a:xfrm>
            <a:off x="749808" y="5285232"/>
            <a:ext cx="4754880" cy="685800"/>
          </a:xfrm>
          <a:prstGeom prst="rect">
            <a:avLst/>
          </a:prstGeom>
          <a:noFill/>
          <a:ln/>
        </p:spPr>
        <p:txBody>
          <a:bodyPr wrap="square" lIns="0" tIns="0" rIns="0" bIns="0" rtlCol="0" anchor="t"/>
          <a:lstStyle/>
          <a:p>
            <a:pPr indent="0" marL="0">
              <a:buNone/>
            </a:pPr>
            <a:r>
              <a:rPr lang="en-US" sz="1300" dirty="0">
                <a:solidFill>
                  <a:srgbClr val="3D4552"/>
                </a:solidFill>
              </a:rPr>
              <a:t>If anything fails before step 5, the next notification heals it. The order id stops a second reservation, and Glue closes the review item the failure opened.</a:t>
            </a:r>
            <a:endParaRPr lang="en-US" sz="1300" dirty="0"/>
          </a:p>
        </p:txBody>
      </p:sp>
      <p:pic>
        <p:nvPicPr>
          <p:cNvPr id="31" name="Image 0" descr="The eMAG mock's API activity log, newest first: a callback to Glue for a new order, then order/read, product_offer/save batches and order/acknowledge for the same order">    </p:cNvPr>
          <p:cNvPicPr>
            <a:picLocks noChangeAspect="1"/>
          </p:cNvPicPr>
          <p:nvPr/>
        </p:nvPicPr>
        <p:blipFill>
          <a:blip r:embed="rId1"/>
          <a:stretch>
            <a:fillRect/>
          </a:stretch>
        </p:blipFill>
        <p:spPr>
          <a:xfrm>
            <a:off x="6522415" y="1481328"/>
            <a:ext cx="5120640" cy="3927916"/>
          </a:xfrm>
          <a:prstGeom prst="rect">
            <a:avLst/>
          </a:prstGeom>
        </p:spPr>
      </p:pic>
      <p:sp>
        <p:nvSpPr>
          <p:cNvPr id="32" name="frame"/>
          <p:cNvSpPr/>
          <p:nvPr/>
        </p:nvSpPr>
        <p:spPr>
          <a:xfrm>
            <a:off x="6522415" y="1481328"/>
            <a:ext cx="5120640" cy="3927916"/>
          </a:xfrm>
          <a:prstGeom prst="rect">
            <a:avLst/>
          </a:prstGeom>
          <a:noFill/>
          <a:ln w="9525">
            <a:solidFill>
              <a:srgbClr val="E3E6EB"/>
            </a:solidFill>
            <a:prstDash val="solid"/>
          </a:ln>
        </p:spPr>
      </p:sp>
      <p:sp>
        <p:nvSpPr>
          <p:cNvPr id="33" name="Text 30"/>
          <p:cNvSpPr txBox="1"/>
          <p:nvPr/>
        </p:nvSpPr>
        <p:spPr>
          <a:xfrm>
            <a:off x="6522415" y="5482396"/>
            <a:ext cx="5120640" cy="411480"/>
          </a:xfrm>
          <a:prstGeom prst="rect">
            <a:avLst/>
          </a:prstGeom>
          <a:noFill/>
          <a:ln/>
        </p:spPr>
        <p:txBody>
          <a:bodyPr wrap="square" lIns="0" tIns="0" rIns="0" bIns="0" rtlCol="0" anchor="t"/>
          <a:lstStyle/>
          <a:p>
            <a:pPr indent="0" marL="0">
              <a:buNone/>
            </a:pPr>
            <a:r>
              <a:rPr lang="en-US" sz="1100" dirty="0">
                <a:solidFill>
                  <a:schemeClr val="tx2"/>
                </a:solidFill>
              </a:rPr>
              <a:t>The marketplace mock's API log, newest first: callback to Glue, then order/read, a stock batch and order/acknowledge for the same order.</a:t>
            </a:r>
            <a:endParaRPr lang="en-US" sz="11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HOW IT WORKS</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Stock: pull the truth, push it everywhere</a:t>
            </a:r>
            <a:endParaRPr lang="en-US" sz="3200" dirty="0"/>
          </a:p>
        </p:txBody>
      </p:sp>
      <p:sp>
        <p:nvSpPr>
          <p:cNvPr id="4" name="Text 2"/>
          <p:cNvSpPr txBox="1"/>
          <p:nvPr/>
        </p:nvSpPr>
        <p:spPr>
          <a:xfrm>
            <a:off x="548640" y="1481328"/>
            <a:ext cx="5029200" cy="274320"/>
          </a:xfrm>
          <a:prstGeom prst="rect">
            <a:avLst/>
          </a:prstGeom>
          <a:noFill/>
          <a:ln/>
        </p:spPr>
        <p:txBody>
          <a:bodyPr wrap="square" lIns="0" tIns="0" rIns="0" bIns="0" rtlCol="0" anchor="t"/>
          <a:lstStyle/>
          <a:p>
            <a:pPr indent="0" marL="0">
              <a:buNone/>
            </a:pPr>
            <a:r>
              <a:rPr lang="en-US" sz="1600" b="1" dirty="0">
                <a:solidFill>
                  <a:schemeClr val="tx1"/>
                </a:solidFill>
              </a:rPr>
              <a:t>When it runs</a:t>
            </a:r>
            <a:endParaRPr lang="en-US" sz="1600" dirty="0"/>
          </a:p>
        </p:txBody>
      </p:sp>
      <p:sp>
        <p:nvSpPr>
          <p:cNvPr id="5" name="tag at startup"/>
          <p:cNvSpPr/>
          <p:nvPr/>
        </p:nvSpPr>
        <p:spPr>
          <a:xfrm>
            <a:off x="548640" y="1874520"/>
            <a:ext cx="1086307" cy="290779"/>
          </a:xfrm>
          <a:prstGeom prst="roundRect">
            <a:avLst>
              <a:gd name="adj" fmla="val 12579"/>
            </a:avLst>
          </a:prstGeom>
          <a:solidFill>
            <a:srgbClr val="F1F3F6"/>
          </a:solidFill>
          <a:ln/>
        </p:spPr>
      </p:sp>
      <p:sp>
        <p:nvSpPr>
          <p:cNvPr id="6" name="Text 4"/>
          <p:cNvSpPr txBox="1"/>
          <p:nvPr/>
        </p:nvSpPr>
        <p:spPr>
          <a:xfrm>
            <a:off x="548640" y="1874520"/>
            <a:ext cx="1086307" cy="290779"/>
          </a:xfrm>
          <a:prstGeom prst="rect">
            <a:avLst/>
          </a:prstGeom>
          <a:noFill/>
          <a:ln/>
        </p:spPr>
        <p:txBody>
          <a:bodyPr wrap="square" lIns="0" tIns="0" rIns="0" bIns="0" rtlCol="0" anchor="ctr"/>
          <a:lstStyle/>
          <a:p>
            <a:pPr algn="ctr" indent="0" marL="0">
              <a:buNone/>
            </a:pPr>
            <a:r>
              <a:rPr lang="en-US" sz="1200" b="1" dirty="0">
                <a:solidFill>
                  <a:srgbClr val="5B6472"/>
                </a:solidFill>
              </a:rPr>
              <a:t>at startup</a:t>
            </a:r>
            <a:endParaRPr lang="en-US" sz="1200" dirty="0"/>
          </a:p>
        </p:txBody>
      </p:sp>
      <p:sp>
        <p:nvSpPr>
          <p:cNvPr id="7" name="tag every 10 s"/>
          <p:cNvSpPr/>
          <p:nvPr/>
        </p:nvSpPr>
        <p:spPr>
          <a:xfrm>
            <a:off x="1744675" y="1874520"/>
            <a:ext cx="1086307" cy="290779"/>
          </a:xfrm>
          <a:prstGeom prst="roundRect">
            <a:avLst>
              <a:gd name="adj" fmla="val 12579"/>
            </a:avLst>
          </a:prstGeom>
          <a:solidFill>
            <a:srgbClr val="F1F3F6"/>
          </a:solidFill>
          <a:ln/>
        </p:spPr>
      </p:sp>
      <p:sp>
        <p:nvSpPr>
          <p:cNvPr id="8" name="Text 6"/>
          <p:cNvSpPr txBox="1"/>
          <p:nvPr/>
        </p:nvSpPr>
        <p:spPr>
          <a:xfrm>
            <a:off x="1744675" y="1874520"/>
            <a:ext cx="1086307" cy="290779"/>
          </a:xfrm>
          <a:prstGeom prst="rect">
            <a:avLst/>
          </a:prstGeom>
          <a:noFill/>
          <a:ln/>
        </p:spPr>
        <p:txBody>
          <a:bodyPr wrap="square" lIns="0" tIns="0" rIns="0" bIns="0" rtlCol="0" anchor="ctr"/>
          <a:lstStyle/>
          <a:p>
            <a:pPr algn="ctr" indent="0" marL="0">
              <a:buNone/>
            </a:pPr>
            <a:r>
              <a:rPr lang="en-US" sz="1200" b="1" dirty="0">
                <a:solidFill>
                  <a:srgbClr val="5B6472"/>
                </a:solidFill>
              </a:rPr>
              <a:t>every 10 s</a:t>
            </a:r>
            <a:endParaRPr lang="en-US" sz="1200" dirty="0"/>
          </a:p>
        </p:txBody>
      </p:sp>
      <p:sp>
        <p:nvSpPr>
          <p:cNvPr id="9" name="tag on a warehouse recount"/>
          <p:cNvSpPr/>
          <p:nvPr/>
        </p:nvSpPr>
        <p:spPr>
          <a:xfrm>
            <a:off x="2940710" y="1874520"/>
            <a:ext cx="2126529" cy="290779"/>
          </a:xfrm>
          <a:prstGeom prst="roundRect">
            <a:avLst>
              <a:gd name="adj" fmla="val 12579"/>
            </a:avLst>
          </a:prstGeom>
          <a:solidFill>
            <a:srgbClr val="F1F3F6"/>
          </a:solidFill>
          <a:ln/>
        </p:spPr>
      </p:sp>
      <p:sp>
        <p:nvSpPr>
          <p:cNvPr id="10" name="Text 8"/>
          <p:cNvSpPr txBox="1"/>
          <p:nvPr/>
        </p:nvSpPr>
        <p:spPr>
          <a:xfrm>
            <a:off x="2940710" y="1874520"/>
            <a:ext cx="2126529" cy="290779"/>
          </a:xfrm>
          <a:prstGeom prst="rect">
            <a:avLst/>
          </a:prstGeom>
          <a:noFill/>
          <a:ln/>
        </p:spPr>
        <p:txBody>
          <a:bodyPr wrap="square" lIns="0" tIns="0" rIns="0" bIns="0" rtlCol="0" anchor="ctr"/>
          <a:lstStyle/>
          <a:p>
            <a:pPr algn="ctr" indent="0" marL="0">
              <a:buNone/>
            </a:pPr>
            <a:r>
              <a:rPr lang="en-US" sz="1200" b="1" dirty="0">
                <a:solidFill>
                  <a:srgbClr val="5B6472"/>
                </a:solidFill>
              </a:rPr>
              <a:t>on a warehouse recount</a:t>
            </a:r>
            <a:endParaRPr lang="en-US" sz="1200" dirty="0"/>
          </a:p>
        </p:txBody>
      </p:sp>
      <p:sp>
        <p:nvSpPr>
          <p:cNvPr id="11" name="tag after every reservation or cancel"/>
          <p:cNvSpPr/>
          <p:nvPr/>
        </p:nvSpPr>
        <p:spPr>
          <a:xfrm>
            <a:off x="548640" y="2258568"/>
            <a:ext cx="3080065" cy="290779"/>
          </a:xfrm>
          <a:prstGeom prst="roundRect">
            <a:avLst>
              <a:gd name="adj" fmla="val 12579"/>
            </a:avLst>
          </a:prstGeom>
          <a:solidFill>
            <a:srgbClr val="F1F3F6"/>
          </a:solidFill>
          <a:ln/>
        </p:spPr>
      </p:sp>
      <p:sp>
        <p:nvSpPr>
          <p:cNvPr id="12" name="Text 10"/>
          <p:cNvSpPr txBox="1"/>
          <p:nvPr/>
        </p:nvSpPr>
        <p:spPr>
          <a:xfrm>
            <a:off x="548640" y="2258568"/>
            <a:ext cx="3080065" cy="290779"/>
          </a:xfrm>
          <a:prstGeom prst="rect">
            <a:avLst/>
          </a:prstGeom>
          <a:noFill/>
          <a:ln/>
        </p:spPr>
        <p:txBody>
          <a:bodyPr wrap="square" lIns="0" tIns="0" rIns="0" bIns="0" rtlCol="0" anchor="ctr"/>
          <a:lstStyle/>
          <a:p>
            <a:pPr algn="ctr" indent="0" marL="0">
              <a:buNone/>
            </a:pPr>
            <a:r>
              <a:rPr lang="en-US" sz="1200" b="1" dirty="0">
                <a:solidFill>
                  <a:srgbClr val="5B6472"/>
                </a:solidFill>
              </a:rPr>
              <a:t>after every reservation or cancel</a:t>
            </a:r>
            <a:endParaRPr lang="en-US" sz="1200" dirty="0"/>
          </a:p>
        </p:txBody>
      </p:sp>
      <p:sp>
        <p:nvSpPr>
          <p:cNvPr id="13" name="Text 11"/>
          <p:cNvSpPr txBox="1"/>
          <p:nvPr/>
        </p:nvSpPr>
        <p:spPr>
          <a:xfrm>
            <a:off x="548640" y="2788920"/>
            <a:ext cx="5029200" cy="274320"/>
          </a:xfrm>
          <a:prstGeom prst="rect">
            <a:avLst/>
          </a:prstGeom>
          <a:noFill/>
          <a:ln/>
        </p:spPr>
        <p:txBody>
          <a:bodyPr wrap="square" lIns="0" tIns="0" rIns="0" bIns="0" rtlCol="0" anchor="t"/>
          <a:lstStyle/>
          <a:p>
            <a:pPr indent="0" marL="0">
              <a:buNone/>
            </a:pPr>
            <a:r>
              <a:rPr lang="en-US" sz="1600" b="1" dirty="0">
                <a:solidFill>
                  <a:schemeClr val="tx1"/>
                </a:solidFill>
              </a:rPr>
              <a:t>What it pushes</a:t>
            </a:r>
            <a:endParaRPr lang="en-US" sz="1600" dirty="0"/>
          </a:p>
        </p:txBody>
      </p:sp>
      <p:sp>
        <p:nvSpPr>
          <p:cNvPr id="14" name="formula"/>
          <p:cNvSpPr/>
          <p:nvPr/>
        </p:nvSpPr>
        <p:spPr>
          <a:xfrm>
            <a:off x="548640" y="3154680"/>
            <a:ext cx="5029200" cy="502920"/>
          </a:xfrm>
          <a:prstGeom prst="roundRect">
            <a:avLst>
              <a:gd name="adj" fmla="val 14545"/>
            </a:avLst>
          </a:prstGeom>
          <a:solidFill>
            <a:srgbClr val="F1F3F6"/>
          </a:solidFill>
          <a:ln/>
        </p:spPr>
      </p:sp>
      <p:sp>
        <p:nvSpPr>
          <p:cNvPr id="15" name="Text 13"/>
          <p:cNvSpPr txBox="1"/>
          <p:nvPr/>
        </p:nvSpPr>
        <p:spPr>
          <a:xfrm>
            <a:off x="713232" y="3154680"/>
            <a:ext cx="4754880" cy="502920"/>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max(0, on_hand - reserved) - held back by a rule</a:t>
            </a:r>
            <a:endParaRPr lang="en-US" sz="1300" dirty="0"/>
          </a:p>
        </p:txBody>
      </p:sp>
      <p:sp>
        <p:nvSpPr>
          <p:cNvPr id="16" name="Text 14"/>
          <p:cNvSpPr txBox="1"/>
          <p:nvPr/>
        </p:nvSpPr>
        <p:spPr>
          <a:xfrm>
            <a:off x="548640" y="3886200"/>
            <a:ext cx="5029200" cy="210312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3D4552"/>
                </a:solidFill>
              </a:rPr>
              <a:t>Every product, every run, </a:t>
            </a:r>
            <a:r>
              <a:rPr lang="en-US" sz="1400" dirty="0">
                <a:solidFill>
                  <a:srgbClr val="3D4552"/>
                </a:solidFill>
              </a:rPr>
              <a:t>even when nothing seems to have changed. A restarted channel or a lost update is fixed on the next run.</a:t>
            </a:r>
            <a:endParaRPr lang="en-US" sz="1400" dirty="0"/>
          </a:p>
          <a:p>
            <a:pPr marL="177800" indent="-177800">
              <a:spcAft>
                <a:spcPts val="800"/>
              </a:spcAft>
              <a:buSzPct val="100000"/>
              <a:buChar char="•"/>
            </a:pPr>
            <a:r>
              <a:rPr lang="en-US" sz="1400" b="1" dirty="0">
                <a:solidFill>
                  <a:srgbClr val="3D4552"/>
                </a:solidFill>
              </a:rPr>
              <a:t>Events make it fast; the pull makes it correct.</a:t>
            </a:r>
            <a:endParaRPr lang="en-US" sz="1400" dirty="0"/>
          </a:p>
          <a:p>
            <a:pPr marL="177800" indent="-177800">
              <a:spcAft>
                <a:spcPts val="800"/>
              </a:spcAft>
              <a:buSzPct val="100000"/>
              <a:buChar char="•"/>
            </a:pPr>
            <a:r>
              <a:rPr lang="en-US" sz="1400" b="1" dirty="0">
                <a:solidFill>
                  <a:srgbClr val="3D4552"/>
                </a:solidFill>
              </a:rPr>
              <a:t>A recount below reserved </a:t>
            </a:r>
            <a:r>
              <a:rPr lang="en-US" sz="1400" dirty="0">
                <a:solidFill>
                  <a:srgbClr val="3D4552"/>
                </a:solidFill>
              </a:rPr>
              <a:t>caps both channels at 0 and sends only the newest orders the shelf cannot cover to review.</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89320" y="1481328"/>
          <a:ext cx="5650992" cy="914400"/>
        </p:xfrm>
        <a:graphic>
          <a:graphicData uri="http://schemas.openxmlformats.org/drawingml/2006/table">
            <a:tbl>
              <a:tblPr/>
              <a:tblGrid>
                <a:gridCol w="1783080"/>
                <a:gridCol w="548640"/>
                <a:gridCol w="777240"/>
                <a:gridCol w="804672"/>
                <a:gridCol w="1737360"/>
              </a:tblGrid>
              <a:tr h="329184">
                <a:tc>
                  <a:txBody>
                    <a:bodyPr/>
                    <a:lstStyle/>
                    <a:p>
                      <a:pPr indent="0" marL="0">
                        <a:buNone/>
                      </a:pPr>
                      <a:r>
                        <a:rPr lang="en-US" sz="1100" b="1" dirty="0">
                          <a:solidFill>
                            <a:srgbClr val="5B6472"/>
                          </a:solidFill>
                        </a:rPr>
                        <a:t>Product</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algn="r" indent="0" marL="0">
                        <a:buNone/>
                      </a:pPr>
                      <a:r>
                        <a:rPr lang="en-US" sz="1100" b="1" dirty="0">
                          <a:solidFill>
                            <a:srgbClr val="5B6472"/>
                          </a:solidFill>
                        </a:rPr>
                        <a:t>Free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algn="r" indent="0" marL="0">
                        <a:buNone/>
                      </a:pPr>
                      <a:r>
                        <a:rPr lang="en-US" sz="1100" b="1" dirty="0">
                          <a:solidFill>
                            <a:srgbClr val="5B6472"/>
                          </a:solidFill>
                        </a:rPr>
                        <a:t>To shop</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algn="r" indent="0" marL="0">
                        <a:buNone/>
                      </a:pPr>
                      <a:r>
                        <a:rPr lang="en-US" sz="1100" b="1" dirty="0">
                          <a:solidFill>
                            <a:srgbClr val="5B6472"/>
                          </a:solidFill>
                        </a:rPr>
                        <a:t>To eMAG</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1100" b="1" dirty="0">
                          <a:solidFill>
                            <a:srgbClr val="5B6472"/>
                          </a:solidFill>
                        </a:rPr>
                        <a:t>State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r>
              <a:tr h="329184">
                <a:tc>
                  <a:txBody>
                    <a:bodyPr/>
                    <a:lstStyle/>
                    <a:p>
                      <a:pPr indent="0" marL="0">
                        <a:buNone/>
                      </a:pPr>
                      <a:r>
                        <a:rPr lang="en-US" sz="1300" dirty="0">
                          <a:solidFill>
                            <a:schemeClr val="tx1"/>
                          </a:solidFill>
                        </a:rPr>
                        <a:t>AirPods Pro 3</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b="1" dirty="0">
                          <a:solidFill>
                            <a:schemeClr val="tx1"/>
                          </a:solidFill>
                        </a:rPr>
                        <a:t>37</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dirty="0">
                          <a:solidFill>
                            <a:schemeClr val="tx1"/>
                          </a:solidFill>
                        </a:rPr>
                        <a:t>37</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dirty="0">
                          <a:solidFill>
                            <a:schemeClr val="tx1"/>
                          </a:solidFill>
                        </a:rPr>
                        <a:t>37</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329184">
                <a:tc>
                  <a:txBody>
                    <a:bodyPr/>
                    <a:lstStyle/>
                    <a:p>
                      <a:pPr indent="0" marL="0">
                        <a:buNone/>
                      </a:pPr>
                      <a:r>
                        <a:rPr lang="en-US" sz="1300" dirty="0">
                          <a:solidFill>
                            <a:schemeClr val="tx1"/>
                          </a:solidFill>
                        </a:rPr>
                        <a:t>iPad A16</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b="1" dirty="0">
                          <a:solidFill>
                            <a:schemeClr val="tx1"/>
                          </a:solidFill>
                        </a:rPr>
                        <a:t>14</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dirty="0">
                          <a:solidFill>
                            <a:schemeClr val="tx1"/>
                          </a:solidFill>
                        </a:rPr>
                        <a:t>14</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dirty="0">
                          <a:solidFill>
                            <a:schemeClr val="tx1"/>
                          </a:solidFill>
                        </a:rPr>
                        <a:t>14</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329184">
                <a:tc>
                  <a:txBody>
                    <a:bodyPr/>
                    <a:lstStyle/>
                    <a:p>
                      <a:pPr indent="0" marL="0">
                        <a:buNone/>
                      </a:pPr>
                      <a:r>
                        <a:rPr lang="en-US" sz="1300" dirty="0">
                          <a:solidFill>
                            <a:schemeClr val="tx1"/>
                          </a:solidFill>
                        </a:rPr>
                        <a:t>iPhone 16 · 128GB</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b="1" dirty="0">
                          <a:solidFill>
                            <a:schemeClr val="tx1"/>
                          </a:solidFill>
                        </a:rPr>
                        <a:t>24</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dirty="0">
                          <a:solidFill>
                            <a:schemeClr val="tx1"/>
                          </a:solidFill>
                        </a:rPr>
                        <a:t>24</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dirty="0">
                          <a:solidFill>
                            <a:schemeClr val="tx1"/>
                          </a:solidFill>
                        </a:rPr>
                        <a:t>24</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329184">
                <a:tc>
                  <a:txBody>
                    <a:bodyPr/>
                    <a:lstStyle/>
                    <a:p>
                      <a:pPr indent="0" marL="0">
                        <a:buNone/>
                      </a:pPr>
                      <a:r>
                        <a:rPr lang="en-US" sz="1300" dirty="0">
                          <a:solidFill>
                            <a:schemeClr val="tx1"/>
                          </a:solidFill>
                        </a:rPr>
                        <a:t>iPhone 16 · 256GB</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b="1" dirty="0">
                          <a:solidFill>
                            <a:schemeClr val="tx1"/>
                          </a:solidFill>
                        </a:rPr>
                        <a:t>9</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dirty="0">
                          <a:solidFill>
                            <a:schemeClr val="tx1"/>
                          </a:solidFill>
                        </a:rPr>
                        <a:t>9</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dirty="0">
                          <a:solidFill>
                            <a:schemeClr val="tx1"/>
                          </a:solidFill>
                        </a:rPr>
                        <a:t>9</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329184">
                <a:tc>
                  <a:txBody>
                    <a:bodyPr/>
                    <a:lstStyle/>
                    <a:p>
                      <a:pPr indent="0" marL="0">
                        <a:buNone/>
                      </a:pPr>
                      <a:r>
                        <a:rPr lang="en-US" sz="1300" dirty="0">
                          <a:solidFill>
                            <a:schemeClr val="tx1"/>
                          </a:solidFill>
                        </a:rPr>
                        <a:t>MacBook Air M4</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FFAF0"/>
                    </a:solidFill>
                  </a:tcPr>
                </a:tc>
                <a:tc>
                  <a:txBody>
                    <a:bodyPr/>
                    <a:lstStyle/>
                    <a:p>
                      <a:pPr algn="r" indent="0" marL="0">
                        <a:buNone/>
                      </a:pPr>
                      <a:r>
                        <a:rPr lang="en-US" sz="1300" b="1" dirty="0">
                          <a:solidFill>
                            <a:schemeClr val="tx1"/>
                          </a:solidFill>
                        </a:rPr>
                        <a:t>20</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FFAF0"/>
                    </a:solidFill>
                  </a:tcPr>
                </a:tc>
                <a:tc>
                  <a:txBody>
                    <a:bodyPr/>
                    <a:lstStyle/>
                    <a:p>
                      <a:pPr algn="r" indent="0" marL="0">
                        <a:buNone/>
                      </a:pPr>
                      <a:r>
                        <a:rPr lang="en-US" sz="1300" dirty="0">
                          <a:solidFill>
                            <a:schemeClr val="tx1"/>
                          </a:solidFill>
                        </a:rPr>
                        <a:t>20</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FFAF0"/>
                    </a:solidFill>
                  </a:tcPr>
                </a:tc>
                <a:tc>
                  <a:txBody>
                    <a:bodyPr/>
                    <a:lstStyle/>
                    <a:p>
                      <a:pPr algn="r" indent="0" marL="0">
                        <a:buNone/>
                      </a:pPr>
                      <a:r>
                        <a:rPr lang="en-US" sz="1300" b="1" dirty="0">
                          <a:solidFill>
                            <a:srgbClr val="8A5300"/>
                          </a:solidFill>
                        </a:rPr>
                        <a:t>20</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FFAF0"/>
                    </a:solidFill>
                  </a:tcPr>
                </a:tc>
                <a:tc>
                  <a:txBody>
                    <a:bodyPr/>
                    <a:lstStyle/>
                    <a:p>
                      <a:pPr indent="0" marL="0">
                        <a:buNone/>
                      </a:pPr>
                      <a:r>
                        <a:rPr lang="en-US" sz="1300" dirty="0">
                          <a:solidFill>
                            <a:srgbClr val="8A5300"/>
                          </a:solidFill>
                        </a:rPr>
                        <a:t>eMAG refused</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FFAF0"/>
                    </a:solidFill>
                  </a:tcPr>
                </a:tc>
              </a:tr>
              <a:tr h="329184">
                <a:tc>
                  <a:txBody>
                    <a:bodyPr/>
                    <a:lstStyle/>
                    <a:p>
                      <a:pPr indent="0" marL="0">
                        <a:buNone/>
                      </a:pPr>
                      <a:r>
                        <a:rPr lang="en-US" sz="1300" dirty="0">
                          <a:solidFill>
                            <a:schemeClr val="tx1"/>
                          </a:solidFill>
                        </a:rPr>
                        <a:t>Apple Watch S10</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b="1" dirty="0">
                          <a:solidFill>
                            <a:schemeClr val="tx1"/>
                          </a:solidFill>
                        </a:rPr>
                        <a:t>7</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dirty="0">
                          <a:solidFill>
                            <a:schemeClr val="tx1"/>
                          </a:solidFill>
                        </a:rPr>
                        <a:t>7</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algn="r" indent="0" marL="0">
                        <a:buNone/>
                      </a:pPr>
                      <a:r>
                        <a:rPr lang="en-US" sz="1300" dirty="0">
                          <a:solidFill>
                            <a:schemeClr val="tx1"/>
                          </a:solidFill>
                        </a:rPr>
                        <a:t>7</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bl>
          </a:graphicData>
        </a:graphic>
      </p:graphicFrame>
      <p:sp>
        <p:nvSpPr>
          <p:cNvPr id="18" name="Text 15"/>
          <p:cNvSpPr txBox="1"/>
          <p:nvPr/>
        </p:nvSpPr>
        <p:spPr>
          <a:xfrm>
            <a:off x="5989320" y="3858768"/>
            <a:ext cx="5650992" cy="365760"/>
          </a:xfrm>
          <a:prstGeom prst="rect">
            <a:avLst/>
          </a:prstGeom>
          <a:noFill/>
          <a:ln/>
        </p:spPr>
        <p:txBody>
          <a:bodyPr wrap="square" lIns="0" tIns="0" rIns="0" bIns="0" rtlCol="0" anchor="t"/>
          <a:lstStyle/>
          <a:p>
            <a:pPr indent="0" marL="0">
              <a:buNone/>
            </a:pPr>
            <a:r>
              <a:rPr lang="en-US" sz="1100" dirty="0">
                <a:solidFill>
                  <a:schemeClr val="tx2"/>
                </a:solidFill>
              </a:rPr>
              <a:t>Free to sell against the last figure Glue sent each channel, from the Stock page in a dry run with eMAG refusing MacBook Air M4.</a:t>
            </a:r>
            <a:endParaRPr lang="en-US" sz="1100" dirty="0"/>
          </a:p>
        </p:txBody>
      </p:sp>
      <p:sp>
        <p:nvSpPr>
          <p:cNvPr id="19" name="Batch of 6"/>
          <p:cNvSpPr/>
          <p:nvPr/>
        </p:nvSpPr>
        <p:spPr>
          <a:xfrm>
            <a:off x="5989320" y="4471416"/>
            <a:ext cx="1298448" cy="896112"/>
          </a:xfrm>
          <a:prstGeom prst="roundRect">
            <a:avLst>
              <a:gd name="adj" fmla="val 8163"/>
            </a:avLst>
          </a:prstGeom>
          <a:solidFill>
            <a:schemeClr val="bg1"/>
          </a:solidFill>
          <a:ln w="9525">
            <a:solidFill>
              <a:srgbClr val="E3E6EB"/>
            </a:solidFill>
            <a:prstDash val="solid"/>
          </a:ln>
        </p:spPr>
      </p:sp>
      <p:sp>
        <p:nvSpPr>
          <p:cNvPr id="20" name="Text 17"/>
          <p:cNvSpPr txBox="1"/>
          <p:nvPr/>
        </p:nvSpPr>
        <p:spPr>
          <a:xfrm>
            <a:off x="6080760" y="4581144"/>
            <a:ext cx="1143000" cy="274320"/>
          </a:xfrm>
          <a:prstGeom prst="rect">
            <a:avLst/>
          </a:prstGeom>
          <a:noFill/>
          <a:ln/>
        </p:spPr>
        <p:txBody>
          <a:bodyPr wrap="square" lIns="0" tIns="0" rIns="0" bIns="0" rtlCol="0" anchor="t"/>
          <a:lstStyle/>
          <a:p>
            <a:pPr indent="0" marL="0">
              <a:buNone/>
            </a:pPr>
            <a:r>
              <a:rPr lang="en-US" sz="1300" b="1" dirty="0">
                <a:solidFill>
                  <a:schemeClr val="tx1"/>
                </a:solidFill>
              </a:rPr>
              <a:t>Batch of 6</a:t>
            </a:r>
            <a:endParaRPr lang="en-US" sz="1300" dirty="0"/>
          </a:p>
        </p:txBody>
      </p:sp>
      <p:sp>
        <p:nvSpPr>
          <p:cNvPr id="21" name="Text 18"/>
          <p:cNvSpPr txBox="1"/>
          <p:nvPr/>
        </p:nvSpPr>
        <p:spPr>
          <a:xfrm>
            <a:off x="6080760" y="4882896"/>
            <a:ext cx="1143000" cy="438912"/>
          </a:xfrm>
          <a:prstGeom prst="rect">
            <a:avLst/>
          </a:prstGeom>
          <a:noFill/>
          <a:ln/>
        </p:spPr>
        <p:txBody>
          <a:bodyPr wrap="square" lIns="0" tIns="0" rIns="0" bIns="0" rtlCol="0" anchor="t"/>
          <a:lstStyle/>
          <a:p>
            <a:pPr indent="0" marL="0">
              <a:buNone/>
            </a:pPr>
            <a:r>
              <a:rPr lang="en-US" sz="1100" dirty="0">
                <a:solidFill>
                  <a:schemeClr val="tx2"/>
                </a:solidFill>
              </a:rPr>
              <a:t>product_offer/save</a:t>
            </a:r>
            <a:endParaRPr lang="en-US" sz="1100" dirty="0"/>
          </a:p>
        </p:txBody>
      </p:sp>
      <p:sp>
        <p:nvSpPr>
          <p:cNvPr id="22" name="Shape 19"/>
          <p:cNvSpPr/>
          <p:nvPr/>
        </p:nvSpPr>
        <p:spPr>
          <a:xfrm>
            <a:off x="7296912" y="4919472"/>
            <a:ext cx="137160" cy="0"/>
          </a:xfrm>
          <a:prstGeom prst="line">
            <a:avLst/>
          </a:prstGeom>
          <a:noFill/>
          <a:ln w="12700">
            <a:solidFill>
              <a:schemeClr val="tx1"/>
            </a:solidFill>
            <a:prstDash val="solid"/>
            <a:tailEnd type="triangle"/>
          </a:ln>
        </p:spPr>
      </p:sp>
      <p:sp>
        <p:nvSpPr>
          <p:cNvPr id="23" name="5 applied"/>
          <p:cNvSpPr/>
          <p:nvPr/>
        </p:nvSpPr>
        <p:spPr>
          <a:xfrm>
            <a:off x="7443216" y="4471416"/>
            <a:ext cx="1298448" cy="896112"/>
          </a:xfrm>
          <a:prstGeom prst="roundRect">
            <a:avLst>
              <a:gd name="adj" fmla="val 8163"/>
            </a:avLst>
          </a:prstGeom>
          <a:solidFill>
            <a:schemeClr val="bg1"/>
          </a:solidFill>
          <a:ln w="9525">
            <a:solidFill>
              <a:srgbClr val="E3E6EB"/>
            </a:solidFill>
            <a:prstDash val="solid"/>
          </a:ln>
        </p:spPr>
      </p:sp>
      <p:sp>
        <p:nvSpPr>
          <p:cNvPr id="24" name="Text 21"/>
          <p:cNvSpPr txBox="1"/>
          <p:nvPr/>
        </p:nvSpPr>
        <p:spPr>
          <a:xfrm>
            <a:off x="7534656" y="4581144"/>
            <a:ext cx="1143000" cy="274320"/>
          </a:xfrm>
          <a:prstGeom prst="rect">
            <a:avLst/>
          </a:prstGeom>
          <a:noFill/>
          <a:ln/>
        </p:spPr>
        <p:txBody>
          <a:bodyPr wrap="square" lIns="0" tIns="0" rIns="0" bIns="0" rtlCol="0" anchor="t"/>
          <a:lstStyle/>
          <a:p>
            <a:pPr indent="0" marL="0">
              <a:buNone/>
            </a:pPr>
            <a:r>
              <a:rPr lang="en-US" sz="1300" b="1" dirty="0">
                <a:solidFill>
                  <a:schemeClr val="tx1"/>
                </a:solidFill>
              </a:rPr>
              <a:t>5 applied</a:t>
            </a:r>
            <a:endParaRPr lang="en-US" sz="1300" dirty="0"/>
          </a:p>
        </p:txBody>
      </p:sp>
      <p:sp>
        <p:nvSpPr>
          <p:cNvPr id="25" name="Text 22"/>
          <p:cNvSpPr txBox="1"/>
          <p:nvPr/>
        </p:nvSpPr>
        <p:spPr>
          <a:xfrm>
            <a:off x="7534656" y="4882896"/>
            <a:ext cx="1143000" cy="438912"/>
          </a:xfrm>
          <a:prstGeom prst="rect">
            <a:avLst/>
          </a:prstGeom>
          <a:noFill/>
          <a:ln/>
        </p:spPr>
        <p:txBody>
          <a:bodyPr wrap="square" lIns="0" tIns="0" rIns="0" bIns="0" rtlCol="0" anchor="t"/>
          <a:lstStyle/>
          <a:p>
            <a:pPr indent="0" marL="0">
              <a:buNone/>
            </a:pPr>
            <a:r>
              <a:rPr lang="en-US" sz="1100" dirty="0">
                <a:solidFill>
                  <a:schemeClr val="tx2"/>
                </a:solidFill>
              </a:rPr>
              <a:t>MacBook refused</a:t>
            </a:r>
            <a:endParaRPr lang="en-US" sz="1100" dirty="0"/>
          </a:p>
        </p:txBody>
      </p:sp>
      <p:sp>
        <p:nvSpPr>
          <p:cNvPr id="26" name="Shape 23"/>
          <p:cNvSpPr/>
          <p:nvPr/>
        </p:nvSpPr>
        <p:spPr>
          <a:xfrm>
            <a:off x="8750808" y="4919472"/>
            <a:ext cx="137160" cy="0"/>
          </a:xfrm>
          <a:prstGeom prst="line">
            <a:avLst/>
          </a:prstGeom>
          <a:noFill/>
          <a:ln w="12700">
            <a:solidFill>
              <a:schemeClr val="tx1"/>
            </a:solidFill>
            <a:prstDash val="solid"/>
            <a:tailEnd type="triangle"/>
          </a:ln>
        </p:spPr>
      </p:sp>
      <p:sp>
        <p:nvSpPr>
          <p:cNvPr id="27" name="MacBook dirty"/>
          <p:cNvSpPr/>
          <p:nvPr/>
        </p:nvSpPr>
        <p:spPr>
          <a:xfrm>
            <a:off x="8897112" y="4471416"/>
            <a:ext cx="1298448" cy="896112"/>
          </a:xfrm>
          <a:prstGeom prst="roundRect">
            <a:avLst>
              <a:gd name="adj" fmla="val 8163"/>
            </a:avLst>
          </a:prstGeom>
          <a:solidFill>
            <a:srgbClr val="FFF3D6"/>
          </a:solidFill>
          <a:ln w="9525">
            <a:solidFill>
              <a:srgbClr val="F2D9A4"/>
            </a:solidFill>
            <a:prstDash val="solid"/>
          </a:ln>
        </p:spPr>
      </p:sp>
      <p:sp>
        <p:nvSpPr>
          <p:cNvPr id="28" name="Text 25"/>
          <p:cNvSpPr txBox="1"/>
          <p:nvPr/>
        </p:nvSpPr>
        <p:spPr>
          <a:xfrm>
            <a:off x="8988552" y="4581144"/>
            <a:ext cx="1143000" cy="274320"/>
          </a:xfrm>
          <a:prstGeom prst="rect">
            <a:avLst/>
          </a:prstGeom>
          <a:noFill/>
          <a:ln/>
        </p:spPr>
        <p:txBody>
          <a:bodyPr wrap="square" lIns="0" tIns="0" rIns="0" bIns="0" rtlCol="0" anchor="t"/>
          <a:lstStyle/>
          <a:p>
            <a:pPr indent="0" marL="0">
              <a:buNone/>
            </a:pPr>
            <a:r>
              <a:rPr lang="en-US" sz="1300" b="1" dirty="0">
                <a:solidFill>
                  <a:schemeClr val="tx1"/>
                </a:solidFill>
              </a:rPr>
              <a:t>MacBook dirty</a:t>
            </a:r>
            <a:endParaRPr lang="en-US" sz="1300" dirty="0"/>
          </a:p>
        </p:txBody>
      </p:sp>
      <p:sp>
        <p:nvSpPr>
          <p:cNvPr id="29" name="Text 26"/>
          <p:cNvSpPr txBox="1"/>
          <p:nvPr/>
        </p:nvSpPr>
        <p:spPr>
          <a:xfrm>
            <a:off x="8988552" y="4882896"/>
            <a:ext cx="1143000" cy="438912"/>
          </a:xfrm>
          <a:prstGeom prst="rect">
            <a:avLst/>
          </a:prstGeom>
          <a:noFill/>
          <a:ln/>
        </p:spPr>
        <p:txBody>
          <a:bodyPr wrap="square" lIns="0" tIns="0" rIns="0" bIns="0" rtlCol="0" anchor="t"/>
          <a:lstStyle/>
          <a:p>
            <a:pPr indent="0" marL="0">
              <a:buNone/>
            </a:pPr>
            <a:r>
              <a:rPr lang="en-US" sz="1100" dirty="0">
                <a:solidFill>
                  <a:schemeClr val="tx2"/>
                </a:solidFill>
              </a:rPr>
              <a:t>stock_push_failed</a:t>
            </a:r>
            <a:endParaRPr lang="en-US" sz="1100" dirty="0"/>
          </a:p>
        </p:txBody>
      </p:sp>
      <p:sp>
        <p:nvSpPr>
          <p:cNvPr id="30" name="Shape 27"/>
          <p:cNvSpPr/>
          <p:nvPr/>
        </p:nvSpPr>
        <p:spPr>
          <a:xfrm>
            <a:off x="10204704" y="4919472"/>
            <a:ext cx="137160" cy="0"/>
          </a:xfrm>
          <a:prstGeom prst="line">
            <a:avLst/>
          </a:prstGeom>
          <a:noFill/>
          <a:ln w="12700">
            <a:solidFill>
              <a:schemeClr val="tx1"/>
            </a:solidFill>
            <a:prstDash val="solid"/>
            <a:tailEnd type="triangle"/>
          </a:ln>
        </p:spPr>
      </p:sp>
      <p:sp>
        <p:nvSpPr>
          <p:cNvPr id="31" name="Next run"/>
          <p:cNvSpPr/>
          <p:nvPr/>
        </p:nvSpPr>
        <p:spPr>
          <a:xfrm>
            <a:off x="10351008" y="4471416"/>
            <a:ext cx="1298448" cy="896112"/>
          </a:xfrm>
          <a:prstGeom prst="roundRect">
            <a:avLst>
              <a:gd name="adj" fmla="val 8163"/>
            </a:avLst>
          </a:prstGeom>
          <a:solidFill>
            <a:schemeClr val="bg1"/>
          </a:solidFill>
          <a:ln w="9525">
            <a:solidFill>
              <a:srgbClr val="E3E6EB"/>
            </a:solidFill>
            <a:prstDash val="solid"/>
          </a:ln>
        </p:spPr>
      </p:sp>
      <p:sp>
        <p:nvSpPr>
          <p:cNvPr id="32" name="Text 29"/>
          <p:cNvSpPr txBox="1"/>
          <p:nvPr/>
        </p:nvSpPr>
        <p:spPr>
          <a:xfrm>
            <a:off x="10442448" y="4581144"/>
            <a:ext cx="1143000" cy="274320"/>
          </a:xfrm>
          <a:prstGeom prst="rect">
            <a:avLst/>
          </a:prstGeom>
          <a:noFill/>
          <a:ln/>
        </p:spPr>
        <p:txBody>
          <a:bodyPr wrap="square" lIns="0" tIns="0" rIns="0" bIns="0" rtlCol="0" anchor="t"/>
          <a:lstStyle/>
          <a:p>
            <a:pPr indent="0" marL="0">
              <a:buNone/>
            </a:pPr>
            <a:r>
              <a:rPr lang="en-US" sz="1300" b="1" dirty="0">
                <a:solidFill>
                  <a:schemeClr val="tx1"/>
                </a:solidFill>
              </a:rPr>
              <a:t>Next run</a:t>
            </a:r>
            <a:endParaRPr lang="en-US" sz="1300" dirty="0"/>
          </a:p>
        </p:txBody>
      </p:sp>
      <p:sp>
        <p:nvSpPr>
          <p:cNvPr id="33" name="Text 30"/>
          <p:cNvSpPr txBox="1"/>
          <p:nvPr/>
        </p:nvSpPr>
        <p:spPr>
          <a:xfrm>
            <a:off x="10442448" y="4882896"/>
            <a:ext cx="1143000" cy="438912"/>
          </a:xfrm>
          <a:prstGeom prst="rect">
            <a:avLst/>
          </a:prstGeom>
          <a:noFill/>
          <a:ln/>
        </p:spPr>
        <p:txBody>
          <a:bodyPr wrap="square" lIns="0" tIns="0" rIns="0" bIns="0" rtlCol="0" anchor="t"/>
          <a:lstStyle/>
          <a:p>
            <a:pPr indent="0" marL="0">
              <a:buNone/>
            </a:pPr>
            <a:r>
              <a:rPr lang="en-US" sz="1100" dirty="0">
                <a:solidFill>
                  <a:schemeClr val="tx2"/>
                </a:solidFill>
              </a:rPr>
              <a:t>all 6 again, flag cleared</a:t>
            </a:r>
            <a:endParaRPr lang="en-US" sz="1100" dirty="0"/>
          </a:p>
        </p:txBody>
      </p:sp>
      <p:sp>
        <p:nvSpPr>
          <p:cNvPr id="34" name="Text 31"/>
          <p:cNvSpPr txBox="1"/>
          <p:nvPr/>
        </p:nvSpPr>
        <p:spPr>
          <a:xfrm>
            <a:off x="5989320" y="5477256"/>
            <a:ext cx="5650992" cy="274320"/>
          </a:xfrm>
          <a:prstGeom prst="rect">
            <a:avLst/>
          </a:prstGeom>
          <a:noFill/>
          <a:ln/>
        </p:spPr>
        <p:txBody>
          <a:bodyPr wrap="square" lIns="0" tIns="0" rIns="0" bIns="0" rtlCol="0" anchor="t"/>
          <a:lstStyle/>
          <a:p>
            <a:pPr indent="0" marL="0">
              <a:buNone/>
            </a:pPr>
            <a:r>
              <a:rPr lang="en-US" sz="1100" dirty="0">
                <a:solidFill>
                  <a:schemeClr val="tx2"/>
                </a:solidFill>
              </a:rPr>
              <a:t>A partial batch failure on eMAG, healed without anyone touching it.</a:t>
            </a:r>
            <a:endParaRPr lang="en-US" sz="11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CONFLICTS</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The oversell, decided by a person</a:t>
            </a:r>
            <a:endParaRPr lang="en-US" sz="3200" dirty="0"/>
          </a:p>
        </p:txBody>
      </p:sp>
      <p:pic>
        <p:nvPicPr>
          <p:cNvPr id="4" name="Image 0" descr="Review queue card: an eMAG customer ordered a MacBook Air M4 but the last unit went to a shop order first, named under Got the unit; buttons Retry, Cancel on eMAG, Close without changes, and Suggest an action">    </p:cNvPr>
          <p:cNvPicPr>
            <a:picLocks noChangeAspect="1"/>
          </p:cNvPicPr>
          <p:nvPr/>
        </p:nvPicPr>
        <p:blipFill>
          <a:blip r:embed="rId1"/>
          <a:stretch>
            <a:fillRect/>
          </a:stretch>
        </p:blipFill>
        <p:spPr>
          <a:xfrm>
            <a:off x="548640" y="1463040"/>
            <a:ext cx="7863840" cy="1776594"/>
          </a:xfrm>
          <a:prstGeom prst="rect">
            <a:avLst/>
          </a:prstGeom>
        </p:spPr>
      </p:pic>
      <p:sp>
        <p:nvSpPr>
          <p:cNvPr id="5" name="frame"/>
          <p:cNvSpPr/>
          <p:nvPr/>
        </p:nvSpPr>
        <p:spPr>
          <a:xfrm>
            <a:off x="548640" y="1463040"/>
            <a:ext cx="7863840" cy="1776594"/>
          </a:xfrm>
          <a:prstGeom prst="rect">
            <a:avLst/>
          </a:prstGeom>
          <a:noFill/>
          <a:ln w="9525">
            <a:solidFill>
              <a:srgbClr val="E3E6EB"/>
            </a:solidFill>
            <a:prstDash val="solid"/>
          </a:ln>
        </p:spPr>
      </p:sp>
      <p:sp>
        <p:nvSpPr>
          <p:cNvPr id="6" name="why a person"/>
          <p:cNvSpPr/>
          <p:nvPr/>
        </p:nvSpPr>
        <p:spPr>
          <a:xfrm>
            <a:off x="8686800" y="1463040"/>
            <a:ext cx="2953512" cy="1776594"/>
          </a:xfrm>
          <a:prstGeom prst="roundRect">
            <a:avLst>
              <a:gd name="adj" fmla="val 4118"/>
            </a:avLst>
          </a:prstGeom>
          <a:solidFill>
            <a:schemeClr val="bg2"/>
          </a:solidFill>
          <a:ln/>
        </p:spPr>
      </p:sp>
      <p:sp>
        <p:nvSpPr>
          <p:cNvPr id="7" name="Text 4"/>
          <p:cNvSpPr txBox="1"/>
          <p:nvPr/>
        </p:nvSpPr>
        <p:spPr>
          <a:xfrm>
            <a:off x="8869680" y="1600200"/>
            <a:ext cx="2651760" cy="274320"/>
          </a:xfrm>
          <a:prstGeom prst="rect">
            <a:avLst/>
          </a:prstGeom>
          <a:noFill/>
          <a:ln/>
        </p:spPr>
        <p:txBody>
          <a:bodyPr wrap="square" lIns="0" tIns="0" rIns="0" bIns="0" rtlCol="0" anchor="t"/>
          <a:lstStyle/>
          <a:p>
            <a:pPr indent="0" marL="0">
              <a:buNone/>
            </a:pPr>
            <a:r>
              <a:rPr lang="en-US" sz="1500" b="1" dirty="0">
                <a:solidFill>
                  <a:schemeClr val="tx1"/>
                </a:solidFill>
              </a:rPr>
              <a:t>Why a person decides</a:t>
            </a:r>
            <a:endParaRPr lang="en-US" sz="1500" dirty="0"/>
          </a:p>
        </p:txBody>
      </p:sp>
      <p:sp>
        <p:nvSpPr>
          <p:cNvPr id="8" name="Text 5"/>
          <p:cNvSpPr txBox="1"/>
          <p:nvPr/>
        </p:nvSpPr>
        <p:spPr>
          <a:xfrm>
            <a:off x="8869680" y="1920240"/>
            <a:ext cx="2633472" cy="1227954"/>
          </a:xfrm>
          <a:prstGeom prst="rect">
            <a:avLst/>
          </a:prstGeom>
          <a:noFill/>
          <a:ln/>
        </p:spPr>
        <p:txBody>
          <a:bodyPr wrap="square" lIns="0" tIns="0" rIns="0" bIns="0" rtlCol="0" anchor="t"/>
          <a:lstStyle/>
          <a:p>
            <a:pPr indent="0" marL="0">
              <a:buNone/>
            </a:pPr>
            <a:r>
              <a:rPr lang="en-US" sz="1300" dirty="0">
                <a:solidFill>
                  <a:srgbClr val="3D4552"/>
                </a:solidFill>
              </a:rPr>
              <a:t>The customer has paid. Stock may arrive tomorrow. On eMAG a seller cancellation costs rating. That is a business call.</a:t>
            </a:r>
            <a:endParaRPr lang="en-US" sz="1300" dirty="0"/>
          </a:p>
        </p:txBody>
      </p:sp>
      <p:sp>
        <p:nvSpPr>
          <p:cNvPr id="9" name="Text 6"/>
          <p:cNvSpPr txBox="1"/>
          <p:nvPr/>
        </p:nvSpPr>
        <p:spPr>
          <a:xfrm>
            <a:off x="548640" y="3559674"/>
            <a:ext cx="3566160" cy="274320"/>
          </a:xfrm>
          <a:prstGeom prst="rect">
            <a:avLst/>
          </a:prstGeom>
          <a:noFill/>
          <a:ln/>
        </p:spPr>
        <p:txBody>
          <a:bodyPr wrap="square" lIns="0" tIns="0" rIns="0" bIns="0" rtlCol="0" anchor="t"/>
          <a:lstStyle/>
          <a:p>
            <a:pPr indent="0" marL="0">
              <a:buNone/>
            </a:pPr>
            <a:r>
              <a:rPr lang="en-US" sz="1500" b="1" dirty="0">
                <a:solidFill>
                  <a:schemeClr val="tx1"/>
                </a:solidFill>
              </a:rPr>
              <a:t>How it happens</a:t>
            </a:r>
            <a:endParaRPr lang="en-US" sz="1500" dirty="0"/>
          </a:p>
        </p:txBody>
      </p:sp>
      <p:sp>
        <p:nvSpPr>
          <p:cNvPr id="10" name="Text 7"/>
          <p:cNvSpPr txBox="1"/>
          <p:nvPr/>
        </p:nvSpPr>
        <p:spPr>
          <a:xfrm>
            <a:off x="548640" y="3907146"/>
            <a:ext cx="3566160" cy="2127894"/>
          </a:xfrm>
          <a:prstGeom prst="rect">
            <a:avLst/>
          </a:prstGeom>
          <a:noFill/>
          <a:ln/>
        </p:spPr>
        <p:txBody>
          <a:bodyPr wrap="square" lIns="0" tIns="0" rIns="0" bIns="0" rtlCol="0" anchor="t"/>
          <a:lstStyle/>
          <a:p>
            <a:pPr marL="228600" indent="-228600">
              <a:spcAft>
                <a:spcPts val="400"/>
              </a:spcAft>
              <a:buSzPct val="100000"/>
              <a:buFont typeface="+mj-lt"/>
              <a:buAutoNum type="arabicPeriod" startAt="1"/>
            </a:pPr>
            <a:r>
              <a:rPr lang="en-US" sz="1300" dirty="0">
                <a:solidFill>
                  <a:srgbClr val="3D4552"/>
                </a:solidFill>
              </a:rPr>
              <a:t>The last MacBook Air sells on the shop; the warehouse reserves it.</a:t>
            </a:r>
            <a:endParaRPr lang="en-US" sz="1300" dirty="0"/>
          </a:p>
          <a:p>
            <a:pPr marL="228600" indent="-228600">
              <a:spcAft>
                <a:spcPts val="400"/>
              </a:spcAft>
              <a:buSzPct val="100000"/>
              <a:buFont typeface="+mj-lt"/>
              <a:buAutoNum type="arabicPeriod" startAt="1"/>
            </a:pPr>
            <a:r>
              <a:rPr lang="en-US" sz="1300" dirty="0">
                <a:solidFill>
                  <a:srgbClr val="3D4552"/>
                </a:solidFill>
              </a:rPr>
              <a:t>eMAG has not applied the new figure yet and still shows 1.</a:t>
            </a:r>
            <a:endParaRPr lang="en-US" sz="1300" dirty="0"/>
          </a:p>
          <a:p>
            <a:pPr marL="228600" indent="-228600">
              <a:spcAft>
                <a:spcPts val="400"/>
              </a:spcAft>
              <a:buSzPct val="100000"/>
              <a:buFont typeface="+mj-lt"/>
              <a:buAutoNum type="arabicPeriod" startAt="1"/>
            </a:pPr>
            <a:r>
              <a:rPr lang="en-US" sz="1300" dirty="0">
                <a:solidFill>
                  <a:srgbClr val="3D4552"/>
                </a:solidFill>
              </a:rPr>
              <a:t>An eMAG customer buys it; the warehouse answers 409.</a:t>
            </a:r>
            <a:endParaRPr lang="en-US" sz="1300" dirty="0"/>
          </a:p>
          <a:p>
            <a:pPr marL="228600" indent="-228600">
              <a:spcAft>
                <a:spcPts val="400"/>
              </a:spcAft>
              <a:buSzPct val="100000"/>
              <a:buFont typeface="+mj-lt"/>
              <a:buAutoNum type="arabicPeriod" startAt="1"/>
            </a:pPr>
            <a:r>
              <a:rPr lang="en-US" sz="1300" dirty="0">
                <a:solidFill>
                  <a:srgbClr val="3D4552"/>
                </a:solidFill>
              </a:rPr>
              <a:t>Glue acknowledges it on eMAG and queues it as sold out, naming the order that got the unit.</a:t>
            </a:r>
            <a:endParaRPr lang="en-US" sz="1300" dirty="0"/>
          </a:p>
        </p:txBody>
      </p:sp>
      <p:sp>
        <p:nvSpPr>
          <p:cNvPr id="11" name="Text 8"/>
          <p:cNvSpPr txBox="1"/>
          <p:nvPr/>
        </p:nvSpPr>
        <p:spPr>
          <a:xfrm>
            <a:off x="4297680" y="3559674"/>
            <a:ext cx="3566160" cy="274320"/>
          </a:xfrm>
          <a:prstGeom prst="rect">
            <a:avLst/>
          </a:prstGeom>
          <a:noFill/>
          <a:ln/>
        </p:spPr>
        <p:txBody>
          <a:bodyPr wrap="square" lIns="0" tIns="0" rIns="0" bIns="0" rtlCol="0" anchor="t"/>
          <a:lstStyle/>
          <a:p>
            <a:pPr indent="0" marL="0">
              <a:buNone/>
            </a:pPr>
            <a:r>
              <a:rPr lang="en-US" sz="1500" b="1" dirty="0">
                <a:solidFill>
                  <a:schemeClr val="tx1"/>
                </a:solidFill>
              </a:rPr>
              <a:t>Causes in the queue</a:t>
            </a:r>
            <a:endParaRPr lang="en-US" sz="1500" dirty="0"/>
          </a:p>
        </p:txBody>
      </p:sp>
      <p:sp>
        <p:nvSpPr>
          <p:cNvPr id="12" name="Text 9"/>
          <p:cNvSpPr txBox="1"/>
          <p:nvPr/>
        </p:nvSpPr>
        <p:spPr>
          <a:xfrm>
            <a:off x="4297680" y="3907146"/>
            <a:ext cx="3566160" cy="212789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Warehouse outage: </a:t>
            </a:r>
            <a:r>
              <a:rPr lang="en-US" sz="1300" dirty="0">
                <a:solidFill>
                  <a:srgbClr val="3D4552"/>
                </a:solidFill>
              </a:rPr>
              <a:t>the warehouse did not answer</a:t>
            </a:r>
            <a:endParaRPr lang="en-US" sz="1300" dirty="0"/>
          </a:p>
          <a:p>
            <a:pPr marL="177800" indent="-177800">
              <a:spcAft>
                <a:spcPts val="400"/>
              </a:spcAft>
              <a:buSzPct val="100000"/>
              <a:buChar char="•"/>
            </a:pPr>
            <a:r>
              <a:rPr lang="en-US" sz="1300" b="1" dirty="0">
                <a:solidFill>
                  <a:srgbClr val="3D4552"/>
                </a:solidFill>
              </a:rPr>
              <a:t>Sold out: </a:t>
            </a:r>
            <a:r>
              <a:rPr lang="en-US" sz="1300" dirty="0">
                <a:solidFill>
                  <a:srgbClr val="3D4552"/>
                </a:solidFill>
              </a:rPr>
              <a:t>the other channel won</a:t>
            </a:r>
            <a:endParaRPr lang="en-US" sz="1300" dirty="0"/>
          </a:p>
          <a:p>
            <a:pPr marL="177800" indent="-177800">
              <a:spcAft>
                <a:spcPts val="400"/>
              </a:spcAft>
              <a:buSzPct val="100000"/>
              <a:buChar char="•"/>
            </a:pPr>
            <a:r>
              <a:rPr lang="en-US" sz="1300" b="1" dirty="0">
                <a:solidFill>
                  <a:srgbClr val="3D4552"/>
                </a:solidFill>
              </a:rPr>
              <a:t>Shelf count too low: </a:t>
            </a:r>
            <a:r>
              <a:rPr lang="en-US" sz="1300" dirty="0">
                <a:solidFill>
                  <a:srgbClr val="3D4552"/>
                </a:solidFill>
              </a:rPr>
              <a:t>the newest orders a short shelf cannot cover</a:t>
            </a:r>
            <a:endParaRPr lang="en-US" sz="1300" dirty="0"/>
          </a:p>
          <a:p>
            <a:pPr marL="177800" indent="-177800">
              <a:spcAft>
                <a:spcPts val="400"/>
              </a:spcAft>
              <a:buSzPct val="100000"/>
              <a:buChar char="•"/>
            </a:pPr>
            <a:r>
              <a:rPr lang="en-US" sz="1300" b="1" dirty="0">
                <a:solidFill>
                  <a:srgbClr val="3D4552"/>
                </a:solidFill>
              </a:rPr>
              <a:t>Other: </a:t>
            </a:r>
            <a:r>
              <a:rPr lang="en-US" sz="1300" dirty="0">
                <a:solidFill>
                  <a:srgbClr val="3D4552"/>
                </a:solidFill>
              </a:rPr>
              <a:t>shown with what Glue saw</a:t>
            </a:r>
            <a:endParaRPr lang="en-US" sz="1300" dirty="0"/>
          </a:p>
        </p:txBody>
      </p:sp>
      <p:sp>
        <p:nvSpPr>
          <p:cNvPr id="13" name="Text 10"/>
          <p:cNvSpPr txBox="1"/>
          <p:nvPr/>
        </p:nvSpPr>
        <p:spPr>
          <a:xfrm>
            <a:off x="8046720" y="3559674"/>
            <a:ext cx="3566160" cy="274320"/>
          </a:xfrm>
          <a:prstGeom prst="rect">
            <a:avLst/>
          </a:prstGeom>
          <a:noFill/>
          <a:ln/>
        </p:spPr>
        <p:txBody>
          <a:bodyPr wrap="square" lIns="0" tIns="0" rIns="0" bIns="0" rtlCol="0" anchor="t"/>
          <a:lstStyle/>
          <a:p>
            <a:pPr indent="0" marL="0">
              <a:buNone/>
            </a:pPr>
            <a:r>
              <a:rPr lang="en-US" sz="1500" b="1" dirty="0">
                <a:solidFill>
                  <a:schemeClr val="tx1"/>
                </a:solidFill>
              </a:rPr>
              <a:t>What each action does</a:t>
            </a:r>
            <a:endParaRPr lang="en-US" sz="1500" dirty="0"/>
          </a:p>
        </p:txBody>
      </p:sp>
      <p:sp>
        <p:nvSpPr>
          <p:cNvPr id="14" name="Text 11"/>
          <p:cNvSpPr txBox="1"/>
          <p:nvPr/>
        </p:nvSpPr>
        <p:spPr>
          <a:xfrm>
            <a:off x="8046720" y="3907146"/>
            <a:ext cx="3566160" cy="212789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Retry: </a:t>
            </a:r>
            <a:r>
              <a:rPr lang="en-US" sz="1300" dirty="0">
                <a:solidFill>
                  <a:srgbClr val="3D4552"/>
                </a:solidFill>
              </a:rPr>
              <a:t>sends it again, never reserves twice</a:t>
            </a:r>
            <a:endParaRPr lang="en-US" sz="1300" dirty="0"/>
          </a:p>
          <a:p>
            <a:pPr marL="177800" indent="-177800">
              <a:spcAft>
                <a:spcPts val="400"/>
              </a:spcAft>
              <a:buSzPct val="100000"/>
              <a:buChar char="•"/>
            </a:pPr>
            <a:r>
              <a:rPr lang="en-US" sz="1300" b="1" dirty="0">
                <a:solidFill>
                  <a:srgbClr val="3D4552"/>
                </a:solidFill>
              </a:rPr>
              <a:t>Cancel: </a:t>
            </a:r>
            <a:r>
              <a:rPr lang="en-US" sz="1300" dirty="0">
                <a:solidFill>
                  <a:srgbClr val="3D4552"/>
                </a:solidFill>
              </a:rPr>
              <a:t>after a confirm, on its channel; the customer is refunded</a:t>
            </a:r>
            <a:endParaRPr lang="en-US" sz="1300" dirty="0"/>
          </a:p>
          <a:p>
            <a:pPr marL="177800" indent="-177800">
              <a:spcAft>
                <a:spcPts val="400"/>
              </a:spcAft>
              <a:buSzPct val="100000"/>
              <a:buChar char="•"/>
            </a:pPr>
            <a:r>
              <a:rPr lang="en-US" sz="1300" b="1" dirty="0">
                <a:solidFill>
                  <a:srgbClr val="3D4552"/>
                </a:solidFill>
              </a:rPr>
              <a:t>Close without changes: </a:t>
            </a:r>
            <a:r>
              <a:rPr lang="en-US" sz="1300" dirty="0">
                <a:solidFill>
                  <a:srgbClr val="3D4552"/>
                </a:solidFill>
              </a:rPr>
              <a:t>handled elsewhere</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ROBUSTNESS</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Retries and partial failures</a:t>
            </a:r>
            <a:endParaRPr lang="en-US" sz="3200" dirty="0"/>
          </a:p>
        </p:txBody>
      </p:sp>
      <p:sp>
        <p:nvSpPr>
          <p:cNvPr id="4" name="retry policy"/>
          <p:cNvSpPr/>
          <p:nvPr/>
        </p:nvSpPr>
        <p:spPr>
          <a:xfrm>
            <a:off x="548640" y="1463040"/>
            <a:ext cx="3703320" cy="4526280"/>
          </a:xfrm>
          <a:prstGeom prst="roundRect">
            <a:avLst>
              <a:gd name="adj" fmla="val 1975"/>
            </a:avLst>
          </a:prstGeom>
          <a:solidFill>
            <a:schemeClr val="tx1"/>
          </a:solidFill>
          <a:ln/>
        </p:spPr>
      </p:sp>
      <p:sp>
        <p:nvSpPr>
          <p:cNvPr id="5" name="Text 3"/>
          <p:cNvSpPr txBox="1"/>
          <p:nvPr/>
        </p:nvSpPr>
        <p:spPr>
          <a:xfrm>
            <a:off x="777240" y="1664208"/>
            <a:ext cx="3291840" cy="320040"/>
          </a:xfrm>
          <a:prstGeom prst="rect">
            <a:avLst/>
          </a:prstGeom>
          <a:noFill/>
          <a:ln/>
        </p:spPr>
        <p:txBody>
          <a:bodyPr wrap="square" lIns="0" tIns="0" rIns="0" bIns="0" rtlCol="0" anchor="t"/>
          <a:lstStyle/>
          <a:p>
            <a:pPr indent="0" marL="0">
              <a:buNone/>
            </a:pPr>
            <a:r>
              <a:rPr lang="en-US" sz="1700" b="1" dirty="0">
                <a:solidFill>
                  <a:schemeClr val="bg1"/>
                </a:solidFill>
              </a:rPr>
              <a:t>One policy, every call out</a:t>
            </a:r>
            <a:endParaRPr lang="en-US" sz="1700" dirty="0"/>
          </a:p>
        </p:txBody>
      </p:sp>
      <p:sp>
        <p:nvSpPr>
          <p:cNvPr id="6" name="Text 4"/>
          <p:cNvSpPr txBox="1"/>
          <p:nvPr/>
        </p:nvSpPr>
        <p:spPr>
          <a:xfrm>
            <a:off x="777240" y="2103120"/>
            <a:ext cx="3291840" cy="28346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D5DAE1"/>
                </a:solidFill>
              </a:rPr>
              <a:t>Up to 5 attempts, 2 s timeout each</a:t>
            </a:r>
            <a:endParaRPr lang="en-US" sz="1400" dirty="0"/>
          </a:p>
          <a:p>
            <a:pPr marL="177800" indent="-177800">
              <a:spcAft>
                <a:spcPts val="700"/>
              </a:spcAft>
              <a:buSzPct val="100000"/>
              <a:buChar char="•"/>
            </a:pPr>
            <a:r>
              <a:rPr lang="en-US" sz="1400" dirty="0">
                <a:solidFill>
                  <a:srgbClr val="D5DAE1"/>
                </a:solidFill>
              </a:rPr>
              <a:t>Retries transport errors, 408, 429 and 5xx</a:t>
            </a:r>
            <a:endParaRPr lang="en-US" sz="1400" dirty="0"/>
          </a:p>
          <a:p>
            <a:pPr marL="177800" indent="-177800">
              <a:spcAft>
                <a:spcPts val="700"/>
              </a:spcAft>
              <a:buSzPct val="100000"/>
              <a:buChar char="•"/>
            </a:pPr>
            <a:r>
              <a:rPr lang="en-US" sz="1400" dirty="0">
                <a:solidFill>
                  <a:srgbClr val="D5DAE1"/>
                </a:solidFill>
              </a:rPr>
              <a:t>Retry-After read as seconds or a date, capped at 30 s</a:t>
            </a:r>
            <a:endParaRPr lang="en-US" sz="1400" dirty="0"/>
          </a:p>
          <a:p>
            <a:pPr marL="177800" indent="-177800">
              <a:spcAft>
                <a:spcPts val="700"/>
              </a:spcAft>
              <a:buSzPct val="100000"/>
              <a:buChar char="•"/>
            </a:pPr>
            <a:r>
              <a:rPr lang="en-US" sz="1400" dirty="0">
                <a:solidFill>
                  <a:srgbClr val="D5DAE1"/>
                </a:solidFill>
              </a:rPr>
              <a:t>Otherwise 0.5 s doubling, plus up to 20% jitter</a:t>
            </a:r>
            <a:endParaRPr lang="en-US" sz="1400" dirty="0"/>
          </a:p>
          <a:p>
            <a:pPr marL="177800" indent="-177800">
              <a:spcAft>
                <a:spcPts val="700"/>
              </a:spcAft>
              <a:buSzPct val="100000"/>
              <a:buChar char="•"/>
            </a:pPr>
            <a:r>
              <a:rPr lang="en-US" sz="1400" dirty="0">
                <a:solidFill>
                  <a:srgbClr val="D5DAE1"/>
                </a:solidFill>
              </a:rPr>
              <a:t>Any other answer, like 409, goes back to the caller</a:t>
            </a:r>
            <a:endParaRPr lang="en-US" sz="1400" dirty="0"/>
          </a:p>
          <a:p>
            <a:pPr marL="177800" indent="-177800">
              <a:spcAft>
                <a:spcPts val="700"/>
              </a:spcAft>
              <a:buSzPct val="100000"/>
              <a:buChar char="•"/>
            </a:pPr>
            <a:r>
              <a:rPr lang="en-US" sz="1400" dirty="0">
                <a:solidFill>
                  <a:srgbClr val="D5DAE1"/>
                </a:solidFill>
              </a:rPr>
              <a:t>Each retry is an audit row</a:t>
            </a:r>
            <a:endParaRPr lang="en-US" sz="1400" dirty="0"/>
          </a:p>
        </p:txBody>
      </p:sp>
      <p:sp>
        <p:nvSpPr>
          <p:cNvPr id="7" name="Text 5"/>
          <p:cNvSpPr txBox="1"/>
          <p:nvPr/>
        </p:nvSpPr>
        <p:spPr>
          <a:xfrm>
            <a:off x="777240" y="4937760"/>
            <a:ext cx="3291840" cy="274320"/>
          </a:xfrm>
          <a:prstGeom prst="rect">
            <a:avLst/>
          </a:prstGeom>
          <a:noFill/>
          <a:ln/>
        </p:spPr>
        <p:txBody>
          <a:bodyPr wrap="square" lIns="0" tIns="0" rIns="0" bIns="0" rtlCol="0" anchor="t"/>
          <a:lstStyle/>
          <a:p>
            <a:pPr indent="0" marL="0">
              <a:buNone/>
            </a:pPr>
            <a:r>
              <a:rPr lang="en-US" sz="1400" b="1" dirty="0">
                <a:solidFill>
                  <a:schemeClr val="bg1"/>
                </a:solidFill>
              </a:rPr>
              <a:t>One order at a time</a:t>
            </a:r>
            <a:endParaRPr lang="en-US" sz="1400" dirty="0"/>
          </a:p>
        </p:txBody>
      </p:sp>
      <p:sp>
        <p:nvSpPr>
          <p:cNvPr id="8" name="Text 6"/>
          <p:cNvSpPr txBox="1"/>
          <p:nvPr/>
        </p:nvSpPr>
        <p:spPr>
          <a:xfrm>
            <a:off x="777240" y="5230368"/>
            <a:ext cx="3291840" cy="548640"/>
          </a:xfrm>
          <a:prstGeom prst="rect">
            <a:avLst/>
          </a:prstGeom>
          <a:noFill/>
          <a:ln/>
        </p:spPr>
        <p:txBody>
          <a:bodyPr wrap="square" lIns="0" tIns="0" rIns="0" bIns="0" rtlCol="0" anchor="t"/>
          <a:lstStyle/>
          <a:p>
            <a:pPr indent="0" marL="0">
              <a:buNone/>
            </a:pPr>
            <a:r>
              <a:rPr lang="en-US" sz="1300" dirty="0">
                <a:solidFill>
                  <a:srgbClr val="D5DAE1"/>
                </a:solidFill>
              </a:rPr>
              <a:t>Events and decisions for the same order take the same lock.</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26280" y="1463040"/>
          <a:ext cx="7114032" cy="914400"/>
        </p:xfrm>
        <a:graphic>
          <a:graphicData uri="http://schemas.openxmlformats.org/drawingml/2006/table">
            <a:tbl>
              <a:tblPr/>
              <a:tblGrid>
                <a:gridCol w="2606040"/>
                <a:gridCol w="2862072"/>
                <a:gridCol w="1645920"/>
              </a:tblGrid>
              <a:tr h="347472">
                <a:tc>
                  <a:txBody>
                    <a:bodyPr/>
                    <a:lstStyle/>
                    <a:p>
                      <a:pPr indent="0" marL="0">
                        <a:buNone/>
                      </a:pPr>
                      <a:r>
                        <a:rPr lang="en-US" sz="1200" b="1" dirty="0">
                          <a:solidFill>
                            <a:srgbClr val="5B6472"/>
                          </a:solidFill>
                        </a:rPr>
                        <a:t>What fails</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1200" b="1" dirty="0">
                          <a:solidFill>
                            <a:srgbClr val="5B6472"/>
                          </a:solidFill>
                        </a:rPr>
                        <a:t>What happens</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1200" b="1" dirty="0">
                          <a:solidFill>
                            <a:srgbClr val="5B6472"/>
                          </a:solidFill>
                        </a:rPr>
                        <a:t>Fixed by</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r>
              <a:tr h="548640">
                <a:tc>
                  <a:txBody>
                    <a:bodyPr/>
                    <a:lstStyle/>
                    <a:p>
                      <a:pPr indent="0" marL="0">
                        <a:buNone/>
                      </a:pPr>
                      <a:r>
                        <a:rPr lang="en-US" sz="1300" b="1" dirty="0">
                          <a:solidFill>
                            <a:schemeClr val="tx1"/>
                          </a:solidFill>
                        </a:rPr>
                        <a:t>Warehouse down while placing</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3D4552"/>
                          </a:solidFill>
                        </a:rPr>
                        <a:t>retried, then queued as an outage</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chemeClr val="tx1"/>
                          </a:solidFill>
                        </a:rPr>
                        <a:t>Retry, Retry all, auto-retry rule</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548640">
                <a:tc>
                  <a:txBody>
                    <a:bodyPr/>
                    <a:lstStyle/>
                    <a:p>
                      <a:pPr indent="0" marL="0">
                        <a:buNone/>
                      </a:pPr>
                      <a:r>
                        <a:rPr lang="en-US" sz="1300" b="1" dirty="0">
                          <a:solidFill>
                            <a:schemeClr val="tx1"/>
                          </a:solidFill>
                        </a:rPr>
                        <a:t>Acknowledge to eMAG fails</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3D4552"/>
                          </a:solidFill>
                        </a:rPr>
                        <a:t>event failed; eMAG sends it again</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chemeClr val="accent6"/>
                          </a:solidFill>
                        </a:rPr>
                        <a:t>Itself</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548640">
                <a:tc>
                  <a:txBody>
                    <a:bodyPr/>
                    <a:lstStyle/>
                    <a:p>
                      <a:pPr indent="0" marL="0">
                        <a:buNone/>
                      </a:pPr>
                      <a:r>
                        <a:rPr lang="en-US" sz="1300" b="1" dirty="0">
                          <a:solidFill>
                            <a:schemeClr val="tx1"/>
                          </a:solidFill>
                        </a:rPr>
                        <a:t>A channel refuses a stock push</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3D4552"/>
                          </a:solidFill>
                        </a:rPr>
                        <a:t>that row is marked dirty</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chemeClr val="accent6"/>
                          </a:solidFill>
                        </a:rPr>
                        <a:t>Itself, next run</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548640">
                <a:tc>
                  <a:txBody>
                    <a:bodyPr/>
                    <a:lstStyle/>
                    <a:p>
                      <a:pPr indent="0" marL="0">
                        <a:buNone/>
                      </a:pPr>
                      <a:r>
                        <a:rPr lang="en-US" sz="1300" b="1" dirty="0">
                          <a:solidFill>
                            <a:schemeClr val="tx1"/>
                          </a:solidFill>
                        </a:rPr>
                        <a:t>A channel never hears it shipped</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3D4552"/>
                          </a:solidFill>
                        </a:rPr>
                        <a:t>item with Retry; order stays shipped</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chemeClr val="tx1"/>
                          </a:solidFill>
                        </a:rPr>
                        <a:t>One click</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548640">
                <a:tc>
                  <a:txBody>
                    <a:bodyPr/>
                    <a:lstStyle/>
                    <a:p>
                      <a:pPr indent="0" marL="0">
                        <a:buNone/>
                      </a:pPr>
                      <a:r>
                        <a:rPr lang="en-US" sz="1300" b="1" dirty="0">
                          <a:solidFill>
                            <a:schemeClr val="tx1"/>
                          </a:solidFill>
                        </a:rPr>
                        <a:t>Glue stops mid-event</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3D4552"/>
                          </a:solidFill>
                        </a:rPr>
                        <a:t>processing goes back to pending</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chemeClr val="accent6"/>
                          </a:solidFill>
                        </a:rPr>
                        <a:t>Itself, on start</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548640">
                <a:tc>
                  <a:txBody>
                    <a:bodyPr/>
                    <a:lstStyle/>
                    <a:p>
                      <a:pPr indent="0" marL="0">
                        <a:buNone/>
                      </a:pPr>
                      <a:r>
                        <a:rPr lang="en-US" sz="1300" b="1" dirty="0">
                          <a:solidFill>
                            <a:schemeClr val="tx1"/>
                          </a:solidFill>
                        </a:rPr>
                        <a:t>Glue stops mid-decision</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3D4552"/>
                          </a:solidFill>
                        </a:rPr>
                        <a:t>item left acting; reopened or closed</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chemeClr val="accent6"/>
                          </a:solidFill>
                        </a:rPr>
                        <a:t>Itself, on start</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548640">
                <a:tc>
                  <a:txBody>
                    <a:bodyPr/>
                    <a:lstStyle/>
                    <a:p>
                      <a:pPr indent="0" marL="0">
                        <a:buNone/>
                      </a:pPr>
                      <a:r>
                        <a:rPr lang="en-US" sz="1300" b="1" dirty="0">
                          <a:solidFill>
                            <a:schemeClr val="tx1"/>
                          </a:solidFill>
                        </a:rPr>
                        <a:t>The order heals another way</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3D4552"/>
                          </a:solidFill>
                        </a:rPr>
                        <a:t>its stale item is closed</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chemeClr val="accent6"/>
                          </a:solidFill>
                        </a:rPr>
                        <a:t>Itself</a:t>
                      </a:r>
                      <a:endParaRPr lang="en-US" sz="13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ROBUSTNESS</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Idempotency and security</a:t>
            </a:r>
            <a:endParaRPr lang="en-US" sz="3200" dirty="0"/>
          </a:p>
        </p:txBody>
      </p:sp>
      <p:sp>
        <p:nvSpPr>
          <p:cNvPr id="4" name="Text 2"/>
          <p:cNvSpPr txBox="1"/>
          <p:nvPr/>
        </p:nvSpPr>
        <p:spPr>
          <a:xfrm>
            <a:off x="548640" y="1463040"/>
            <a:ext cx="5394960" cy="292608"/>
          </a:xfrm>
          <a:prstGeom prst="rect">
            <a:avLst/>
          </a:prstGeom>
          <a:noFill/>
          <a:ln/>
        </p:spPr>
        <p:txBody>
          <a:bodyPr wrap="square" lIns="0" tIns="0" rIns="0" bIns="0" rtlCol="0" anchor="t"/>
          <a:lstStyle/>
          <a:p>
            <a:pPr indent="0" marL="0">
              <a:buNone/>
            </a:pPr>
            <a:r>
              <a:rPr lang="en-US" sz="1600" b="1" dirty="0">
                <a:solidFill>
                  <a:schemeClr val="tx1"/>
                </a:solidFill>
              </a:rPr>
              <a:t>Duplicates removed at three layers</a:t>
            </a:r>
            <a:endParaRPr lang="en-US" sz="1600" dirty="0"/>
          </a:p>
        </p:txBody>
      </p:sp>
      <p:sp>
        <p:nvSpPr>
          <p:cNvPr id="5" name="TRANSPORT"/>
          <p:cNvSpPr/>
          <p:nvPr/>
        </p:nvSpPr>
        <p:spPr>
          <a:xfrm>
            <a:off x="548640" y="1874520"/>
            <a:ext cx="5394960" cy="1207008"/>
          </a:xfrm>
          <a:prstGeom prst="roundRect">
            <a:avLst>
              <a:gd name="adj" fmla="val 6061"/>
            </a:avLst>
          </a:prstGeom>
          <a:solidFill>
            <a:schemeClr val="bg1"/>
          </a:solidFill>
          <a:ln w="9525">
            <a:solidFill>
              <a:srgbClr val="E3E6EB"/>
            </a:solidFill>
            <a:prstDash val="solid"/>
          </a:ln>
        </p:spPr>
      </p:sp>
      <p:sp>
        <p:nvSpPr>
          <p:cNvPr id="6" name="step 1"/>
          <p:cNvSpPr/>
          <p:nvPr/>
        </p:nvSpPr>
        <p:spPr>
          <a:xfrm>
            <a:off x="749808" y="2093976"/>
            <a:ext cx="384048" cy="384048"/>
          </a:xfrm>
          <a:prstGeom prst="ellipse">
            <a:avLst/>
          </a:prstGeom>
          <a:solidFill>
            <a:schemeClr val="tx1"/>
          </a:solidFill>
          <a:ln/>
        </p:spPr>
      </p:sp>
      <p:sp>
        <p:nvSpPr>
          <p:cNvPr id="7" name="Text 5"/>
          <p:cNvSpPr txBox="1"/>
          <p:nvPr/>
        </p:nvSpPr>
        <p:spPr>
          <a:xfrm>
            <a:off x="749808" y="209397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6"/>
          <p:cNvSpPr txBox="1"/>
          <p:nvPr/>
        </p:nvSpPr>
        <p:spPr>
          <a:xfrm>
            <a:off x="1325880" y="2039112"/>
            <a:ext cx="4389120" cy="201168"/>
          </a:xfrm>
          <a:prstGeom prst="rect">
            <a:avLst/>
          </a:prstGeom>
          <a:noFill/>
          <a:ln/>
        </p:spPr>
        <p:txBody>
          <a:bodyPr wrap="square" lIns="0" tIns="0" rIns="0" bIns="0" rtlCol="0" anchor="t"/>
          <a:lstStyle/>
          <a:p>
            <a:pPr indent="0" marL="0">
              <a:buNone/>
            </a:pPr>
            <a:r>
              <a:rPr lang="en-US" sz="1000" b="1" dirty="0">
                <a:solidFill>
                  <a:schemeClr val="tx2"/>
                </a:solidFill>
                <a:latin typeface="Courier New" pitchFamily="34" charset="0"/>
                <a:ea typeface="Courier New" pitchFamily="34" charset="-122"/>
                <a:cs typeface="Courier New" pitchFamily="34" charset="-120"/>
              </a:rPr>
              <a:t>TRANSPORT</a:t>
            </a:r>
            <a:endParaRPr lang="en-US" sz="1000" dirty="0"/>
          </a:p>
        </p:txBody>
      </p:sp>
      <p:sp>
        <p:nvSpPr>
          <p:cNvPr id="9" name="Text 7"/>
          <p:cNvSpPr txBox="1"/>
          <p:nvPr/>
        </p:nvSpPr>
        <p:spPr>
          <a:xfrm>
            <a:off x="1325880" y="2240280"/>
            <a:ext cx="4389120" cy="292608"/>
          </a:xfrm>
          <a:prstGeom prst="rect">
            <a:avLst/>
          </a:prstGeom>
          <a:noFill/>
          <a:ln/>
        </p:spPr>
        <p:txBody>
          <a:bodyPr wrap="square" lIns="0" tIns="0" rIns="0" bIns="0" rtlCol="0" anchor="t"/>
          <a:lstStyle/>
          <a:p>
            <a:pPr indent="0" marL="0">
              <a:buNone/>
            </a:pPr>
            <a:r>
              <a:rPr lang="en-US" sz="1600" b="1" dirty="0">
                <a:solidFill>
                  <a:schemeClr val="tx1"/>
                </a:solidFill>
              </a:rPr>
              <a:t>Source + event id</a:t>
            </a:r>
            <a:endParaRPr lang="en-US" sz="1600" dirty="0"/>
          </a:p>
        </p:txBody>
      </p:sp>
      <p:sp>
        <p:nvSpPr>
          <p:cNvPr id="10" name="Text 8"/>
          <p:cNvSpPr txBox="1"/>
          <p:nvPr/>
        </p:nvSpPr>
        <p:spPr>
          <a:xfrm>
            <a:off x="1325880" y="2569464"/>
            <a:ext cx="4434840" cy="457200"/>
          </a:xfrm>
          <a:prstGeom prst="rect">
            <a:avLst/>
          </a:prstGeom>
          <a:noFill/>
          <a:ln/>
        </p:spPr>
        <p:txBody>
          <a:bodyPr wrap="square" lIns="0" tIns="0" rIns="0" bIns="0" rtlCol="0" anchor="t"/>
          <a:lstStyle/>
          <a:p>
            <a:pPr indent="0" marL="0">
              <a:buNone/>
            </a:pPr>
            <a:r>
              <a:rPr lang="en-US" sz="1300" dirty="0">
                <a:solidFill>
                  <a:srgbClr val="3D4552"/>
                </a:solidFill>
              </a:rPr>
              <a:t>Primary key of the inbox. A repeat gets 202 and a duplicate_dropped row.</a:t>
            </a:r>
            <a:endParaRPr lang="en-US" sz="1300" dirty="0"/>
          </a:p>
        </p:txBody>
      </p:sp>
      <p:sp>
        <p:nvSpPr>
          <p:cNvPr id="11" name="BUSINESS"/>
          <p:cNvSpPr/>
          <p:nvPr/>
        </p:nvSpPr>
        <p:spPr>
          <a:xfrm>
            <a:off x="548640" y="3246120"/>
            <a:ext cx="5394960" cy="1207008"/>
          </a:xfrm>
          <a:prstGeom prst="roundRect">
            <a:avLst>
              <a:gd name="adj" fmla="val 6061"/>
            </a:avLst>
          </a:prstGeom>
          <a:solidFill>
            <a:schemeClr val="bg1"/>
          </a:solidFill>
          <a:ln w="9525">
            <a:solidFill>
              <a:srgbClr val="E3E6EB"/>
            </a:solidFill>
            <a:prstDash val="solid"/>
          </a:ln>
        </p:spPr>
      </p:sp>
      <p:sp>
        <p:nvSpPr>
          <p:cNvPr id="12" name="step 2"/>
          <p:cNvSpPr/>
          <p:nvPr/>
        </p:nvSpPr>
        <p:spPr>
          <a:xfrm>
            <a:off x="749808" y="3465576"/>
            <a:ext cx="384048" cy="384048"/>
          </a:xfrm>
          <a:prstGeom prst="ellipse">
            <a:avLst/>
          </a:prstGeom>
          <a:solidFill>
            <a:schemeClr val="tx1"/>
          </a:solidFill>
          <a:ln/>
        </p:spPr>
      </p:sp>
      <p:sp>
        <p:nvSpPr>
          <p:cNvPr id="13" name="Text 11"/>
          <p:cNvSpPr txBox="1"/>
          <p:nvPr/>
        </p:nvSpPr>
        <p:spPr>
          <a:xfrm>
            <a:off x="749808" y="346557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4" name="Text 12"/>
          <p:cNvSpPr txBox="1"/>
          <p:nvPr/>
        </p:nvSpPr>
        <p:spPr>
          <a:xfrm>
            <a:off x="1325880" y="3410712"/>
            <a:ext cx="4389120" cy="201168"/>
          </a:xfrm>
          <a:prstGeom prst="rect">
            <a:avLst/>
          </a:prstGeom>
          <a:noFill/>
          <a:ln/>
        </p:spPr>
        <p:txBody>
          <a:bodyPr wrap="square" lIns="0" tIns="0" rIns="0" bIns="0" rtlCol="0" anchor="t"/>
          <a:lstStyle/>
          <a:p>
            <a:pPr indent="0" marL="0">
              <a:buNone/>
            </a:pPr>
            <a:r>
              <a:rPr lang="en-US" sz="1000" b="1" dirty="0">
                <a:solidFill>
                  <a:schemeClr val="tx2"/>
                </a:solidFill>
                <a:latin typeface="Courier New" pitchFamily="34" charset="0"/>
                <a:ea typeface="Courier New" pitchFamily="34" charset="-122"/>
                <a:cs typeface="Courier New" pitchFamily="34" charset="-120"/>
              </a:rPr>
              <a:t>BUSINESS</a:t>
            </a:r>
            <a:endParaRPr lang="en-US" sz="1000" dirty="0"/>
          </a:p>
        </p:txBody>
      </p:sp>
      <p:sp>
        <p:nvSpPr>
          <p:cNvPr id="15" name="Text 13"/>
          <p:cNvSpPr txBox="1"/>
          <p:nvPr/>
        </p:nvSpPr>
        <p:spPr>
          <a:xfrm>
            <a:off x="1325880" y="3611880"/>
            <a:ext cx="4389120" cy="292608"/>
          </a:xfrm>
          <a:prstGeom prst="rect">
            <a:avLst/>
          </a:prstGeom>
          <a:noFill/>
          <a:ln/>
        </p:spPr>
        <p:txBody>
          <a:bodyPr wrap="square" lIns="0" tIns="0" rIns="0" bIns="0" rtlCol="0" anchor="t"/>
          <a:lstStyle/>
          <a:p>
            <a:pPr indent="0" marL="0">
              <a:buNone/>
            </a:pPr>
            <a:r>
              <a:rPr lang="en-US" sz="1600" b="1" dirty="0">
                <a:solidFill>
                  <a:schemeClr val="tx1"/>
                </a:solidFill>
              </a:rPr>
              <a:t>Channel order id</a:t>
            </a:r>
            <a:endParaRPr lang="en-US" sz="1600" dirty="0"/>
          </a:p>
        </p:txBody>
      </p:sp>
      <p:sp>
        <p:nvSpPr>
          <p:cNvPr id="16" name="Text 14"/>
          <p:cNvSpPr txBox="1"/>
          <p:nvPr/>
        </p:nvSpPr>
        <p:spPr>
          <a:xfrm>
            <a:off x="1325880" y="3941064"/>
            <a:ext cx="4434840" cy="457200"/>
          </a:xfrm>
          <a:prstGeom prst="rect">
            <a:avLst/>
          </a:prstGeom>
          <a:noFill/>
          <a:ln/>
        </p:spPr>
        <p:txBody>
          <a:bodyPr wrap="square" lIns="0" tIns="0" rIns="0" bIns="0" rtlCol="0" anchor="t"/>
          <a:lstStyle/>
          <a:p>
            <a:pPr indent="0" marL="0">
              <a:buNone/>
            </a:pPr>
            <a:r>
              <a:rPr lang="en-US" sz="1300" dirty="0">
                <a:solidFill>
                  <a:srgbClr val="3D4552"/>
                </a:solidFill>
              </a:rPr>
              <a:t>shop-1001, emag-500123. A redelivery under a new event id is recognised.</a:t>
            </a:r>
            <a:endParaRPr lang="en-US" sz="1300" dirty="0"/>
          </a:p>
        </p:txBody>
      </p:sp>
      <p:sp>
        <p:nvSpPr>
          <p:cNvPr id="17" name="OUTBOUND"/>
          <p:cNvSpPr/>
          <p:nvPr/>
        </p:nvSpPr>
        <p:spPr>
          <a:xfrm>
            <a:off x="548640" y="4617720"/>
            <a:ext cx="5394960" cy="1207008"/>
          </a:xfrm>
          <a:prstGeom prst="roundRect">
            <a:avLst>
              <a:gd name="adj" fmla="val 6061"/>
            </a:avLst>
          </a:prstGeom>
          <a:solidFill>
            <a:schemeClr val="bg1"/>
          </a:solidFill>
          <a:ln w="9525">
            <a:solidFill>
              <a:srgbClr val="E3E6EB"/>
            </a:solidFill>
            <a:prstDash val="solid"/>
          </a:ln>
        </p:spPr>
      </p:sp>
      <p:sp>
        <p:nvSpPr>
          <p:cNvPr id="18" name="step 3"/>
          <p:cNvSpPr/>
          <p:nvPr/>
        </p:nvSpPr>
        <p:spPr>
          <a:xfrm>
            <a:off x="749808" y="4837176"/>
            <a:ext cx="384048" cy="384048"/>
          </a:xfrm>
          <a:prstGeom prst="ellipse">
            <a:avLst/>
          </a:prstGeom>
          <a:solidFill>
            <a:schemeClr val="tx1"/>
          </a:solidFill>
          <a:ln/>
        </p:spPr>
      </p:sp>
      <p:sp>
        <p:nvSpPr>
          <p:cNvPr id="19" name="Text 17"/>
          <p:cNvSpPr txBox="1"/>
          <p:nvPr/>
        </p:nvSpPr>
        <p:spPr>
          <a:xfrm>
            <a:off x="749808" y="483717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0" name="Text 18"/>
          <p:cNvSpPr txBox="1"/>
          <p:nvPr/>
        </p:nvSpPr>
        <p:spPr>
          <a:xfrm>
            <a:off x="1325880" y="4782312"/>
            <a:ext cx="4389120" cy="201168"/>
          </a:xfrm>
          <a:prstGeom prst="rect">
            <a:avLst/>
          </a:prstGeom>
          <a:noFill/>
          <a:ln/>
        </p:spPr>
        <p:txBody>
          <a:bodyPr wrap="square" lIns="0" tIns="0" rIns="0" bIns="0" rtlCol="0" anchor="t"/>
          <a:lstStyle/>
          <a:p>
            <a:pPr indent="0" marL="0">
              <a:buNone/>
            </a:pPr>
            <a:r>
              <a:rPr lang="en-US" sz="1000" b="1" dirty="0">
                <a:solidFill>
                  <a:schemeClr val="tx2"/>
                </a:solidFill>
                <a:latin typeface="Courier New" pitchFamily="34" charset="0"/>
                <a:ea typeface="Courier New" pitchFamily="34" charset="-122"/>
                <a:cs typeface="Courier New" pitchFamily="34" charset="-120"/>
              </a:rPr>
              <a:t>OUTBOUND</a:t>
            </a:r>
            <a:endParaRPr lang="en-US" sz="1000" dirty="0"/>
          </a:p>
        </p:txBody>
      </p:sp>
      <p:sp>
        <p:nvSpPr>
          <p:cNvPr id="21" name="Text 19"/>
          <p:cNvSpPr txBox="1"/>
          <p:nvPr/>
        </p:nvSpPr>
        <p:spPr>
          <a:xfrm>
            <a:off x="1325880" y="4983480"/>
            <a:ext cx="4389120" cy="292608"/>
          </a:xfrm>
          <a:prstGeom prst="rect">
            <a:avLst/>
          </a:prstGeom>
          <a:noFill/>
          <a:ln/>
        </p:spPr>
        <p:txBody>
          <a:bodyPr wrap="square" lIns="0" tIns="0" rIns="0" bIns="0" rtlCol="0" anchor="t"/>
          <a:lstStyle/>
          <a:p>
            <a:pPr indent="0" marL="0">
              <a:buNone/>
            </a:pPr>
            <a:r>
              <a:rPr lang="en-US" sz="1600" b="1" dirty="0">
                <a:solidFill>
                  <a:schemeClr val="tx1"/>
                </a:solidFill>
              </a:rPr>
              <a:t>Idempotency-Key</a:t>
            </a:r>
            <a:endParaRPr lang="en-US" sz="1600" dirty="0"/>
          </a:p>
        </p:txBody>
      </p:sp>
      <p:sp>
        <p:nvSpPr>
          <p:cNvPr id="22" name="Text 20"/>
          <p:cNvSpPr txBox="1"/>
          <p:nvPr/>
        </p:nvSpPr>
        <p:spPr>
          <a:xfrm>
            <a:off x="1325880" y="5312664"/>
            <a:ext cx="4434840" cy="457200"/>
          </a:xfrm>
          <a:prstGeom prst="rect">
            <a:avLst/>
          </a:prstGeom>
          <a:noFill/>
          <a:ln/>
        </p:spPr>
        <p:txBody>
          <a:bodyPr wrap="square" lIns="0" tIns="0" rIns="0" bIns="0" rtlCol="0" anchor="t"/>
          <a:lstStyle/>
          <a:p>
            <a:pPr indent="0" marL="0">
              <a:buNone/>
            </a:pPr>
            <a:r>
              <a:rPr lang="en-US" sz="1300" dirty="0">
                <a:solidFill>
                  <a:srgbClr val="3D4552"/>
                </a:solidFill>
              </a:rPr>
              <a:t>The warehouse replays its first answer, so a lost reply never reserves twice.</a:t>
            </a:r>
            <a:endParaRPr lang="en-US" sz="1300" dirty="0"/>
          </a:p>
        </p:txBody>
      </p:sp>
      <p:sp>
        <p:nvSpPr>
          <p:cNvPr id="23" name="Text 21"/>
          <p:cNvSpPr txBox="1"/>
          <p:nvPr/>
        </p:nvSpPr>
        <p:spPr>
          <a:xfrm>
            <a:off x="6309360" y="1463040"/>
            <a:ext cx="5303520" cy="292608"/>
          </a:xfrm>
          <a:prstGeom prst="rect">
            <a:avLst/>
          </a:prstGeom>
          <a:noFill/>
          <a:ln/>
        </p:spPr>
        <p:txBody>
          <a:bodyPr wrap="square" lIns="0" tIns="0" rIns="0" bIns="0" rtlCol="0" anchor="t"/>
          <a:lstStyle/>
          <a:p>
            <a:pPr indent="0" marL="0">
              <a:buNone/>
            </a:pPr>
            <a:r>
              <a:rPr lang="en-US" sz="1600" b="1" dirty="0">
                <a:solidFill>
                  <a:schemeClr val="tx1"/>
                </a:solidFill>
              </a:rPr>
              <a:t>Security</a:t>
            </a:r>
            <a:endParaRPr lang="en-US" sz="1600" dirty="0"/>
          </a:p>
        </p:txBody>
      </p:sp>
      <p:sp>
        <p:nvSpPr>
          <p:cNvPr id="24" name="Text 22"/>
          <p:cNvSpPr txBox="1"/>
          <p:nvPr/>
        </p:nvSpPr>
        <p:spPr>
          <a:xfrm>
            <a:off x="6309360" y="1874520"/>
            <a:ext cx="5330952" cy="411480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Signed webhooks: </a:t>
            </a:r>
            <a:r>
              <a:rPr lang="en-US" sz="1400" dirty="0">
                <a:solidFill>
                  <a:srgbClr val="3D4552"/>
                </a:solidFill>
              </a:rPr>
              <a:t>HMAC-SHA256 over the event id and the body, one secret per source, constant-time compare</a:t>
            </a:r>
            <a:endParaRPr lang="en-US" sz="1400" dirty="0"/>
          </a:p>
          <a:p>
            <a:pPr marL="177800" indent="-177800">
              <a:spcAft>
                <a:spcPts val="800"/>
              </a:spcAft>
              <a:buSzPct val="100000"/>
              <a:buChar char="•"/>
            </a:pPr>
            <a:r>
              <a:rPr lang="en-US" sz="1400" b="1" dirty="0">
                <a:solidFill>
                  <a:schemeClr val="tx1"/>
                </a:solidFill>
              </a:rPr>
              <a:t>Bound to the source: </a:t>
            </a:r>
            <a:r>
              <a:rPr lang="en-US" sz="1400" dirty="0">
                <a:solidFill>
                  <a:srgbClr val="3D4552"/>
                </a:solidFill>
              </a:rPr>
              <a:t>each source may send only its own event types; the shop cannot send an eMAG order</a:t>
            </a:r>
            <a:endParaRPr lang="en-US" sz="1400" dirty="0"/>
          </a:p>
          <a:p>
            <a:pPr marL="177800" indent="-177800">
              <a:spcAft>
                <a:spcPts val="800"/>
              </a:spcAft>
              <a:buSzPct val="100000"/>
              <a:buChar char="•"/>
            </a:pPr>
            <a:r>
              <a:rPr lang="en-US" sz="1400" b="1" dirty="0">
                <a:solidFill>
                  <a:schemeClr val="tx1"/>
                </a:solidFill>
              </a:rPr>
              <a:t>Strict models: </a:t>
            </a:r>
            <a:r>
              <a:rPr lang="en-US" sz="1400" dirty="0">
                <a:solidFill>
                  <a:srgbClr val="3D4552"/>
                </a:solidFill>
              </a:rPr>
              <a:t>a bad payload gets 422 and an audit row, and never reaches the inbox</a:t>
            </a:r>
            <a:endParaRPr lang="en-US" sz="1400" dirty="0"/>
          </a:p>
          <a:p>
            <a:pPr marL="177800" indent="-177800">
              <a:spcAft>
                <a:spcPts val="800"/>
              </a:spcAft>
              <a:buSzPct val="100000"/>
              <a:buChar char="•"/>
            </a:pPr>
            <a:r>
              <a:rPr lang="en-US" sz="1400" b="1" dirty="0">
                <a:solidFill>
                  <a:schemeClr val="tx1"/>
                </a:solidFill>
              </a:rPr>
              <a:t>Roles on every route: </a:t>
            </a:r>
            <a:r>
              <a:rPr lang="en-US" sz="1400" dirty="0">
                <a:solidFill>
                  <a:srgbClr val="3D4552"/>
                </a:solidFill>
              </a:rPr>
              <a:t>viewer reads; operator decides and asks; admin changes rules and settings</a:t>
            </a:r>
            <a:endParaRPr lang="en-US" sz="1400" dirty="0"/>
          </a:p>
          <a:p>
            <a:pPr marL="177800" indent="-177800">
              <a:spcAft>
                <a:spcPts val="800"/>
              </a:spcAft>
              <a:buSzPct val="100000"/>
              <a:buChar char="•"/>
            </a:pPr>
            <a:r>
              <a:rPr lang="en-US" sz="1400" b="1" dirty="0">
                <a:solidFill>
                  <a:schemeClr val="tx1"/>
                </a:solidFill>
              </a:rPr>
              <a:t>Cross-site guard: </a:t>
            </a:r>
            <a:r>
              <a:rPr lang="en-US" sz="1400" dirty="0">
                <a:solidFill>
                  <a:srgbClr val="3D4552"/>
                </a:solidFill>
              </a:rPr>
              <a:t>every change needs the X-Glue-Request header and a matching Origin</a:t>
            </a:r>
            <a:endParaRPr lang="en-US" sz="1400" dirty="0"/>
          </a:p>
          <a:p>
            <a:pPr marL="177800" indent="-177800">
              <a:spcAft>
                <a:spcPts val="800"/>
              </a:spcAft>
              <a:buSzPct val="100000"/>
              <a:buChar char="•"/>
            </a:pPr>
            <a:r>
              <a:rPr lang="en-US" sz="1400" b="1" dirty="0">
                <a:solidFill>
                  <a:schemeClr val="tx1"/>
                </a:solidFill>
              </a:rPr>
              <a:t>Session cookie: </a:t>
            </a:r>
            <a:r>
              <a:rPr lang="en-US" sz="1400" dirty="0">
                <a:solidFill>
                  <a:srgbClr val="3D4552"/>
                </a:solidFill>
              </a:rPr>
              <a:t>HMAC-signed, HttpOnly, SameSite=Lax, 12 hours</a:t>
            </a:r>
            <a:endParaRPr lang="en-US" sz="14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OPERATIONS</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Observability: what on-call looks at</a:t>
            </a:r>
            <a:endParaRPr lang="en-US" sz="3200" dirty="0"/>
          </a:p>
        </p:txBody>
      </p:sp>
      <p:sp>
        <p:nvSpPr>
          <p:cNvPr id="4" name="Text 2"/>
          <p:cNvSpPr txBox="1"/>
          <p:nvPr/>
        </p:nvSpPr>
        <p:spPr>
          <a:xfrm>
            <a:off x="548640" y="1463040"/>
            <a:ext cx="11094415" cy="274320"/>
          </a:xfrm>
          <a:prstGeom prst="rect">
            <a:avLst/>
          </a:prstGeom>
          <a:noFill/>
          <a:ln/>
        </p:spPr>
        <p:txBody>
          <a:bodyPr wrap="square" lIns="0" tIns="0" rIns="0" bIns="0" rtlCol="0" anchor="t"/>
          <a:lstStyle/>
          <a:p>
            <a:pPr indent="0" marL="0">
              <a:buNone/>
            </a:pPr>
            <a:r>
              <a:rPr lang="en-US" sz="1500" b="1" dirty="0">
                <a:solidFill>
                  <a:schemeClr val="tx1"/>
                </a:solidFill>
              </a:rPr>
              <a:t>Gauges on GET /metrics</a:t>
            </a:r>
            <a:r>
              <a:rPr lang="en-US" sz="1300" dirty="0">
                <a:solidFill>
                  <a:schemeClr val="tx2"/>
                </a:solidFill>
              </a:rPr>
              <a:t>   signed in; /health stays a liveness check on the database</a:t>
            </a:r>
            <a:endParaRPr lang="en-US" sz="1500" dirty="0"/>
          </a:p>
        </p:txBody>
      </p:sp>
      <p:sp>
        <p:nvSpPr>
          <p:cNvPr id="5" name="Oldest pending event"/>
          <p:cNvSpPr/>
          <p:nvPr/>
        </p:nvSpPr>
        <p:spPr>
          <a:xfrm>
            <a:off x="548640" y="1828800"/>
            <a:ext cx="2103120" cy="960120"/>
          </a:xfrm>
          <a:prstGeom prst="roundRect">
            <a:avLst>
              <a:gd name="adj" fmla="val 7619"/>
            </a:avLst>
          </a:prstGeom>
          <a:solidFill>
            <a:schemeClr val="bg1"/>
          </a:solidFill>
          <a:ln w="9525">
            <a:solidFill>
              <a:srgbClr val="E3E6EB"/>
            </a:solidFill>
            <a:prstDash val="solid"/>
          </a:ln>
        </p:spPr>
      </p:sp>
      <p:sp>
        <p:nvSpPr>
          <p:cNvPr id="6" name="Text 4"/>
          <p:cNvSpPr txBox="1"/>
          <p:nvPr/>
        </p:nvSpPr>
        <p:spPr>
          <a:xfrm>
            <a:off x="694944" y="1938528"/>
            <a:ext cx="1828800" cy="411480"/>
          </a:xfrm>
          <a:prstGeom prst="rect">
            <a:avLst/>
          </a:prstGeom>
          <a:noFill/>
          <a:ln/>
        </p:spPr>
        <p:txBody>
          <a:bodyPr wrap="square" lIns="0" tIns="0" rIns="0" bIns="0" rtlCol="0" anchor="t"/>
          <a:lstStyle/>
          <a:p>
            <a:pPr indent="0" marL="0">
              <a:buNone/>
            </a:pPr>
            <a:r>
              <a:rPr lang="en-US" sz="1300" b="1" dirty="0">
                <a:solidFill>
                  <a:schemeClr val="tx1"/>
                </a:solidFill>
              </a:rPr>
              <a:t>Oldest pending event</a:t>
            </a:r>
            <a:endParaRPr lang="en-US" sz="1300" dirty="0"/>
          </a:p>
        </p:txBody>
      </p:sp>
      <p:sp>
        <p:nvSpPr>
          <p:cNvPr id="7" name="Text 5"/>
          <p:cNvSpPr txBox="1"/>
          <p:nvPr/>
        </p:nvSpPr>
        <p:spPr>
          <a:xfrm>
            <a:off x="694944" y="2359152"/>
            <a:ext cx="1828800" cy="384048"/>
          </a:xfrm>
          <a:prstGeom prst="rect">
            <a:avLst/>
          </a:prstGeom>
          <a:noFill/>
          <a:ln/>
        </p:spPr>
        <p:txBody>
          <a:bodyPr wrap="square" lIns="0" tIns="0" rIns="0" bIns="0" rtlCol="0" anchor="t"/>
          <a:lstStyle/>
          <a:p>
            <a:pPr indent="0" marL="0">
              <a:buNone/>
            </a:pPr>
            <a:r>
              <a:rPr lang="en-US" sz="1100" dirty="0">
                <a:solidFill>
                  <a:schemeClr val="tx2"/>
                </a:solidFill>
              </a:rPr>
              <a:t>the worker is keeping up</a:t>
            </a:r>
            <a:endParaRPr lang="en-US" sz="1100" dirty="0"/>
          </a:p>
        </p:txBody>
      </p:sp>
      <p:sp>
        <p:nvSpPr>
          <p:cNvPr id="8" name="Channel behind"/>
          <p:cNvSpPr/>
          <p:nvPr/>
        </p:nvSpPr>
        <p:spPr>
          <a:xfrm>
            <a:off x="2788920" y="1828800"/>
            <a:ext cx="2103120" cy="960120"/>
          </a:xfrm>
          <a:prstGeom prst="roundRect">
            <a:avLst>
              <a:gd name="adj" fmla="val 7619"/>
            </a:avLst>
          </a:prstGeom>
          <a:solidFill>
            <a:schemeClr val="bg1"/>
          </a:solidFill>
          <a:ln w="9525">
            <a:solidFill>
              <a:srgbClr val="E3E6EB"/>
            </a:solidFill>
            <a:prstDash val="solid"/>
          </a:ln>
        </p:spPr>
      </p:sp>
      <p:sp>
        <p:nvSpPr>
          <p:cNvPr id="9" name="Text 7"/>
          <p:cNvSpPr txBox="1"/>
          <p:nvPr/>
        </p:nvSpPr>
        <p:spPr>
          <a:xfrm>
            <a:off x="2935224" y="1938528"/>
            <a:ext cx="1828800" cy="411480"/>
          </a:xfrm>
          <a:prstGeom prst="rect">
            <a:avLst/>
          </a:prstGeom>
          <a:noFill/>
          <a:ln/>
        </p:spPr>
        <p:txBody>
          <a:bodyPr wrap="square" lIns="0" tIns="0" rIns="0" bIns="0" rtlCol="0" anchor="t"/>
          <a:lstStyle/>
          <a:p>
            <a:pPr indent="0" marL="0">
              <a:buNone/>
            </a:pPr>
            <a:r>
              <a:rPr lang="en-US" sz="1300" b="1" dirty="0">
                <a:solidFill>
                  <a:schemeClr val="tx1"/>
                </a:solidFill>
              </a:rPr>
              <a:t>Channel behind</a:t>
            </a:r>
            <a:endParaRPr lang="en-US" sz="1300" dirty="0"/>
          </a:p>
        </p:txBody>
      </p:sp>
      <p:sp>
        <p:nvSpPr>
          <p:cNvPr id="10" name="Text 8"/>
          <p:cNvSpPr txBox="1"/>
          <p:nvPr/>
        </p:nvSpPr>
        <p:spPr>
          <a:xfrm>
            <a:off x="2935224" y="2359152"/>
            <a:ext cx="1828800" cy="384048"/>
          </a:xfrm>
          <a:prstGeom prst="rect">
            <a:avLst/>
          </a:prstGeom>
          <a:noFill/>
          <a:ln/>
        </p:spPr>
        <p:txBody>
          <a:bodyPr wrap="square" lIns="0" tIns="0" rIns="0" bIns="0" rtlCol="0" anchor="t"/>
          <a:lstStyle/>
          <a:p>
            <a:pPr indent="0" marL="0">
              <a:buNone/>
            </a:pPr>
            <a:r>
              <a:rPr lang="en-US" sz="1100" dirty="0">
                <a:solidFill>
                  <a:schemeClr val="tx2"/>
                </a:solidFill>
              </a:rPr>
              <a:t>how long since a channel took our figure</a:t>
            </a:r>
            <a:endParaRPr lang="en-US" sz="1100" dirty="0"/>
          </a:p>
        </p:txBody>
      </p:sp>
      <p:sp>
        <p:nvSpPr>
          <p:cNvPr id="11" name="Oldest review item"/>
          <p:cNvSpPr/>
          <p:nvPr/>
        </p:nvSpPr>
        <p:spPr>
          <a:xfrm>
            <a:off x="5029200" y="1828800"/>
            <a:ext cx="2103120" cy="960120"/>
          </a:xfrm>
          <a:prstGeom prst="roundRect">
            <a:avLst>
              <a:gd name="adj" fmla="val 7619"/>
            </a:avLst>
          </a:prstGeom>
          <a:solidFill>
            <a:schemeClr val="bg1"/>
          </a:solidFill>
          <a:ln w="9525">
            <a:solidFill>
              <a:srgbClr val="E3E6EB"/>
            </a:solidFill>
            <a:prstDash val="solid"/>
          </a:ln>
        </p:spPr>
      </p:sp>
      <p:sp>
        <p:nvSpPr>
          <p:cNvPr id="12" name="Text 10"/>
          <p:cNvSpPr txBox="1"/>
          <p:nvPr/>
        </p:nvSpPr>
        <p:spPr>
          <a:xfrm>
            <a:off x="5175504" y="1938528"/>
            <a:ext cx="1828800" cy="411480"/>
          </a:xfrm>
          <a:prstGeom prst="rect">
            <a:avLst/>
          </a:prstGeom>
          <a:noFill/>
          <a:ln/>
        </p:spPr>
        <p:txBody>
          <a:bodyPr wrap="square" lIns="0" tIns="0" rIns="0" bIns="0" rtlCol="0" anchor="t"/>
          <a:lstStyle/>
          <a:p>
            <a:pPr indent="0" marL="0">
              <a:buNone/>
            </a:pPr>
            <a:r>
              <a:rPr lang="en-US" sz="1300" b="1" dirty="0">
                <a:solidFill>
                  <a:schemeClr val="tx1"/>
                </a:solidFill>
              </a:rPr>
              <a:t>Oldest review item</a:t>
            </a:r>
            <a:endParaRPr lang="en-US" sz="1300" dirty="0"/>
          </a:p>
        </p:txBody>
      </p:sp>
      <p:sp>
        <p:nvSpPr>
          <p:cNvPr id="13" name="Text 11"/>
          <p:cNvSpPr txBox="1"/>
          <p:nvPr/>
        </p:nvSpPr>
        <p:spPr>
          <a:xfrm>
            <a:off x="5175504" y="2359152"/>
            <a:ext cx="1828800" cy="384048"/>
          </a:xfrm>
          <a:prstGeom prst="rect">
            <a:avLst/>
          </a:prstGeom>
          <a:noFill/>
          <a:ln/>
        </p:spPr>
        <p:txBody>
          <a:bodyPr wrap="square" lIns="0" tIns="0" rIns="0" bIns="0" rtlCol="0" anchor="t"/>
          <a:lstStyle/>
          <a:p>
            <a:pPr indent="0" marL="0">
              <a:buNone/>
            </a:pPr>
            <a:r>
              <a:rPr lang="en-US" sz="1100" dirty="0">
                <a:solidFill>
                  <a:schemeClr val="tx2"/>
                </a:solidFill>
              </a:rPr>
              <a:t>a paid order waits for a person</a:t>
            </a:r>
            <a:endParaRPr lang="en-US" sz="1100" dirty="0"/>
          </a:p>
        </p:txBody>
      </p:sp>
      <p:sp>
        <p:nvSpPr>
          <p:cNvPr id="14" name="Warehouse down"/>
          <p:cNvSpPr/>
          <p:nvPr/>
        </p:nvSpPr>
        <p:spPr>
          <a:xfrm>
            <a:off x="7269480" y="1828800"/>
            <a:ext cx="2103120" cy="960120"/>
          </a:xfrm>
          <a:prstGeom prst="roundRect">
            <a:avLst>
              <a:gd name="adj" fmla="val 7619"/>
            </a:avLst>
          </a:prstGeom>
          <a:solidFill>
            <a:schemeClr val="bg1"/>
          </a:solidFill>
          <a:ln w="9525">
            <a:solidFill>
              <a:srgbClr val="E3E6EB"/>
            </a:solidFill>
            <a:prstDash val="solid"/>
          </a:ln>
        </p:spPr>
      </p:sp>
      <p:sp>
        <p:nvSpPr>
          <p:cNvPr id="15" name="Text 13"/>
          <p:cNvSpPr txBox="1"/>
          <p:nvPr/>
        </p:nvSpPr>
        <p:spPr>
          <a:xfrm>
            <a:off x="7415784" y="1938528"/>
            <a:ext cx="1828800" cy="411480"/>
          </a:xfrm>
          <a:prstGeom prst="rect">
            <a:avLst/>
          </a:prstGeom>
          <a:noFill/>
          <a:ln/>
        </p:spPr>
        <p:txBody>
          <a:bodyPr wrap="square" lIns="0" tIns="0" rIns="0" bIns="0" rtlCol="0" anchor="t"/>
          <a:lstStyle/>
          <a:p>
            <a:pPr indent="0" marL="0">
              <a:buNone/>
            </a:pPr>
            <a:r>
              <a:rPr lang="en-US" sz="1300" b="1" dirty="0">
                <a:solidFill>
                  <a:schemeClr val="tx1"/>
                </a:solidFill>
              </a:rPr>
              <a:t>Warehouse down</a:t>
            </a:r>
            <a:endParaRPr lang="en-US" sz="1300" dirty="0"/>
          </a:p>
        </p:txBody>
      </p:sp>
      <p:sp>
        <p:nvSpPr>
          <p:cNvPr id="16" name="Text 14"/>
          <p:cNvSpPr txBox="1"/>
          <p:nvPr/>
        </p:nvSpPr>
        <p:spPr>
          <a:xfrm>
            <a:off x="7415784" y="2359152"/>
            <a:ext cx="1828800" cy="384048"/>
          </a:xfrm>
          <a:prstGeom prst="rect">
            <a:avLst/>
          </a:prstGeom>
          <a:noFill/>
          <a:ln/>
        </p:spPr>
        <p:txBody>
          <a:bodyPr wrap="square" lIns="0" tIns="0" rIns="0" bIns="0" rtlCol="0" anchor="t"/>
          <a:lstStyle/>
          <a:p>
            <a:pPr indent="0" marL="0">
              <a:buNone/>
            </a:pPr>
            <a:r>
              <a:rPr lang="en-US" sz="1100" dirty="0">
                <a:solidFill>
                  <a:schemeClr val="tx2"/>
                </a:solidFill>
              </a:rPr>
              <a:t>orders cannot be reserved</a:t>
            </a:r>
            <a:endParaRPr lang="en-US" sz="1100" dirty="0"/>
          </a:p>
        </p:txBody>
      </p:sp>
      <p:sp>
        <p:nvSpPr>
          <p:cNvPr id="17" name="Last good reconcile"/>
          <p:cNvSpPr/>
          <p:nvPr/>
        </p:nvSpPr>
        <p:spPr>
          <a:xfrm>
            <a:off x="9509760" y="1828800"/>
            <a:ext cx="2103120" cy="960120"/>
          </a:xfrm>
          <a:prstGeom prst="roundRect">
            <a:avLst>
              <a:gd name="adj" fmla="val 7619"/>
            </a:avLst>
          </a:prstGeom>
          <a:solidFill>
            <a:schemeClr val="bg1"/>
          </a:solidFill>
          <a:ln w="9525">
            <a:solidFill>
              <a:srgbClr val="E3E6EB"/>
            </a:solidFill>
            <a:prstDash val="solid"/>
          </a:ln>
        </p:spPr>
      </p:sp>
      <p:sp>
        <p:nvSpPr>
          <p:cNvPr id="18" name="Text 16"/>
          <p:cNvSpPr txBox="1"/>
          <p:nvPr/>
        </p:nvSpPr>
        <p:spPr>
          <a:xfrm>
            <a:off x="9656064" y="1938528"/>
            <a:ext cx="1828800" cy="411480"/>
          </a:xfrm>
          <a:prstGeom prst="rect">
            <a:avLst/>
          </a:prstGeom>
          <a:noFill/>
          <a:ln/>
        </p:spPr>
        <p:txBody>
          <a:bodyPr wrap="square" lIns="0" tIns="0" rIns="0" bIns="0" rtlCol="0" anchor="t"/>
          <a:lstStyle/>
          <a:p>
            <a:pPr indent="0" marL="0">
              <a:buNone/>
            </a:pPr>
            <a:r>
              <a:rPr lang="en-US" sz="1300" b="1" dirty="0">
                <a:solidFill>
                  <a:schemeClr val="tx1"/>
                </a:solidFill>
              </a:rPr>
              <a:t>Last good reconcile</a:t>
            </a:r>
            <a:endParaRPr lang="en-US" sz="1300" dirty="0"/>
          </a:p>
        </p:txBody>
      </p:sp>
      <p:sp>
        <p:nvSpPr>
          <p:cNvPr id="19" name="Text 17"/>
          <p:cNvSpPr txBox="1"/>
          <p:nvPr/>
        </p:nvSpPr>
        <p:spPr>
          <a:xfrm>
            <a:off x="9656064" y="2359152"/>
            <a:ext cx="1828800" cy="384048"/>
          </a:xfrm>
          <a:prstGeom prst="rect">
            <a:avLst/>
          </a:prstGeom>
          <a:noFill/>
          <a:ln/>
        </p:spPr>
        <p:txBody>
          <a:bodyPr wrap="square" lIns="0" tIns="0" rIns="0" bIns="0" rtlCol="0" anchor="t"/>
          <a:lstStyle/>
          <a:p>
            <a:pPr indent="0" marL="0">
              <a:buNone/>
            </a:pPr>
            <a:r>
              <a:rPr lang="en-US" sz="1100" dirty="0">
                <a:solidFill>
                  <a:schemeClr val="tx2"/>
                </a:solidFill>
              </a:rPr>
              <a:t>channels show fresh stock</a:t>
            </a:r>
            <a:endParaRPr lang="en-US" sz="1100" dirty="0"/>
          </a:p>
        </p:txBody>
      </p:sp>
      <p:sp>
        <p:nvSpPr>
          <p:cNvPr id="20" name="Text 18"/>
          <p:cNvSpPr txBox="1"/>
          <p:nvPr/>
        </p:nvSpPr>
        <p:spPr>
          <a:xfrm>
            <a:off x="548640" y="3108960"/>
            <a:ext cx="5120640" cy="274320"/>
          </a:xfrm>
          <a:prstGeom prst="rect">
            <a:avLst/>
          </a:prstGeom>
          <a:noFill/>
          <a:ln/>
        </p:spPr>
        <p:txBody>
          <a:bodyPr wrap="square" lIns="0" tIns="0" rIns="0" bIns="0" rtlCol="0" anchor="t"/>
          <a:lstStyle/>
          <a:p>
            <a:pPr indent="0" marL="0">
              <a:buNone/>
            </a:pPr>
            <a:r>
              <a:rPr lang="en-US" sz="1500" b="1" dirty="0">
                <a:solidFill>
                  <a:schemeClr val="tx1"/>
                </a:solidFill>
              </a:rPr>
              <a:t>Where to look</a:t>
            </a:r>
            <a:endParaRPr lang="en-US" sz="1500" dirty="0"/>
          </a:p>
        </p:txBody>
      </p:sp>
      <p:sp>
        <p:nvSpPr>
          <p:cNvPr id="21" name="Text 19"/>
          <p:cNvSpPr txBox="1"/>
          <p:nvPr/>
        </p:nvSpPr>
        <p:spPr>
          <a:xfrm>
            <a:off x="548640" y="3456432"/>
            <a:ext cx="5120640" cy="1737360"/>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System states: </a:t>
            </a:r>
            <a:r>
              <a:rPr lang="en-US" sz="1300" dirty="0">
                <a:solidFill>
                  <a:srgbClr val="3D4552"/>
                </a:solidFill>
              </a:rPr>
              <a:t>working, slow, limiting requests, not answering</a:t>
            </a:r>
            <a:endParaRPr lang="en-US" sz="1300" dirty="0"/>
          </a:p>
          <a:p>
            <a:pPr marL="177800" indent="-177800">
              <a:spcAft>
                <a:spcPts val="500"/>
              </a:spcAft>
              <a:buSzPct val="100000"/>
              <a:buChar char="•"/>
            </a:pPr>
            <a:r>
              <a:rPr lang="en-US" sz="1300" b="1" dirty="0">
                <a:solidFill>
                  <a:srgbClr val="3D4552"/>
                </a:solidFill>
              </a:rPr>
              <a:t>Order timeline: </a:t>
            </a:r>
            <a:r>
              <a:rPr lang="en-US" sz="1300" dirty="0">
                <a:solidFill>
                  <a:srgbClr val="3D4552"/>
                </a:solidFill>
              </a:rPr>
              <a:t>every step of one order, in plain words</a:t>
            </a:r>
            <a:endParaRPr lang="en-US" sz="1300" dirty="0"/>
          </a:p>
          <a:p>
            <a:pPr marL="177800" indent="-177800">
              <a:spcAft>
                <a:spcPts val="500"/>
              </a:spcAft>
              <a:buSzPct val="100000"/>
              <a:buChar char="•"/>
            </a:pPr>
            <a:r>
              <a:rPr lang="en-US" sz="1300" b="1" dirty="0">
                <a:solidFill>
                  <a:srgbClr val="3D4552"/>
                </a:solidFill>
              </a:rPr>
              <a:t>Activity log: </a:t>
            </a:r>
            <a:r>
              <a:rPr lang="en-US" sz="1300" dirty="0">
                <a:solidFill>
                  <a:srgbClr val="3D4552"/>
                </a:solidFill>
              </a:rPr>
              <a:t>filter by kind, order, product or correlation id</a:t>
            </a:r>
            <a:endParaRPr lang="en-US" sz="1300" dirty="0"/>
          </a:p>
          <a:p>
            <a:pPr marL="177800" indent="-177800">
              <a:spcAft>
                <a:spcPts val="500"/>
              </a:spcAft>
              <a:buSzPct val="100000"/>
              <a:buChar char="•"/>
            </a:pPr>
            <a:r>
              <a:rPr lang="en-US" sz="1300" b="1" dirty="0">
                <a:solidFill>
                  <a:srgbClr val="3D4552"/>
                </a:solidFill>
              </a:rPr>
              <a:t>JSON logs: </a:t>
            </a:r>
            <a:r>
              <a:rPr lang="en-US" sz="1300" dirty="0">
                <a:solidFill>
                  <a:srgbClr val="3D4552"/>
                </a:solidFill>
              </a:rPr>
              <a:t>each audit row, with the raw error</a:t>
            </a:r>
            <a:endParaRPr lang="en-US" sz="1300" dirty="0"/>
          </a:p>
          <a:p>
            <a:pPr marL="177800" indent="-177800">
              <a:spcAft>
                <a:spcPts val="500"/>
              </a:spcAft>
              <a:buSzPct val="100000"/>
              <a:buChar char="•"/>
            </a:pPr>
            <a:r>
              <a:rPr lang="en-US" sz="1300" b="1" dirty="0">
                <a:solidFill>
                  <a:srgbClr val="3D4552"/>
                </a:solidFill>
              </a:rPr>
              <a:t>Flow: </a:t>
            </a:r>
            <a:r>
              <a:rPr lang="en-US" sz="1300" dirty="0">
                <a:solidFill>
                  <a:srgbClr val="3D4552"/>
                </a:solidFill>
              </a:rPr>
              <a:t>time to reserve, problems per day, orders lost</a:t>
            </a:r>
            <a:endParaRPr lang="en-US" sz="1300" dirty="0"/>
          </a:p>
        </p:txBody>
      </p:sp>
      <p:sp>
        <p:nvSpPr>
          <p:cNvPr id="22" name="log sample"/>
          <p:cNvSpPr/>
          <p:nvPr/>
        </p:nvSpPr>
        <p:spPr>
          <a:xfrm>
            <a:off x="548640" y="5257800"/>
            <a:ext cx="5120640" cy="731520"/>
          </a:xfrm>
          <a:prstGeom prst="roundRect">
            <a:avLst>
              <a:gd name="adj" fmla="val 10000"/>
            </a:avLst>
          </a:prstGeom>
          <a:solidFill>
            <a:srgbClr val="F1F3F6"/>
          </a:solidFill>
          <a:ln/>
        </p:spPr>
      </p:sp>
      <p:sp>
        <p:nvSpPr>
          <p:cNvPr id="23" name="Text 21"/>
          <p:cNvSpPr txBox="1"/>
          <p:nvPr/>
        </p:nvSpPr>
        <p:spPr>
          <a:xfrm>
            <a:off x="685800" y="5257800"/>
            <a:ext cx="4892040" cy="731520"/>
          </a:xfrm>
          <a:prstGeom prst="rect">
            <a:avLst/>
          </a:prstGeom>
          <a:noFill/>
          <a:ln/>
        </p:spPr>
        <p:txBody>
          <a:bodyPr wrap="square" lIns="0" tIns="0" rIns="0" bIns="0" rtlCol="0" anchor="ctr"/>
          <a:lstStyle/>
          <a:p>
            <a:pPr indent="0" marL="0">
              <a:buNone/>
            </a:pPr>
            <a:r>
              <a:rPr lang="en-US" sz="1000" b="1" dirty="0">
                <a:solidFill>
                  <a:schemeClr val="tx1"/>
                </a:solidFill>
                <a:latin typeface="Courier New" pitchFamily="34" charset="0"/>
                <a:ea typeface="Courier New" pitchFamily="34" charset="-122"/>
                <a:cs typeface="Courier New" pitchFamily="34" charset="-120"/>
              </a:rPr>
              <a:t>$ docker compose logs glue | grep emag-notify-500123-new</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{"action": "order_allocated", "entity_id": "emag-500123", ...}</a:t>
            </a:r>
            <a:endParaRPr lang="en-US" sz="1000" dirty="0"/>
          </a:p>
        </p:txBody>
      </p:sp>
      <p:sp>
        <p:nvSpPr>
          <p:cNvPr id="24" name="alerts"/>
          <p:cNvSpPr/>
          <p:nvPr/>
        </p:nvSpPr>
        <p:spPr>
          <a:xfrm>
            <a:off x="5989320" y="3108960"/>
            <a:ext cx="5650992" cy="2880360"/>
          </a:xfrm>
          <a:prstGeom prst="roundRect">
            <a:avLst>
              <a:gd name="adj" fmla="val 2540"/>
            </a:avLst>
          </a:prstGeom>
          <a:solidFill>
            <a:schemeClr val="bg2"/>
          </a:solidFill>
          <a:ln/>
        </p:spPr>
      </p:sp>
      <p:sp>
        <p:nvSpPr>
          <p:cNvPr id="25" name="Text 23"/>
          <p:cNvSpPr txBox="1"/>
          <p:nvPr/>
        </p:nvSpPr>
        <p:spPr>
          <a:xfrm>
            <a:off x="6217920" y="3273552"/>
            <a:ext cx="5212080" cy="274320"/>
          </a:xfrm>
          <a:prstGeom prst="rect">
            <a:avLst/>
          </a:prstGeom>
          <a:noFill/>
          <a:ln/>
        </p:spPr>
        <p:txBody>
          <a:bodyPr wrap="square" lIns="0" tIns="0" rIns="0" bIns="0" rtlCol="0" anchor="t"/>
          <a:lstStyle/>
          <a:p>
            <a:pPr indent="0" marL="0">
              <a:buNone/>
            </a:pPr>
            <a:r>
              <a:rPr lang="en-US" sz="1500" b="1" dirty="0">
                <a:solidFill>
                  <a:schemeClr val="tx1"/>
                </a:solidFill>
              </a:rPr>
              <a:t>Alerts I would set, as sentences</a:t>
            </a:r>
            <a:endParaRPr lang="en-US" sz="1500" dirty="0"/>
          </a:p>
        </p:txBody>
      </p:sp>
      <p:sp>
        <p:nvSpPr>
          <p:cNvPr id="26" name="Text 24"/>
          <p:cNvSpPr txBox="1"/>
          <p:nvPr/>
        </p:nvSpPr>
        <p:spPr>
          <a:xfrm>
            <a:off x="6217920" y="3639312"/>
            <a:ext cx="5257800" cy="1920240"/>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Page: </a:t>
            </a:r>
            <a:r>
              <a:rPr lang="en-US" sz="1300" dirty="0">
                <a:solidFill>
                  <a:srgbClr val="3D4552"/>
                </a:solidFill>
              </a:rPr>
              <a:t>oldest pending event older than 60 s</a:t>
            </a:r>
            <a:endParaRPr lang="en-US" sz="1300" dirty="0"/>
          </a:p>
          <a:p>
            <a:pPr marL="177800" indent="-177800">
              <a:spcAft>
                <a:spcPts val="400"/>
              </a:spcAft>
              <a:buSzPct val="100000"/>
              <a:buChar char="•"/>
            </a:pPr>
            <a:r>
              <a:rPr lang="en-US" sz="1300" b="1" dirty="0">
                <a:solidFill>
                  <a:srgbClr val="3D4552"/>
                </a:solidFill>
              </a:rPr>
              <a:t>Page: </a:t>
            </a:r>
            <a:r>
              <a:rPr lang="en-US" sz="1300" dirty="0">
                <a:solidFill>
                  <a:srgbClr val="3D4552"/>
                </a:solidFill>
              </a:rPr>
              <a:t>warehouse down for more than 5 min</a:t>
            </a:r>
            <a:endParaRPr lang="en-US" sz="1300" dirty="0"/>
          </a:p>
          <a:p>
            <a:pPr marL="177800" indent="-177800">
              <a:spcAft>
                <a:spcPts val="400"/>
              </a:spcAft>
              <a:buSzPct val="100000"/>
              <a:buChar char="•"/>
            </a:pPr>
            <a:r>
              <a:rPr lang="en-US" sz="1300" b="1" dirty="0">
                <a:solidFill>
                  <a:srgbClr val="3D4552"/>
                </a:solidFill>
              </a:rPr>
              <a:t>Page: </a:t>
            </a:r>
            <a:r>
              <a:rPr lang="en-US" sz="1300" dirty="0">
                <a:solidFill>
                  <a:srgbClr val="3D4552"/>
                </a:solidFill>
              </a:rPr>
              <a:t>no good reconcile in 3 intervals, warehouse up</a:t>
            </a:r>
            <a:endParaRPr lang="en-US" sz="1300" dirty="0"/>
          </a:p>
          <a:p>
            <a:pPr marL="177800" indent="-177800">
              <a:spcAft>
                <a:spcPts val="400"/>
              </a:spcAft>
              <a:buSzPct val="100000"/>
              <a:buChar char="•"/>
            </a:pPr>
            <a:r>
              <a:rPr lang="en-US" sz="1300" b="1" dirty="0">
                <a:solidFill>
                  <a:srgbClr val="3D4552"/>
                </a:solidFill>
              </a:rPr>
              <a:t>Warn: </a:t>
            </a:r>
            <a:r>
              <a:rPr lang="en-US" sz="1300" dirty="0">
                <a:solidFill>
                  <a:srgbClr val="3D4552"/>
                </a:solidFill>
              </a:rPr>
              <a:t>a channel's stock behind for more than 5 min</a:t>
            </a:r>
            <a:endParaRPr lang="en-US" sz="1300" dirty="0"/>
          </a:p>
          <a:p>
            <a:pPr marL="177800" indent="-177800">
              <a:spcAft>
                <a:spcPts val="400"/>
              </a:spcAft>
              <a:buSzPct val="100000"/>
              <a:buChar char="•"/>
            </a:pPr>
            <a:r>
              <a:rPr lang="en-US" sz="1300" b="1" dirty="0">
                <a:solidFill>
                  <a:srgbClr val="3D4552"/>
                </a:solidFill>
              </a:rPr>
              <a:t>Warn: </a:t>
            </a:r>
            <a:r>
              <a:rPr lang="en-US" sz="1300" dirty="0">
                <a:solidFill>
                  <a:srgbClr val="3D4552"/>
                </a:solidFill>
              </a:rPr>
              <a:t>a review item waiting 30 min in business hours</a:t>
            </a:r>
            <a:endParaRPr lang="en-US" sz="1300" dirty="0"/>
          </a:p>
          <a:p>
            <a:pPr marL="177800" indent="-177800">
              <a:spcAft>
                <a:spcPts val="400"/>
              </a:spcAft>
              <a:buSzPct val="100000"/>
              <a:buChar char="•"/>
            </a:pPr>
            <a:r>
              <a:rPr lang="en-US" sz="1300" b="1" dirty="0">
                <a:solidFill>
                  <a:srgbClr val="3D4552"/>
                </a:solidFill>
              </a:rPr>
              <a:t>Warn: </a:t>
            </a:r>
            <a:r>
              <a:rPr lang="en-US" sz="1300" dirty="0">
                <a:solidFill>
                  <a:srgbClr val="3D4552"/>
                </a:solidFill>
              </a:rPr>
              <a:t>an item acting for more than 5 min</a:t>
            </a:r>
            <a:endParaRPr lang="en-US" sz="1300" dirty="0"/>
          </a:p>
        </p:txBody>
      </p:sp>
      <p:sp>
        <p:nvSpPr>
          <p:cNvPr id="27" name="Text 25"/>
          <p:cNvSpPr txBox="1"/>
          <p:nvPr/>
        </p:nvSpPr>
        <p:spPr>
          <a:xfrm>
            <a:off x="6217920" y="5623560"/>
            <a:ext cx="5257800" cy="274320"/>
          </a:xfrm>
          <a:prstGeom prst="rect">
            <a:avLst/>
          </a:prstGeom>
          <a:noFill/>
          <a:ln/>
        </p:spPr>
        <p:txBody>
          <a:bodyPr wrap="square" lIns="0" tIns="0" rIns="0" bIns="0" rtlCol="0" anchor="t"/>
          <a:lstStyle/>
          <a:p>
            <a:pPr indent="0" marL="0">
              <a:buNone/>
            </a:pPr>
            <a:r>
              <a:rPr lang="en-US" sz="1100" dirty="0">
                <a:solidFill>
                  <a:schemeClr val="tx2"/>
                </a:solidFill>
              </a:rPr>
              <a:t>Thresholds are starting points to agree with the customer.</a:t>
            </a:r>
            <a:endParaRPr lang="en-US" sz="11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OPERATIONS</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Scale: measured, and where it breaks first</a:t>
            </a:r>
            <a:endParaRPr lang="en-US" sz="3200" dirty="0"/>
          </a:p>
        </p:txBody>
      </p:sp>
      <p:sp>
        <p:nvSpPr>
          <p:cNvPr id="4" name="~527"/>
          <p:cNvSpPr/>
          <p:nvPr/>
        </p:nvSpPr>
        <p:spPr>
          <a:xfrm>
            <a:off x="548640" y="1463040"/>
            <a:ext cx="2651760" cy="1417320"/>
          </a:xfrm>
          <a:prstGeom prst="roundRect">
            <a:avLst>
              <a:gd name="adj" fmla="val 5161"/>
            </a:avLst>
          </a:prstGeom>
          <a:solidFill>
            <a:schemeClr val="bg2"/>
          </a:solidFill>
          <a:ln/>
        </p:spPr>
      </p:sp>
      <p:sp>
        <p:nvSpPr>
          <p:cNvPr id="5" name="Text 3"/>
          <p:cNvSpPr txBox="1"/>
          <p:nvPr/>
        </p:nvSpPr>
        <p:spPr>
          <a:xfrm>
            <a:off x="731520" y="1572768"/>
            <a:ext cx="2377440" cy="685800"/>
          </a:xfrm>
          <a:prstGeom prst="rect">
            <a:avLst/>
          </a:prstGeom>
          <a:noFill/>
          <a:ln/>
        </p:spPr>
        <p:txBody>
          <a:bodyPr wrap="square" lIns="0" tIns="0" rIns="0" bIns="0" rtlCol="0" anchor="t"/>
          <a:lstStyle/>
          <a:p>
            <a:pPr indent="0" marL="0">
              <a:buNone/>
            </a:pPr>
            <a:r>
              <a:rPr lang="en-US" sz="3600" b="1" dirty="0">
                <a:solidFill>
                  <a:schemeClr val="accent1"/>
                </a:solidFill>
              </a:rPr>
              <a:t>~527</a:t>
            </a:r>
            <a:endParaRPr lang="en-US" sz="3600" dirty="0"/>
          </a:p>
        </p:txBody>
      </p:sp>
      <p:sp>
        <p:nvSpPr>
          <p:cNvPr id="6" name="Text 4"/>
          <p:cNvSpPr txBox="1"/>
          <p:nvPr/>
        </p:nvSpPr>
        <p:spPr>
          <a:xfrm>
            <a:off x="731520" y="2286000"/>
            <a:ext cx="2377440" cy="502920"/>
          </a:xfrm>
          <a:prstGeom prst="rect">
            <a:avLst/>
          </a:prstGeom>
          <a:noFill/>
          <a:ln/>
        </p:spPr>
        <p:txBody>
          <a:bodyPr wrap="square" lIns="0" tIns="0" rIns="0" bIns="0" rtlCol="0" anchor="t"/>
          <a:lstStyle/>
          <a:p>
            <a:pPr indent="0" marL="0">
              <a:buNone/>
            </a:pPr>
            <a:r>
              <a:rPr lang="en-US" sz="1300" dirty="0">
                <a:solidFill>
                  <a:srgbClr val="3D4552"/>
                </a:solidFill>
              </a:rPr>
              <a:t>orders/s reserved, 10 worker slots</a:t>
            </a:r>
            <a:endParaRPr lang="en-US" sz="1300" dirty="0"/>
          </a:p>
        </p:txBody>
      </p:sp>
      <p:sp>
        <p:nvSpPr>
          <p:cNvPr id="7" name="3,800+"/>
          <p:cNvSpPr/>
          <p:nvPr/>
        </p:nvSpPr>
        <p:spPr>
          <a:xfrm>
            <a:off x="3364992" y="1463040"/>
            <a:ext cx="2651760" cy="1417320"/>
          </a:xfrm>
          <a:prstGeom prst="roundRect">
            <a:avLst>
              <a:gd name="adj" fmla="val 5161"/>
            </a:avLst>
          </a:prstGeom>
          <a:solidFill>
            <a:schemeClr val="bg2"/>
          </a:solidFill>
          <a:ln/>
        </p:spPr>
      </p:sp>
      <p:sp>
        <p:nvSpPr>
          <p:cNvPr id="8" name="Text 6"/>
          <p:cNvSpPr txBox="1"/>
          <p:nvPr/>
        </p:nvSpPr>
        <p:spPr>
          <a:xfrm>
            <a:off x="3547872" y="1572768"/>
            <a:ext cx="2377440" cy="685800"/>
          </a:xfrm>
          <a:prstGeom prst="rect">
            <a:avLst/>
          </a:prstGeom>
          <a:noFill/>
          <a:ln/>
        </p:spPr>
        <p:txBody>
          <a:bodyPr wrap="square" lIns="0" tIns="0" rIns="0" bIns="0" rtlCol="0" anchor="t"/>
          <a:lstStyle/>
          <a:p>
            <a:pPr indent="0" marL="0">
              <a:buNone/>
            </a:pPr>
            <a:r>
              <a:rPr lang="en-US" sz="3600" b="1" dirty="0">
                <a:solidFill>
                  <a:schemeClr val="accent1"/>
                </a:solidFill>
              </a:rPr>
              <a:t>3,800+</a:t>
            </a:r>
            <a:endParaRPr lang="en-US" sz="3600" dirty="0"/>
          </a:p>
        </p:txBody>
      </p:sp>
      <p:sp>
        <p:nvSpPr>
          <p:cNvPr id="9" name="Text 7"/>
          <p:cNvSpPr txBox="1"/>
          <p:nvPr/>
        </p:nvSpPr>
        <p:spPr>
          <a:xfrm>
            <a:off x="3547872" y="2286000"/>
            <a:ext cx="2377440" cy="502920"/>
          </a:xfrm>
          <a:prstGeom prst="rect">
            <a:avLst/>
          </a:prstGeom>
          <a:noFill/>
          <a:ln/>
        </p:spPr>
        <p:txBody>
          <a:bodyPr wrap="square" lIns="0" tIns="0" rIns="0" bIns="0" rtlCol="0" anchor="t"/>
          <a:lstStyle/>
          <a:p>
            <a:pPr indent="0" marL="0">
              <a:buNone/>
            </a:pPr>
            <a:r>
              <a:rPr lang="en-US" sz="1300" dirty="0">
                <a:solidFill>
                  <a:srgbClr val="3D4552"/>
                </a:solidFill>
              </a:rPr>
              <a:t>events/s accepted by the inbox</a:t>
            </a:r>
            <a:endParaRPr lang="en-US" sz="1300" dirty="0"/>
          </a:p>
        </p:txBody>
      </p:sp>
      <p:sp>
        <p:nvSpPr>
          <p:cNvPr id="10" name="0.31 s"/>
          <p:cNvSpPr/>
          <p:nvPr/>
        </p:nvSpPr>
        <p:spPr>
          <a:xfrm>
            <a:off x="6181344" y="1463040"/>
            <a:ext cx="2651760" cy="1417320"/>
          </a:xfrm>
          <a:prstGeom prst="roundRect">
            <a:avLst>
              <a:gd name="adj" fmla="val 5161"/>
            </a:avLst>
          </a:prstGeom>
          <a:solidFill>
            <a:schemeClr val="bg2"/>
          </a:solidFill>
          <a:ln/>
        </p:spPr>
      </p:sp>
      <p:sp>
        <p:nvSpPr>
          <p:cNvPr id="11" name="Text 9"/>
          <p:cNvSpPr txBox="1"/>
          <p:nvPr/>
        </p:nvSpPr>
        <p:spPr>
          <a:xfrm>
            <a:off x="6364224" y="1572768"/>
            <a:ext cx="2377440" cy="685800"/>
          </a:xfrm>
          <a:prstGeom prst="rect">
            <a:avLst/>
          </a:prstGeom>
          <a:noFill/>
          <a:ln/>
        </p:spPr>
        <p:txBody>
          <a:bodyPr wrap="square" lIns="0" tIns="0" rIns="0" bIns="0" rtlCol="0" anchor="t"/>
          <a:lstStyle/>
          <a:p>
            <a:pPr indent="0" marL="0">
              <a:buNone/>
            </a:pPr>
            <a:r>
              <a:rPr lang="en-US" sz="3600" b="1" dirty="0">
                <a:solidFill>
                  <a:schemeClr val="accent1"/>
                </a:solidFill>
              </a:rPr>
              <a:t>0.31 s</a:t>
            </a:r>
            <a:endParaRPr lang="en-US" sz="3600" dirty="0"/>
          </a:p>
        </p:txBody>
      </p:sp>
      <p:sp>
        <p:nvSpPr>
          <p:cNvPr id="12" name="Text 10"/>
          <p:cNvSpPr txBox="1"/>
          <p:nvPr/>
        </p:nvSpPr>
        <p:spPr>
          <a:xfrm>
            <a:off x="6364224" y="2286000"/>
            <a:ext cx="2377440" cy="502920"/>
          </a:xfrm>
          <a:prstGeom prst="rect">
            <a:avLst/>
          </a:prstGeom>
          <a:noFill/>
          <a:ln/>
        </p:spPr>
        <p:txBody>
          <a:bodyPr wrap="square" lIns="0" tIns="0" rIns="0" bIns="0" rtlCol="0" anchor="t"/>
          <a:lstStyle/>
          <a:p>
            <a:pPr indent="0" marL="0">
              <a:buNone/>
            </a:pPr>
            <a:r>
              <a:rPr lang="en-US" sz="1300" dirty="0">
                <a:solidFill>
                  <a:srgbClr val="3D4552"/>
                </a:solidFill>
              </a:rPr>
              <a:t>p50 received to reserved; p95 0.53 s (300 orders)</a:t>
            </a:r>
            <a:endParaRPr lang="en-US" sz="1300" dirty="0"/>
          </a:p>
        </p:txBody>
      </p:sp>
      <p:sp>
        <p:nvSpPr>
          <p:cNvPr id="13" name="20 → 527"/>
          <p:cNvSpPr/>
          <p:nvPr/>
        </p:nvSpPr>
        <p:spPr>
          <a:xfrm>
            <a:off x="8997696" y="1463040"/>
            <a:ext cx="2651760" cy="1417320"/>
          </a:xfrm>
          <a:prstGeom prst="roundRect">
            <a:avLst>
              <a:gd name="adj" fmla="val 5161"/>
            </a:avLst>
          </a:prstGeom>
          <a:solidFill>
            <a:schemeClr val="bg2"/>
          </a:solidFill>
          <a:ln/>
        </p:spPr>
      </p:sp>
      <p:sp>
        <p:nvSpPr>
          <p:cNvPr id="14" name="Text 12"/>
          <p:cNvSpPr txBox="1"/>
          <p:nvPr/>
        </p:nvSpPr>
        <p:spPr>
          <a:xfrm>
            <a:off x="9180576" y="1572768"/>
            <a:ext cx="2377440" cy="685800"/>
          </a:xfrm>
          <a:prstGeom prst="rect">
            <a:avLst/>
          </a:prstGeom>
          <a:noFill/>
          <a:ln/>
        </p:spPr>
        <p:txBody>
          <a:bodyPr wrap="square" lIns="0" tIns="0" rIns="0" bIns="0" rtlCol="0" anchor="t"/>
          <a:lstStyle/>
          <a:p>
            <a:pPr indent="0" marL="0">
              <a:buNone/>
            </a:pPr>
            <a:r>
              <a:rPr lang="en-US" sz="3600" b="1" dirty="0">
                <a:solidFill>
                  <a:schemeClr val="accent1"/>
                </a:solidFill>
              </a:rPr>
              <a:t>20 → 527</a:t>
            </a:r>
            <a:endParaRPr lang="en-US" sz="3600" dirty="0"/>
          </a:p>
        </p:txBody>
      </p:sp>
      <p:sp>
        <p:nvSpPr>
          <p:cNvPr id="15" name="Text 13"/>
          <p:cNvSpPr txBox="1"/>
          <p:nvPr/>
        </p:nvSpPr>
        <p:spPr>
          <a:xfrm>
            <a:off x="9180576" y="2286000"/>
            <a:ext cx="2377440" cy="502920"/>
          </a:xfrm>
          <a:prstGeom prst="rect">
            <a:avLst/>
          </a:prstGeom>
          <a:noFill/>
          <a:ln/>
        </p:spPr>
        <p:txBody>
          <a:bodyPr wrap="square" lIns="0" tIns="0" rIns="0" bIns="0" rtlCol="0" anchor="t"/>
          <a:lstStyle/>
          <a:p>
            <a:pPr indent="0" marL="0">
              <a:buNone/>
            </a:pPr>
            <a:r>
              <a:rPr lang="en-US" sz="1300" dirty="0">
                <a:solidFill>
                  <a:srgbClr val="3D4552"/>
                </a:solidFill>
              </a:rPr>
              <a:t>orders/s before and after the loop fix the probe found</a:t>
            </a:r>
            <a:endParaRPr lang="en-US" sz="1300" dirty="0"/>
          </a:p>
        </p:txBody>
      </p:sp>
      <p:sp>
        <p:nvSpPr>
          <p:cNvPr id="16" name="Text 14"/>
          <p:cNvSpPr txBox="1"/>
          <p:nvPr/>
        </p:nvSpPr>
        <p:spPr>
          <a:xfrm>
            <a:off x="548640" y="2971800"/>
            <a:ext cx="11094415" cy="411480"/>
          </a:xfrm>
          <a:prstGeom prst="rect">
            <a:avLst/>
          </a:prstGeom>
          <a:noFill/>
          <a:ln/>
        </p:spPr>
        <p:txBody>
          <a:bodyPr wrap="square" lIns="0" tIns="0" rIns="0" bIns="0" rtlCol="0" anchor="t"/>
          <a:lstStyle/>
          <a:p>
            <a:pPr indent="0" marL="0">
              <a:buNone/>
            </a:pPr>
            <a:r>
              <a:rPr lang="en-US" sz="1100" dirty="0">
                <a:solidFill>
                  <a:schemeClr val="tx2"/>
                </a:solidFill>
              </a:rPr>
              <a:t>In-process on a laptop (Apple M4 Pro): signed shop orders through the inbox and the real worker loop, mock warehouse, no network. 300 and 1,000 orders, each reserved once, no duplicates. scripts/load_probe.py</a:t>
            </a:r>
            <a:endParaRPr lang="en-US" sz="1100" dirty="0"/>
          </a:p>
        </p:txBody>
      </p:sp>
      <p:sp>
        <p:nvSpPr>
          <p:cNvPr id="17" name="Text 15"/>
          <p:cNvSpPr txBox="1"/>
          <p:nvPr/>
        </p:nvSpPr>
        <p:spPr>
          <a:xfrm>
            <a:off x="548640" y="3474720"/>
            <a:ext cx="5120640" cy="274320"/>
          </a:xfrm>
          <a:prstGeom prst="rect">
            <a:avLst/>
          </a:prstGeom>
          <a:noFill/>
          <a:ln/>
        </p:spPr>
        <p:txBody>
          <a:bodyPr wrap="square" lIns="0" tIns="0" rIns="0" bIns="0" rtlCol="0" anchor="t"/>
          <a:lstStyle/>
          <a:p>
            <a:pPr indent="0" marL="0">
              <a:buNone/>
            </a:pPr>
            <a:r>
              <a:rPr lang="en-US" sz="1500" b="1" dirty="0">
                <a:solidFill>
                  <a:schemeClr val="tx1"/>
                </a:solidFill>
              </a:rPr>
              <a:t>Measuring found a bug</a:t>
            </a:r>
            <a:endParaRPr lang="en-US" sz="1500" dirty="0"/>
          </a:p>
        </p:txBody>
      </p:sp>
      <p:sp>
        <p:nvSpPr>
          <p:cNvPr id="18" name="Text 16"/>
          <p:cNvSpPr txBox="1"/>
          <p:nvPr/>
        </p:nvSpPr>
        <p:spPr>
          <a:xfrm>
            <a:off x="548640" y="3794760"/>
            <a:ext cx="5120640" cy="777240"/>
          </a:xfrm>
          <a:prstGeom prst="rect">
            <a:avLst/>
          </a:prstGeom>
          <a:noFill/>
          <a:ln/>
        </p:spPr>
        <p:txBody>
          <a:bodyPr wrap="square" lIns="0" tIns="0" rIns="0" bIns="0" rtlCol="0" anchor="t"/>
          <a:lstStyle/>
          <a:p>
            <a:pPr indent="0" marL="0">
              <a:buNone/>
            </a:pPr>
            <a:r>
              <a:rPr lang="en-US" sz="1400" dirty="0">
                <a:solidFill>
                  <a:srgbClr val="3D4552"/>
                </a:solidFill>
              </a:rPr>
              <a:t>The first probe showed the production loop capped at 20 orders/s: it slept whenever all 10 slots were busy. Now it claims the next event as soon as a slot frees.</a:t>
            </a:r>
            <a:endParaRPr lang="en-US" sz="1400" dirty="0"/>
          </a:p>
        </p:txBody>
      </p:sp>
      <p:sp>
        <p:nvSpPr>
          <p:cNvPr id="19" name="Text 17"/>
          <p:cNvSpPr txBox="1"/>
          <p:nvPr/>
        </p:nvSpPr>
        <p:spPr>
          <a:xfrm>
            <a:off x="548640" y="4663440"/>
            <a:ext cx="5120640" cy="274320"/>
          </a:xfrm>
          <a:prstGeom prst="rect">
            <a:avLst/>
          </a:prstGeom>
          <a:noFill/>
          <a:ln/>
        </p:spPr>
        <p:txBody>
          <a:bodyPr wrap="square" lIns="0" tIns="0" rIns="0" bIns="0" rtlCol="0" anchor="t"/>
          <a:lstStyle/>
          <a:p>
            <a:pPr indent="0" marL="0">
              <a:buNone/>
            </a:pPr>
            <a:r>
              <a:rPr lang="en-US" sz="1500" b="1" dirty="0">
                <a:solidFill>
                  <a:schemeClr val="tx1"/>
                </a:solidFill>
              </a:rPr>
              <a:t>The first real bottleneck</a:t>
            </a:r>
            <a:endParaRPr lang="en-US" sz="1500" dirty="0"/>
          </a:p>
        </p:txBody>
      </p:sp>
      <p:sp>
        <p:nvSpPr>
          <p:cNvPr id="20" name="Text 18"/>
          <p:cNvSpPr txBox="1"/>
          <p:nvPr/>
        </p:nvSpPr>
        <p:spPr>
          <a:xfrm>
            <a:off x="548640" y="4983480"/>
            <a:ext cx="5120640" cy="1005840"/>
          </a:xfrm>
          <a:prstGeom prst="rect">
            <a:avLst/>
          </a:prstGeom>
          <a:noFill/>
          <a:ln/>
        </p:spPr>
        <p:txBody>
          <a:bodyPr wrap="square" lIns="0" tIns="0" rIns="0" bIns="0" rtlCol="0" anchor="t"/>
          <a:lstStyle/>
          <a:p>
            <a:pPr indent="0" marL="0">
              <a:buNone/>
            </a:pPr>
            <a:r>
              <a:rPr lang="en-US" sz="1400" dirty="0">
                <a:solidFill>
                  <a:srgbClr val="3D4552"/>
                </a:solidFill>
              </a:rPr>
              <a:t>eMAG's rate limit, not the glue. Every stock change triggers a push, so a flash sale means many pushes for the same products.</a:t>
            </a:r>
            <a:endParaRPr lang="en-US" sz="1400" dirty="0"/>
          </a:p>
        </p:txBody>
      </p:sp>
      <p:sp>
        <p:nvSpPr>
          <p:cNvPr id="21" name="path"/>
          <p:cNvSpPr/>
          <p:nvPr/>
        </p:nvSpPr>
        <p:spPr>
          <a:xfrm>
            <a:off x="5989320" y="3474720"/>
            <a:ext cx="5650992" cy="2514600"/>
          </a:xfrm>
          <a:prstGeom prst="roundRect">
            <a:avLst>
              <a:gd name="adj" fmla="val 2909"/>
            </a:avLst>
          </a:prstGeom>
          <a:solidFill>
            <a:schemeClr val="bg1"/>
          </a:solidFill>
          <a:ln w="9525">
            <a:solidFill>
              <a:srgbClr val="E3E6EB"/>
            </a:solidFill>
            <a:prstDash val="solid"/>
          </a:ln>
        </p:spPr>
      </p:sp>
      <p:sp>
        <p:nvSpPr>
          <p:cNvPr id="22" name="Text 20"/>
          <p:cNvSpPr txBox="1"/>
          <p:nvPr/>
        </p:nvSpPr>
        <p:spPr>
          <a:xfrm>
            <a:off x="6217920" y="3630168"/>
            <a:ext cx="5212080" cy="274320"/>
          </a:xfrm>
          <a:prstGeom prst="rect">
            <a:avLst/>
          </a:prstGeom>
          <a:noFill/>
          <a:ln/>
        </p:spPr>
        <p:txBody>
          <a:bodyPr wrap="square" lIns="0" tIns="0" rIns="0" bIns="0" rtlCol="0" anchor="t"/>
          <a:lstStyle/>
          <a:p>
            <a:pPr indent="0" marL="0">
              <a:buNone/>
            </a:pPr>
            <a:r>
              <a:rPr lang="en-US" sz="1500" b="1" dirty="0">
                <a:solidFill>
                  <a:schemeClr val="tx1"/>
                </a:solidFill>
              </a:rPr>
              <a:t>The path to more, in order</a:t>
            </a:r>
            <a:endParaRPr lang="en-US" sz="1500" dirty="0"/>
          </a:p>
        </p:txBody>
      </p:sp>
      <p:sp>
        <p:nvSpPr>
          <p:cNvPr id="23" name="step 1"/>
          <p:cNvSpPr/>
          <p:nvPr/>
        </p:nvSpPr>
        <p:spPr>
          <a:xfrm>
            <a:off x="6217920" y="4041648"/>
            <a:ext cx="274320" cy="274320"/>
          </a:xfrm>
          <a:prstGeom prst="ellipse">
            <a:avLst/>
          </a:prstGeom>
          <a:solidFill>
            <a:schemeClr val="accent1"/>
          </a:solidFill>
          <a:ln/>
        </p:spPr>
      </p:sp>
      <p:sp>
        <p:nvSpPr>
          <p:cNvPr id="24" name="Text 22"/>
          <p:cNvSpPr txBox="1"/>
          <p:nvPr/>
        </p:nvSpPr>
        <p:spPr>
          <a:xfrm>
            <a:off x="6217920" y="4041648"/>
            <a:ext cx="274320" cy="27432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5" name="Text 23"/>
          <p:cNvSpPr txBox="1"/>
          <p:nvPr/>
        </p:nvSpPr>
        <p:spPr>
          <a:xfrm>
            <a:off x="6629400" y="4023360"/>
            <a:ext cx="4892040" cy="310896"/>
          </a:xfrm>
          <a:prstGeom prst="rect">
            <a:avLst/>
          </a:prstGeom>
          <a:noFill/>
          <a:ln/>
        </p:spPr>
        <p:txBody>
          <a:bodyPr wrap="square" lIns="0" tIns="0" rIns="0" bIns="0" rtlCol="0" anchor="ctr"/>
          <a:lstStyle/>
          <a:p>
            <a:pPr indent="0" marL="0">
              <a:buNone/>
            </a:pPr>
            <a:r>
              <a:rPr lang="en-US" sz="1300" dirty="0">
                <a:solidFill>
                  <a:schemeClr val="tx1"/>
                </a:solidFill>
              </a:rPr>
              <a:t>Coalesce stock pushes: one eMAG batch per second</a:t>
            </a:r>
            <a:endParaRPr lang="en-US" sz="1300" dirty="0"/>
          </a:p>
        </p:txBody>
      </p:sp>
      <p:sp>
        <p:nvSpPr>
          <p:cNvPr id="26" name="step 2"/>
          <p:cNvSpPr/>
          <p:nvPr/>
        </p:nvSpPr>
        <p:spPr>
          <a:xfrm>
            <a:off x="6217920" y="4425696"/>
            <a:ext cx="274320" cy="274320"/>
          </a:xfrm>
          <a:prstGeom prst="ellipse">
            <a:avLst/>
          </a:prstGeom>
          <a:solidFill>
            <a:schemeClr val="accent1"/>
          </a:solidFill>
          <a:ln/>
        </p:spPr>
      </p:sp>
      <p:sp>
        <p:nvSpPr>
          <p:cNvPr id="27" name="Text 25"/>
          <p:cNvSpPr txBox="1"/>
          <p:nvPr/>
        </p:nvSpPr>
        <p:spPr>
          <a:xfrm>
            <a:off x="6217920" y="4425696"/>
            <a:ext cx="274320" cy="27432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8" name="Text 26"/>
          <p:cNvSpPr txBox="1"/>
          <p:nvPr/>
        </p:nvSpPr>
        <p:spPr>
          <a:xfrm>
            <a:off x="6629400" y="4407408"/>
            <a:ext cx="4892040" cy="310896"/>
          </a:xfrm>
          <a:prstGeom prst="rect">
            <a:avLst/>
          </a:prstGeom>
          <a:noFill/>
          <a:ln/>
        </p:spPr>
        <p:txBody>
          <a:bodyPr wrap="square" lIns="0" tIns="0" rIns="0" bIns="0" rtlCol="0" anchor="ctr"/>
          <a:lstStyle/>
          <a:p>
            <a:pPr indent="0" marL="0">
              <a:buNone/>
            </a:pPr>
            <a:r>
              <a:rPr lang="en-US" sz="1300" dirty="0">
                <a:solidFill>
                  <a:schemeClr val="tx1"/>
                </a:solidFill>
              </a:rPr>
              <a:t>Reconcile changed products; a slow full sweep as the net</a:t>
            </a:r>
            <a:endParaRPr lang="en-US" sz="1300" dirty="0"/>
          </a:p>
        </p:txBody>
      </p:sp>
      <p:sp>
        <p:nvSpPr>
          <p:cNvPr id="29" name="step 3"/>
          <p:cNvSpPr/>
          <p:nvPr/>
        </p:nvSpPr>
        <p:spPr>
          <a:xfrm>
            <a:off x="6217920" y="4809744"/>
            <a:ext cx="274320" cy="274320"/>
          </a:xfrm>
          <a:prstGeom prst="ellipse">
            <a:avLst/>
          </a:prstGeom>
          <a:solidFill>
            <a:schemeClr val="accent1"/>
          </a:solidFill>
          <a:ln/>
        </p:spPr>
      </p:sp>
      <p:sp>
        <p:nvSpPr>
          <p:cNvPr id="30" name="Text 28"/>
          <p:cNvSpPr txBox="1"/>
          <p:nvPr/>
        </p:nvSpPr>
        <p:spPr>
          <a:xfrm>
            <a:off x="6217920" y="4809744"/>
            <a:ext cx="274320" cy="27432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1" name="Text 29"/>
          <p:cNvSpPr txBox="1"/>
          <p:nvPr/>
        </p:nvSpPr>
        <p:spPr>
          <a:xfrm>
            <a:off x="6629400" y="4791456"/>
            <a:ext cx="4892040" cy="310896"/>
          </a:xfrm>
          <a:prstGeom prst="rect">
            <a:avLst/>
          </a:prstGeom>
          <a:noFill/>
          <a:ln/>
        </p:spPr>
        <p:txBody>
          <a:bodyPr wrap="square" lIns="0" tIns="0" rIns="0" bIns="0" rtlCol="0" anchor="ctr"/>
          <a:lstStyle/>
          <a:p>
            <a:pPr indent="0" marL="0">
              <a:buNone/>
            </a:pPr>
            <a:r>
              <a:rPr lang="en-US" sz="1300" dirty="0">
                <a:solidFill>
                  <a:schemeClr val="tx1"/>
                </a:solidFill>
              </a:rPr>
              <a:t>A circuit breaker per system, so a dead one fails fast</a:t>
            </a:r>
            <a:endParaRPr lang="en-US" sz="1300" dirty="0"/>
          </a:p>
        </p:txBody>
      </p:sp>
      <p:sp>
        <p:nvSpPr>
          <p:cNvPr id="32" name="step 4"/>
          <p:cNvSpPr/>
          <p:nvPr/>
        </p:nvSpPr>
        <p:spPr>
          <a:xfrm>
            <a:off x="6217920" y="5193792"/>
            <a:ext cx="274320" cy="274320"/>
          </a:xfrm>
          <a:prstGeom prst="ellipse">
            <a:avLst/>
          </a:prstGeom>
          <a:solidFill>
            <a:schemeClr val="accent1"/>
          </a:solidFill>
          <a:ln/>
        </p:spPr>
      </p:sp>
      <p:sp>
        <p:nvSpPr>
          <p:cNvPr id="33" name="Text 31"/>
          <p:cNvSpPr txBox="1"/>
          <p:nvPr/>
        </p:nvSpPr>
        <p:spPr>
          <a:xfrm>
            <a:off x="6217920" y="5193792"/>
            <a:ext cx="274320" cy="27432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4" name="Text 32"/>
          <p:cNvSpPr txBox="1"/>
          <p:nvPr/>
        </p:nvSpPr>
        <p:spPr>
          <a:xfrm>
            <a:off x="6629400" y="5175504"/>
            <a:ext cx="4892040" cy="310896"/>
          </a:xfrm>
          <a:prstGeom prst="rect">
            <a:avLst/>
          </a:prstGeom>
          <a:noFill/>
          <a:ln/>
        </p:spPr>
        <p:txBody>
          <a:bodyPr wrap="square" lIns="0" tIns="0" rIns="0" bIns="0" rtlCol="0" anchor="ctr"/>
          <a:lstStyle/>
          <a:p>
            <a:pPr indent="0" marL="0">
              <a:buNone/>
            </a:pPr>
            <a:r>
              <a:rPr lang="en-US" sz="1300" dirty="0">
                <a:solidFill>
                  <a:schemeClr val="tx1"/>
                </a:solidFill>
              </a:rPr>
              <a:t>A queue or Postgres SKIP LOCKED; N workers by order id</a:t>
            </a:r>
            <a:endParaRPr lang="en-US" sz="1300" dirty="0"/>
          </a:p>
        </p:txBody>
      </p:sp>
      <p:sp>
        <p:nvSpPr>
          <p:cNvPr id="35" name="step 5"/>
          <p:cNvSpPr/>
          <p:nvPr/>
        </p:nvSpPr>
        <p:spPr>
          <a:xfrm>
            <a:off x="6217920" y="5577840"/>
            <a:ext cx="274320" cy="274320"/>
          </a:xfrm>
          <a:prstGeom prst="ellipse">
            <a:avLst/>
          </a:prstGeom>
          <a:solidFill>
            <a:schemeClr val="accent1"/>
          </a:solidFill>
          <a:ln/>
        </p:spPr>
      </p:sp>
      <p:sp>
        <p:nvSpPr>
          <p:cNvPr id="36" name="Text 34"/>
          <p:cNvSpPr txBox="1"/>
          <p:nvPr/>
        </p:nvSpPr>
        <p:spPr>
          <a:xfrm>
            <a:off x="6217920" y="5577840"/>
            <a:ext cx="274320" cy="274320"/>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Text 35"/>
          <p:cNvSpPr txBox="1"/>
          <p:nvPr/>
        </p:nvSpPr>
        <p:spPr>
          <a:xfrm>
            <a:off x="6629400" y="5559552"/>
            <a:ext cx="4892040" cy="310896"/>
          </a:xfrm>
          <a:prstGeom prst="rect">
            <a:avLst/>
          </a:prstGeom>
          <a:noFill/>
          <a:ln/>
        </p:spPr>
        <p:txBody>
          <a:bodyPr wrap="square" lIns="0" tIns="0" rIns="0" bIns="0" rtlCol="0" anchor="ctr"/>
          <a:lstStyle/>
          <a:p>
            <a:pPr indent="0" marL="0">
              <a:buNone/>
            </a:pPr>
            <a:r>
              <a:rPr lang="en-US" sz="1300" dirty="0">
                <a:solidFill>
                  <a:schemeClr val="tx1"/>
                </a:solidFill>
              </a:rPr>
              <a:t>One reconciler, chosen by an advisory lock</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OPERATIONS</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The local model explains; it never acts</a:t>
            </a:r>
            <a:endParaRPr lang="en-US" sz="3200" dirty="0"/>
          </a:p>
        </p:txBody>
      </p:sp>
      <p:pic>
        <p:nvPicPr>
          <p:cNvPr id="4" name="Image 0" descr="Assistant page: Is the warehouse working and Which orders need a decision, answered from live facts and the review queue; model panel with effort and token limits">    </p:cNvPr>
          <p:cNvPicPr>
            <a:picLocks noChangeAspect="1"/>
          </p:cNvPicPr>
          <p:nvPr/>
        </p:nvPicPr>
        <p:blipFill>
          <a:blip r:embed="rId1"/>
          <a:stretch>
            <a:fillRect/>
          </a:stretch>
        </p:blipFill>
        <p:spPr>
          <a:xfrm>
            <a:off x="548640" y="1463040"/>
            <a:ext cx="5760720" cy="3165934"/>
          </a:xfrm>
          <a:prstGeom prst="rect">
            <a:avLst/>
          </a:prstGeom>
        </p:spPr>
      </p:pic>
      <p:sp>
        <p:nvSpPr>
          <p:cNvPr id="5" name="frame"/>
          <p:cNvSpPr/>
          <p:nvPr/>
        </p:nvSpPr>
        <p:spPr>
          <a:xfrm>
            <a:off x="548640" y="1463040"/>
            <a:ext cx="5760720" cy="3165934"/>
          </a:xfrm>
          <a:prstGeom prst="rect">
            <a:avLst/>
          </a:prstGeom>
          <a:noFill/>
          <a:ln w="9525">
            <a:solidFill>
              <a:srgbClr val="E3E6EB"/>
            </a:solidFill>
            <a:prstDash val="solid"/>
          </a:ln>
        </p:spPr>
      </p:sp>
      <p:sp>
        <p:nvSpPr>
          <p:cNvPr id="6" name="Text 3"/>
          <p:cNvSpPr txBox="1"/>
          <p:nvPr/>
        </p:nvSpPr>
        <p:spPr>
          <a:xfrm>
            <a:off x="548640" y="4857574"/>
            <a:ext cx="5760720" cy="274320"/>
          </a:xfrm>
          <a:prstGeom prst="rect">
            <a:avLst/>
          </a:prstGeom>
          <a:noFill/>
          <a:ln/>
        </p:spPr>
        <p:txBody>
          <a:bodyPr wrap="square" lIns="0" tIns="0" rIns="0" bIns="0" rtlCol="0" anchor="t"/>
          <a:lstStyle/>
          <a:p>
            <a:pPr indent="0" marL="0">
              <a:buNone/>
            </a:pPr>
            <a:r>
              <a:rPr lang="en-US" sz="1400" b="1" dirty="0">
                <a:solidFill>
                  <a:schemeClr val="tx1"/>
                </a:solidFill>
              </a:rPr>
              <a:t>Triage on a review item</a:t>
            </a:r>
            <a:endParaRPr lang="en-US" sz="1400" dirty="0"/>
          </a:p>
        </p:txBody>
      </p:sp>
      <p:sp>
        <p:nvSpPr>
          <p:cNvPr id="7" name="Facts"/>
          <p:cNvSpPr/>
          <p:nvPr/>
        </p:nvSpPr>
        <p:spPr>
          <a:xfrm>
            <a:off x="548640" y="5195902"/>
            <a:ext cx="1325880" cy="914400"/>
          </a:xfrm>
          <a:prstGeom prst="roundRect">
            <a:avLst>
              <a:gd name="adj" fmla="val 8000"/>
            </a:avLst>
          </a:prstGeom>
          <a:solidFill>
            <a:schemeClr val="bg1"/>
          </a:solidFill>
          <a:ln w="9525">
            <a:solidFill>
              <a:srgbClr val="E3E6EB"/>
            </a:solidFill>
            <a:prstDash val="solid"/>
          </a:ln>
        </p:spPr>
      </p:sp>
      <p:sp>
        <p:nvSpPr>
          <p:cNvPr id="8" name="Text 5"/>
          <p:cNvSpPr txBox="1"/>
          <p:nvPr/>
        </p:nvSpPr>
        <p:spPr>
          <a:xfrm>
            <a:off x="640080" y="5287342"/>
            <a:ext cx="1170432" cy="256032"/>
          </a:xfrm>
          <a:prstGeom prst="rect">
            <a:avLst/>
          </a:prstGeom>
          <a:noFill/>
          <a:ln/>
        </p:spPr>
        <p:txBody>
          <a:bodyPr wrap="square" lIns="0" tIns="0" rIns="0" bIns="0" rtlCol="0" anchor="t"/>
          <a:lstStyle/>
          <a:p>
            <a:pPr indent="0" marL="0">
              <a:buNone/>
            </a:pPr>
            <a:r>
              <a:rPr lang="en-US" sz="1300" b="1" dirty="0">
                <a:solidFill>
                  <a:schemeClr val="tx1"/>
                </a:solidFill>
              </a:rPr>
              <a:t>Facts</a:t>
            </a:r>
            <a:endParaRPr lang="en-US" sz="1300" dirty="0"/>
          </a:p>
        </p:txBody>
      </p:sp>
      <p:sp>
        <p:nvSpPr>
          <p:cNvPr id="9" name="Text 6"/>
          <p:cNvSpPr txBox="1"/>
          <p:nvPr/>
        </p:nvSpPr>
        <p:spPr>
          <a:xfrm>
            <a:off x="640080" y="5561662"/>
            <a:ext cx="1170432" cy="502920"/>
          </a:xfrm>
          <a:prstGeom prst="rect">
            <a:avLst/>
          </a:prstGeom>
          <a:noFill/>
          <a:ln/>
        </p:spPr>
        <p:txBody>
          <a:bodyPr wrap="square" lIns="0" tIns="0" rIns="0" bIns="0" rtlCol="0" anchor="t"/>
          <a:lstStyle/>
          <a:p>
            <a:pPr indent="0" marL="0">
              <a:buNone/>
            </a:pPr>
            <a:r>
              <a:rPr lang="en-US" sz="1100" dirty="0">
                <a:solidFill>
                  <a:schemeClr val="tx2"/>
                </a:solidFill>
              </a:rPr>
              <a:t>order, stock, warehouse state</a:t>
            </a:r>
            <a:endParaRPr lang="en-US" sz="1100" dirty="0"/>
          </a:p>
        </p:txBody>
      </p:sp>
      <p:sp>
        <p:nvSpPr>
          <p:cNvPr id="10" name="Shape 7"/>
          <p:cNvSpPr/>
          <p:nvPr/>
        </p:nvSpPr>
        <p:spPr>
          <a:xfrm>
            <a:off x="1883664" y="5653102"/>
            <a:ext cx="118872" cy="0"/>
          </a:xfrm>
          <a:prstGeom prst="line">
            <a:avLst/>
          </a:prstGeom>
          <a:noFill/>
          <a:ln w="12700">
            <a:solidFill>
              <a:schemeClr val="tx1"/>
            </a:solidFill>
            <a:prstDash val="solid"/>
            <a:tailEnd type="triangle"/>
          </a:ln>
        </p:spPr>
      </p:sp>
      <p:sp>
        <p:nvSpPr>
          <p:cNvPr id="11" name="Rule, in code"/>
          <p:cNvSpPr/>
          <p:nvPr/>
        </p:nvSpPr>
        <p:spPr>
          <a:xfrm>
            <a:off x="2011680" y="5195902"/>
            <a:ext cx="1325880" cy="914400"/>
          </a:xfrm>
          <a:prstGeom prst="roundRect">
            <a:avLst>
              <a:gd name="adj" fmla="val 8000"/>
            </a:avLst>
          </a:prstGeom>
          <a:solidFill>
            <a:srgbClr val="E8EEFD"/>
          </a:solidFill>
          <a:ln w="9525">
            <a:solidFill>
              <a:srgbClr val="9DB4F0"/>
            </a:solidFill>
            <a:prstDash val="solid"/>
          </a:ln>
        </p:spPr>
      </p:sp>
      <p:sp>
        <p:nvSpPr>
          <p:cNvPr id="12" name="Text 9"/>
          <p:cNvSpPr txBox="1"/>
          <p:nvPr/>
        </p:nvSpPr>
        <p:spPr>
          <a:xfrm>
            <a:off x="2103120" y="5287342"/>
            <a:ext cx="1170432" cy="256032"/>
          </a:xfrm>
          <a:prstGeom prst="rect">
            <a:avLst/>
          </a:prstGeom>
          <a:noFill/>
          <a:ln/>
        </p:spPr>
        <p:txBody>
          <a:bodyPr wrap="square" lIns="0" tIns="0" rIns="0" bIns="0" rtlCol="0" anchor="t"/>
          <a:lstStyle/>
          <a:p>
            <a:pPr indent="0" marL="0">
              <a:buNone/>
            </a:pPr>
            <a:r>
              <a:rPr lang="en-US" sz="1300" b="1" dirty="0">
                <a:solidFill>
                  <a:schemeClr val="tx1"/>
                </a:solidFill>
              </a:rPr>
              <a:t>Rule, in code</a:t>
            </a:r>
            <a:endParaRPr lang="en-US" sz="1300" dirty="0"/>
          </a:p>
        </p:txBody>
      </p:sp>
      <p:sp>
        <p:nvSpPr>
          <p:cNvPr id="13" name="Text 10"/>
          <p:cNvSpPr txBox="1"/>
          <p:nvPr/>
        </p:nvSpPr>
        <p:spPr>
          <a:xfrm>
            <a:off x="2103120" y="5561662"/>
            <a:ext cx="1170432" cy="502920"/>
          </a:xfrm>
          <a:prstGeom prst="rect">
            <a:avLst/>
          </a:prstGeom>
          <a:noFill/>
          <a:ln/>
        </p:spPr>
        <p:txBody>
          <a:bodyPr wrap="square" lIns="0" tIns="0" rIns="0" bIns="0" rtlCol="0" anchor="t"/>
          <a:lstStyle/>
          <a:p>
            <a:pPr indent="0" marL="0">
              <a:buNone/>
            </a:pPr>
            <a:r>
              <a:rPr lang="en-US" sz="1100" dirty="0">
                <a:solidFill>
                  <a:schemeClr val="tx2"/>
                </a:solidFill>
              </a:rPr>
              <a:t>picks the choice</a:t>
            </a:r>
            <a:endParaRPr lang="en-US" sz="1100" dirty="0"/>
          </a:p>
        </p:txBody>
      </p:sp>
      <p:sp>
        <p:nvSpPr>
          <p:cNvPr id="14" name="Shape 11"/>
          <p:cNvSpPr/>
          <p:nvPr/>
        </p:nvSpPr>
        <p:spPr>
          <a:xfrm>
            <a:off x="3346704" y="5653102"/>
            <a:ext cx="118872" cy="0"/>
          </a:xfrm>
          <a:prstGeom prst="line">
            <a:avLst/>
          </a:prstGeom>
          <a:noFill/>
          <a:ln w="12700">
            <a:solidFill>
              <a:schemeClr val="tx1"/>
            </a:solidFill>
            <a:prstDash val="solid"/>
            <a:tailEnd type="triangle"/>
          </a:ln>
        </p:spPr>
      </p:sp>
      <p:sp>
        <p:nvSpPr>
          <p:cNvPr id="15" name="Model"/>
          <p:cNvSpPr/>
          <p:nvPr/>
        </p:nvSpPr>
        <p:spPr>
          <a:xfrm>
            <a:off x="3474720" y="5195902"/>
            <a:ext cx="1325880" cy="914400"/>
          </a:xfrm>
          <a:prstGeom prst="roundRect">
            <a:avLst>
              <a:gd name="adj" fmla="val 8000"/>
            </a:avLst>
          </a:prstGeom>
          <a:solidFill>
            <a:schemeClr val="bg1"/>
          </a:solidFill>
          <a:ln w="9525">
            <a:solidFill>
              <a:srgbClr val="E3E6EB"/>
            </a:solidFill>
            <a:prstDash val="solid"/>
          </a:ln>
        </p:spPr>
      </p:sp>
      <p:sp>
        <p:nvSpPr>
          <p:cNvPr id="16" name="Text 13"/>
          <p:cNvSpPr txBox="1"/>
          <p:nvPr/>
        </p:nvSpPr>
        <p:spPr>
          <a:xfrm>
            <a:off x="3566160" y="5287342"/>
            <a:ext cx="1170432" cy="256032"/>
          </a:xfrm>
          <a:prstGeom prst="rect">
            <a:avLst/>
          </a:prstGeom>
          <a:noFill/>
          <a:ln/>
        </p:spPr>
        <p:txBody>
          <a:bodyPr wrap="square" lIns="0" tIns="0" rIns="0" bIns="0" rtlCol="0" anchor="t"/>
          <a:lstStyle/>
          <a:p>
            <a:pPr indent="0" marL="0">
              <a:buNone/>
            </a:pPr>
            <a:r>
              <a:rPr lang="en-US" sz="1300" b="1" dirty="0">
                <a:solidFill>
                  <a:schemeClr val="tx1"/>
                </a:solidFill>
              </a:rPr>
              <a:t>Model</a:t>
            </a:r>
            <a:endParaRPr lang="en-US" sz="1300" dirty="0"/>
          </a:p>
        </p:txBody>
      </p:sp>
      <p:sp>
        <p:nvSpPr>
          <p:cNvPr id="17" name="Text 14"/>
          <p:cNvSpPr txBox="1"/>
          <p:nvPr/>
        </p:nvSpPr>
        <p:spPr>
          <a:xfrm>
            <a:off x="3566160" y="5561662"/>
            <a:ext cx="1170432" cy="502920"/>
          </a:xfrm>
          <a:prstGeom prst="rect">
            <a:avLst/>
          </a:prstGeom>
          <a:noFill/>
          <a:ln/>
        </p:spPr>
        <p:txBody>
          <a:bodyPr wrap="square" lIns="0" tIns="0" rIns="0" bIns="0" rtlCol="0" anchor="t"/>
          <a:lstStyle/>
          <a:p>
            <a:pPr indent="0" marL="0">
              <a:buNone/>
            </a:pPr>
            <a:r>
              <a:rPr lang="en-US" sz="1100" dirty="0">
                <a:solidFill>
                  <a:schemeClr val="tx2"/>
                </a:solidFill>
              </a:rPr>
              <a:t>writes the reason</a:t>
            </a:r>
            <a:endParaRPr lang="en-US" sz="1100" dirty="0"/>
          </a:p>
        </p:txBody>
      </p:sp>
      <p:sp>
        <p:nvSpPr>
          <p:cNvPr id="18" name="Shape 15"/>
          <p:cNvSpPr/>
          <p:nvPr/>
        </p:nvSpPr>
        <p:spPr>
          <a:xfrm>
            <a:off x="4809744" y="5653102"/>
            <a:ext cx="118872" cy="0"/>
          </a:xfrm>
          <a:prstGeom prst="line">
            <a:avLst/>
          </a:prstGeom>
          <a:noFill/>
          <a:ln w="12700">
            <a:solidFill>
              <a:schemeClr val="tx1"/>
            </a:solidFill>
            <a:prstDash val="solid"/>
            <a:tailEnd type="triangle"/>
          </a:ln>
        </p:spPr>
      </p:sp>
      <p:sp>
        <p:nvSpPr>
          <p:cNvPr id="19" name="Checked"/>
          <p:cNvSpPr/>
          <p:nvPr/>
        </p:nvSpPr>
        <p:spPr>
          <a:xfrm>
            <a:off x="4937760" y="5195902"/>
            <a:ext cx="1325880" cy="914400"/>
          </a:xfrm>
          <a:prstGeom prst="roundRect">
            <a:avLst>
              <a:gd name="adj" fmla="val 8000"/>
            </a:avLst>
          </a:prstGeom>
          <a:solidFill>
            <a:schemeClr val="bg1"/>
          </a:solidFill>
          <a:ln w="9525">
            <a:solidFill>
              <a:srgbClr val="E3E6EB"/>
            </a:solidFill>
            <a:prstDash val="solid"/>
          </a:ln>
        </p:spPr>
      </p:sp>
      <p:sp>
        <p:nvSpPr>
          <p:cNvPr id="20" name="Text 17"/>
          <p:cNvSpPr txBox="1"/>
          <p:nvPr/>
        </p:nvSpPr>
        <p:spPr>
          <a:xfrm>
            <a:off x="5029200" y="5287342"/>
            <a:ext cx="1170432" cy="256032"/>
          </a:xfrm>
          <a:prstGeom prst="rect">
            <a:avLst/>
          </a:prstGeom>
          <a:noFill/>
          <a:ln/>
        </p:spPr>
        <p:txBody>
          <a:bodyPr wrap="square" lIns="0" tIns="0" rIns="0" bIns="0" rtlCol="0" anchor="t"/>
          <a:lstStyle/>
          <a:p>
            <a:pPr indent="0" marL="0">
              <a:buNone/>
            </a:pPr>
            <a:r>
              <a:rPr lang="en-US" sz="1300" b="1" dirty="0">
                <a:solidFill>
                  <a:schemeClr val="tx1"/>
                </a:solidFill>
              </a:rPr>
              <a:t>Checked</a:t>
            </a:r>
            <a:endParaRPr lang="en-US" sz="1300" dirty="0"/>
          </a:p>
        </p:txBody>
      </p:sp>
      <p:sp>
        <p:nvSpPr>
          <p:cNvPr id="21" name="Text 18"/>
          <p:cNvSpPr txBox="1"/>
          <p:nvPr/>
        </p:nvSpPr>
        <p:spPr>
          <a:xfrm>
            <a:off x="5029200" y="5561662"/>
            <a:ext cx="1170432" cy="502920"/>
          </a:xfrm>
          <a:prstGeom prst="rect">
            <a:avLst/>
          </a:prstGeom>
          <a:noFill/>
          <a:ln/>
        </p:spPr>
        <p:txBody>
          <a:bodyPr wrap="square" lIns="0" tIns="0" rIns="0" bIns="0" rtlCol="0" anchor="t"/>
          <a:lstStyle/>
          <a:p>
            <a:pPr indent="0" marL="0">
              <a:buNone/>
            </a:pPr>
            <a:r>
              <a:rPr lang="en-US" sz="1100" dirty="0">
                <a:solidFill>
                  <a:schemeClr val="tx2"/>
                </a:solidFill>
              </a:rPr>
              <a:t>allowed choices only; never acts</a:t>
            </a:r>
            <a:endParaRPr lang="en-US" sz="1100" dirty="0"/>
          </a:p>
        </p:txBody>
      </p:sp>
      <p:sp>
        <p:nvSpPr>
          <p:cNvPr id="22" name="Text 19"/>
          <p:cNvSpPr txBox="1"/>
          <p:nvPr/>
        </p:nvSpPr>
        <p:spPr>
          <a:xfrm>
            <a:off x="6675120" y="1463040"/>
            <a:ext cx="4965192" cy="274320"/>
          </a:xfrm>
          <a:prstGeom prst="rect">
            <a:avLst/>
          </a:prstGeom>
          <a:noFill/>
          <a:ln/>
        </p:spPr>
        <p:txBody>
          <a:bodyPr wrap="square" lIns="0" tIns="0" rIns="0" bIns="0" rtlCol="0" anchor="t"/>
          <a:lstStyle/>
          <a:p>
            <a:pPr indent="0" marL="0">
              <a:buNone/>
            </a:pPr>
            <a:r>
              <a:rPr lang="en-US" sz="1500" b="1" dirty="0">
                <a:solidFill>
                  <a:schemeClr val="tx1"/>
                </a:solidFill>
              </a:rPr>
              <a:t>What it does</a:t>
            </a:r>
            <a:endParaRPr lang="en-US" sz="1500" dirty="0"/>
          </a:p>
        </p:txBody>
      </p:sp>
      <p:sp>
        <p:nvSpPr>
          <p:cNvPr id="23" name="Text 20"/>
          <p:cNvSpPr txBox="1"/>
          <p:nvPr/>
        </p:nvSpPr>
        <p:spPr>
          <a:xfrm>
            <a:off x="6675120" y="1810512"/>
            <a:ext cx="4965192"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Assistant: answers from a block of live facts and five read-only lookups, at temperature 0</a:t>
            </a:r>
            <a:endParaRPr lang="en-US" sz="1300" dirty="0"/>
          </a:p>
          <a:p>
            <a:pPr marL="177800" indent="-177800">
              <a:spcAft>
                <a:spcPts val="500"/>
              </a:spcAft>
              <a:buSzPct val="100000"/>
              <a:buChar char="•"/>
            </a:pPr>
            <a:r>
              <a:rPr lang="en-US" sz="1300" dirty="0">
                <a:solidFill>
                  <a:srgbClr val="3D4552"/>
                </a:solidFill>
              </a:rPr>
              <a:t>Triage: Suggest an action on a review card gives retry, cancel or close, with a short reason</a:t>
            </a:r>
            <a:endParaRPr lang="en-US" sz="1300" dirty="0"/>
          </a:p>
        </p:txBody>
      </p:sp>
      <p:sp>
        <p:nvSpPr>
          <p:cNvPr id="24" name="Text 21"/>
          <p:cNvSpPr txBox="1"/>
          <p:nvPr/>
        </p:nvSpPr>
        <p:spPr>
          <a:xfrm>
            <a:off x="6675120" y="3017520"/>
            <a:ext cx="4965192" cy="274320"/>
          </a:xfrm>
          <a:prstGeom prst="rect">
            <a:avLst/>
          </a:prstGeom>
          <a:noFill/>
          <a:ln/>
        </p:spPr>
        <p:txBody>
          <a:bodyPr wrap="square" lIns="0" tIns="0" rIns="0" bIns="0" rtlCol="0" anchor="t"/>
          <a:lstStyle/>
          <a:p>
            <a:pPr indent="0" marL="0">
              <a:buNone/>
            </a:pPr>
            <a:r>
              <a:rPr lang="en-US" sz="1500" b="1" dirty="0">
                <a:solidFill>
                  <a:schemeClr val="tx1"/>
                </a:solidFill>
              </a:rPr>
              <a:t>What it does not do</a:t>
            </a:r>
            <a:endParaRPr lang="en-US" sz="1500" dirty="0"/>
          </a:p>
        </p:txBody>
      </p:sp>
      <p:sp>
        <p:nvSpPr>
          <p:cNvPr id="25" name="Text 22"/>
          <p:cNvSpPr txBox="1"/>
          <p:nvPr/>
        </p:nvSpPr>
        <p:spPr>
          <a:xfrm>
            <a:off x="6675120" y="3364992"/>
            <a:ext cx="4965192" cy="7315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Change anything: there is no tool that writes</a:t>
            </a:r>
            <a:endParaRPr lang="en-US" sz="1300" dirty="0"/>
          </a:p>
          <a:p>
            <a:pPr marL="177800" indent="-177800">
              <a:spcAft>
                <a:spcPts val="500"/>
              </a:spcAft>
              <a:buSzPct val="100000"/>
              <a:buChar char="•"/>
            </a:pPr>
            <a:r>
              <a:rPr lang="en-US" sz="1300" dirty="0">
                <a:solidFill>
                  <a:srgbClr val="3D4552"/>
                </a:solidFill>
              </a:rPr>
              <a:t>Decide: the suggestion is shown, audited, and a person still clicks</a:t>
            </a:r>
            <a:endParaRPr lang="en-US" sz="1300" dirty="0"/>
          </a:p>
        </p:txBody>
      </p:sp>
      <p:sp>
        <p:nvSpPr>
          <p:cNvPr id="26" name="Text 23"/>
          <p:cNvSpPr txBox="1"/>
          <p:nvPr/>
        </p:nvSpPr>
        <p:spPr>
          <a:xfrm>
            <a:off x="6675120" y="4343400"/>
            <a:ext cx="4965192" cy="274320"/>
          </a:xfrm>
          <a:prstGeom prst="rect">
            <a:avLst/>
          </a:prstGeom>
          <a:noFill/>
          <a:ln/>
        </p:spPr>
        <p:txBody>
          <a:bodyPr wrap="square" lIns="0" tIns="0" rIns="0" bIns="0" rtlCol="0" anchor="t"/>
          <a:lstStyle/>
          <a:p>
            <a:pPr indent="0" marL="0">
              <a:buNone/>
            </a:pPr>
            <a:r>
              <a:rPr lang="en-US" sz="1500" b="1" dirty="0">
                <a:solidFill>
                  <a:schemeClr val="tx1"/>
                </a:solidFill>
              </a:rPr>
              <a:t>Limits and first run</a:t>
            </a:r>
            <a:endParaRPr lang="en-US" sz="1500" dirty="0"/>
          </a:p>
        </p:txBody>
      </p:sp>
      <p:sp>
        <p:nvSpPr>
          <p:cNvPr id="27" name="Text 24"/>
          <p:cNvSpPr txBox="1"/>
          <p:nvPr/>
        </p:nvSpPr>
        <p:spPr>
          <a:xfrm>
            <a:off x="6675120" y="4690872"/>
            <a:ext cx="4965192" cy="1463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Effort (2, 4 or 6 tool rounds), longest answer and a daily token budget that resets at midnight in Bucharest</a:t>
            </a:r>
            <a:endParaRPr lang="en-US" sz="1300" dirty="0"/>
          </a:p>
          <a:p>
            <a:pPr marL="177800" indent="-177800">
              <a:spcAft>
                <a:spcPts val="500"/>
              </a:spcAft>
              <a:buSzPct val="100000"/>
              <a:buChar char="•"/>
            </a:pPr>
            <a:r>
              <a:rPr lang="en-US" sz="1300" dirty="0">
                <a:solidFill>
                  <a:srgbClr val="3D4552"/>
                </a:solidFill>
              </a:rPr>
              <a:t>Ollama pulls qwen2.5:3b once, about 2 GB; Glue works meanwhile and shows progress</a:t>
            </a:r>
            <a:endParaRPr lang="en-US" sz="1300" dirty="0"/>
          </a:p>
          <a:p>
            <a:pPr marL="177800" indent="-177800">
              <a:spcAft>
                <a:spcPts val="500"/>
              </a:spcAft>
              <a:buSzPct val="100000"/>
              <a:buChar char="•"/>
            </a:pPr>
            <a:r>
              <a:rPr lang="en-US" sz="1300" dirty="0">
                <a:solidFill>
                  <a:srgbClr val="3D4552"/>
                </a:solidFill>
              </a:rPr>
              <a:t>Claude, GPT and Gemini are listed as coming soon</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THE DASHBOARD</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Overview: the live map</a:t>
            </a:r>
            <a:endParaRPr lang="en-US" sz="3200" dirty="0"/>
          </a:p>
        </p:txBody>
      </p:sp>
      <p:pic>
        <p:nvPicPr>
          <p:cNvPr id="4" name="Image 0" descr="Overview page: the sidebar with each system's state, counters for the last 15 minutes, and the live map of the shop, eMAG, Glue and the Bucharest warehouse">    </p:cNvPr>
          <p:cNvPicPr>
            <a:picLocks noChangeAspect="1"/>
          </p:cNvPicPr>
          <p:nvPr/>
        </p:nvPicPr>
        <p:blipFill>
          <a:blip r:embed="rId1"/>
          <a:stretch>
            <a:fillRect/>
          </a:stretch>
        </p:blipFill>
        <p:spPr>
          <a:xfrm>
            <a:off x="548640" y="1417320"/>
            <a:ext cx="8412480" cy="4297744"/>
          </a:xfrm>
          <a:prstGeom prst="rect">
            <a:avLst/>
          </a:prstGeom>
        </p:spPr>
      </p:pic>
      <p:sp>
        <p:nvSpPr>
          <p:cNvPr id="5" name="frame"/>
          <p:cNvSpPr/>
          <p:nvPr/>
        </p:nvSpPr>
        <p:spPr>
          <a:xfrm>
            <a:off x="548640" y="1417320"/>
            <a:ext cx="8412480" cy="4297744"/>
          </a:xfrm>
          <a:prstGeom prst="rect">
            <a:avLst/>
          </a:prstGeom>
          <a:noFill/>
          <a:ln w="9525">
            <a:solidFill>
              <a:srgbClr val="E3E6EB"/>
            </a:solidFill>
            <a:prstDash val="solid"/>
          </a:ln>
        </p:spPr>
      </p:sp>
      <p:sp>
        <p:nvSpPr>
          <p:cNvPr id="6" name="Text 3"/>
          <p:cNvSpPr txBox="1"/>
          <p:nvPr/>
        </p:nvSpPr>
        <p:spPr>
          <a:xfrm>
            <a:off x="9281160" y="1463040"/>
            <a:ext cx="2361895" cy="448056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3D4552"/>
                </a:solidFill>
              </a:rPr>
              <a:t>Each dot on the map is one real event, from a channel through Glue to the warehouse.</a:t>
            </a:r>
            <a:endParaRPr lang="en-US" sz="1300" dirty="0"/>
          </a:p>
          <a:p>
            <a:pPr marL="177800" indent="-177800">
              <a:spcAft>
                <a:spcPts val="900"/>
              </a:spcAft>
              <a:buSzPct val="100000"/>
              <a:buChar char="•"/>
            </a:pPr>
            <a:r>
              <a:rPr lang="en-US" sz="1300" dirty="0">
                <a:solidFill>
                  <a:srgbClr val="3D4552"/>
                </a:solidFill>
              </a:rPr>
              <a:t>The counters cover the chosen period. Days are Bucharest days.</a:t>
            </a:r>
            <a:endParaRPr lang="en-US" sz="1300" dirty="0"/>
          </a:p>
          <a:p>
            <a:pPr marL="177800" indent="-177800">
              <a:spcAft>
                <a:spcPts val="900"/>
              </a:spcAft>
              <a:buSzPct val="100000"/>
              <a:buChar char="•"/>
            </a:pPr>
            <a:r>
              <a:rPr lang="en-US" sz="1300" dirty="0">
                <a:solidFill>
                  <a:srgbClr val="3D4552"/>
                </a:solidFill>
              </a:rPr>
              <a:t>The sidebar and the map show each system: working, slow, limiting requests or not answering.</a:t>
            </a:r>
            <a:endParaRPr lang="en-US" sz="1300" dirty="0"/>
          </a:p>
          <a:p>
            <a:pPr marL="177800" indent="-177800">
              <a:spcAft>
                <a:spcPts val="900"/>
              </a:spcAft>
              <a:buSzPct val="100000"/>
              <a:buChar char="•"/>
            </a:pPr>
            <a:r>
              <a:rPr lang="en-US" sz="1300" dirty="0">
                <a:solidFill>
                  <a:srgbClr val="3D4552"/>
                </a:solidFill>
              </a:rPr>
              <a:t>Below the map: latest activity, what waits for a person, and stock for all six products.</a:t>
            </a:r>
            <a:endParaRPr lang="en-US" sz="1300" dirty="0"/>
          </a:p>
          <a:p>
            <a:pPr marL="177800" indent="-177800">
              <a:spcAft>
                <a:spcPts val="900"/>
              </a:spcAft>
              <a:buSzPct val="100000"/>
              <a:buChar char="•"/>
            </a:pPr>
            <a:r>
              <a:rPr lang="en-US" sz="1300" dirty="0">
                <a:solidFill>
                  <a:srgbClr val="3D4552"/>
                </a:solidFill>
              </a:rPr>
              <a:t>Cmd K finds any order, product or page.</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THE DASHBOARD</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The review queue and Flow analytics</a:t>
            </a:r>
            <a:endParaRPr lang="en-US" sz="3200" dirty="0"/>
          </a:p>
        </p:txBody>
      </p:sp>
      <p:pic>
        <p:nvPicPr>
          <p:cNvPr id="4" name="Image 0" descr="Review queue: the warehouse outage group with Retry all 3 disabled while the warehouse does not answer, and one shop order card with Retry, Cancel on the shop, Close without changes and Suggest an action">    </p:cNvPr>
          <p:cNvPicPr>
            <a:picLocks noChangeAspect="1"/>
          </p:cNvPicPr>
          <p:nvPr/>
        </p:nvPicPr>
        <p:blipFill>
          <a:blip r:embed="rId1"/>
          <a:stretch>
            <a:fillRect/>
          </a:stretch>
        </p:blipFill>
        <p:spPr>
          <a:xfrm>
            <a:off x="548640" y="1417320"/>
            <a:ext cx="8915400" cy="2541805"/>
          </a:xfrm>
          <a:prstGeom prst="rect">
            <a:avLst/>
          </a:prstGeom>
        </p:spPr>
      </p:pic>
      <p:sp>
        <p:nvSpPr>
          <p:cNvPr id="5" name="frame"/>
          <p:cNvSpPr/>
          <p:nvPr/>
        </p:nvSpPr>
        <p:spPr>
          <a:xfrm>
            <a:off x="548640" y="1417320"/>
            <a:ext cx="8915400" cy="2541805"/>
          </a:xfrm>
          <a:prstGeom prst="rect">
            <a:avLst/>
          </a:prstGeom>
          <a:noFill/>
          <a:ln w="9525">
            <a:solidFill>
              <a:srgbClr val="E3E6EB"/>
            </a:solidFill>
            <a:prstDash val="solid"/>
          </a:ln>
        </p:spPr>
      </p:sp>
      <p:sp>
        <p:nvSpPr>
          <p:cNvPr id="6" name="Text 3"/>
          <p:cNvSpPr txBox="1"/>
          <p:nvPr/>
        </p:nvSpPr>
        <p:spPr>
          <a:xfrm>
            <a:off x="9738360" y="1417320"/>
            <a:ext cx="1904695" cy="274320"/>
          </a:xfrm>
          <a:prstGeom prst="rect">
            <a:avLst/>
          </a:prstGeom>
          <a:noFill/>
          <a:ln/>
        </p:spPr>
        <p:txBody>
          <a:bodyPr wrap="square" lIns="0" tIns="0" rIns="0" bIns="0" rtlCol="0" anchor="t"/>
          <a:lstStyle/>
          <a:p>
            <a:pPr indent="0" marL="0">
              <a:buNone/>
            </a:pPr>
            <a:r>
              <a:rPr lang="en-US" sz="1500" b="1" dirty="0">
                <a:solidFill>
                  <a:schemeClr val="tx1"/>
                </a:solidFill>
              </a:rPr>
              <a:t>Review queue</a:t>
            </a:r>
            <a:endParaRPr lang="en-US" sz="1500" dirty="0"/>
          </a:p>
        </p:txBody>
      </p:sp>
      <p:sp>
        <p:nvSpPr>
          <p:cNvPr id="7" name="Text 4"/>
          <p:cNvSpPr txBox="1"/>
          <p:nvPr/>
        </p:nvSpPr>
        <p:spPr>
          <a:xfrm>
            <a:off x="9738360" y="1755648"/>
            <a:ext cx="1904695" cy="2176045"/>
          </a:xfrm>
          <a:prstGeom prst="rect">
            <a:avLst/>
          </a:prstGeom>
          <a:noFill/>
          <a:ln/>
        </p:spPr>
        <p:txBody>
          <a:bodyPr wrap="square" lIns="0" tIns="0" rIns="0" bIns="0" rtlCol="0" anchor="t"/>
          <a:lstStyle/>
          <a:p>
            <a:pPr indent="0" marL="0">
              <a:buNone/>
            </a:pPr>
            <a:r>
              <a:rPr lang="en-US" sz="1300" dirty="0">
                <a:solidFill>
                  <a:srgbClr val="3D4552"/>
                </a:solidFill>
              </a:rPr>
              <a:t>Grouped by cause. Outages get Retry all, which waits until the warehouse answers again.</a:t>
            </a:r>
            <a:endParaRPr lang="en-US" sz="1300" dirty="0"/>
          </a:p>
        </p:txBody>
      </p:sp>
      <p:pic>
        <p:nvPicPr>
          <p:cNvPr id="8" name="Image 1" descr="Flow, this month: order messages received, duplicates ignored, orders sent to the warehouse, reserved on first try, reserved after retry, not reserved and sent to review">    </p:cNvPr>
          <p:cNvPicPr>
            <a:picLocks noChangeAspect="1"/>
          </p:cNvPicPr>
          <p:nvPr/>
        </p:nvPicPr>
        <p:blipFill>
          <a:blip r:embed="rId2"/>
          <a:stretch>
            <a:fillRect/>
          </a:stretch>
        </p:blipFill>
        <p:spPr>
          <a:xfrm>
            <a:off x="548640" y="4279165"/>
            <a:ext cx="8915400" cy="1787664"/>
          </a:xfrm>
          <a:prstGeom prst="rect">
            <a:avLst/>
          </a:prstGeom>
        </p:spPr>
      </p:pic>
      <p:sp>
        <p:nvSpPr>
          <p:cNvPr id="9" name="frame"/>
          <p:cNvSpPr/>
          <p:nvPr/>
        </p:nvSpPr>
        <p:spPr>
          <a:xfrm>
            <a:off x="548640" y="4279165"/>
            <a:ext cx="8915400" cy="1787664"/>
          </a:xfrm>
          <a:prstGeom prst="rect">
            <a:avLst/>
          </a:prstGeom>
          <a:noFill/>
          <a:ln w="9525">
            <a:solidFill>
              <a:srgbClr val="E3E6EB"/>
            </a:solidFill>
            <a:prstDash val="solid"/>
          </a:ln>
        </p:spPr>
      </p:sp>
      <p:sp>
        <p:nvSpPr>
          <p:cNvPr id="10" name="Text 6"/>
          <p:cNvSpPr txBox="1"/>
          <p:nvPr/>
        </p:nvSpPr>
        <p:spPr>
          <a:xfrm>
            <a:off x="9738360" y="4279165"/>
            <a:ext cx="1904695" cy="274320"/>
          </a:xfrm>
          <a:prstGeom prst="rect">
            <a:avLst/>
          </a:prstGeom>
          <a:noFill/>
          <a:ln/>
        </p:spPr>
        <p:txBody>
          <a:bodyPr wrap="square" lIns="0" tIns="0" rIns="0" bIns="0" rtlCol="0" anchor="t"/>
          <a:lstStyle/>
          <a:p>
            <a:pPr indent="0" marL="0">
              <a:buNone/>
            </a:pPr>
            <a:r>
              <a:rPr lang="en-US" sz="1500" b="1" dirty="0">
                <a:solidFill>
                  <a:schemeClr val="tx1"/>
                </a:solidFill>
              </a:rPr>
              <a:t>Flow</a:t>
            </a:r>
            <a:endParaRPr lang="en-US" sz="1500" dirty="0"/>
          </a:p>
        </p:txBody>
      </p:sp>
      <p:sp>
        <p:nvSpPr>
          <p:cNvPr id="11" name="Text 7"/>
          <p:cNvSpPr txBox="1"/>
          <p:nvPr/>
        </p:nvSpPr>
        <p:spPr>
          <a:xfrm>
            <a:off x="9738360" y="4617493"/>
            <a:ext cx="1904695" cy="1421904"/>
          </a:xfrm>
          <a:prstGeom prst="rect">
            <a:avLst/>
          </a:prstGeom>
          <a:noFill/>
          <a:ln/>
        </p:spPr>
        <p:txBody>
          <a:bodyPr wrap="square" lIns="0" tIns="0" rIns="0" bIns="0" rtlCol="0" anchor="t"/>
          <a:lstStyle/>
          <a:p>
            <a:pPr indent="0" marL="0">
              <a:buNone/>
            </a:pPr>
            <a:r>
              <a:rPr lang="en-US" sz="1300" dirty="0">
                <a:solidFill>
                  <a:srgbClr val="3D4552"/>
                </a:solidFill>
              </a:rPr>
              <a:t>What happened to every order in the period. Sample history loaded for this view.</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THE SYSTEMS AROUND IT</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Three mock systems, shaped like the real ones</a:t>
            </a:r>
            <a:endParaRPr lang="en-US" sz="3200" dirty="0"/>
          </a:p>
        </p:txBody>
      </p:sp>
      <p:pic>
        <p:nvPicPr>
          <p:cNvPr id="4" name="Image 0" descr="Electronic Market shop page: six Apple products with live stock, the MacBook Air M4 marked as the last one">    </p:cNvPr>
          <p:cNvPicPr>
            <a:picLocks noChangeAspect="1"/>
          </p:cNvPicPr>
          <p:nvPr/>
        </p:nvPicPr>
        <p:blipFill>
          <a:blip r:embed="rId1"/>
          <a:stretch>
            <a:fillRect/>
          </a:stretch>
        </p:blipFill>
        <p:spPr>
          <a:xfrm>
            <a:off x="548640" y="1463040"/>
            <a:ext cx="3566160" cy="2037091"/>
          </a:xfrm>
          <a:prstGeom prst="rect">
            <a:avLst/>
          </a:prstGeom>
        </p:spPr>
      </p:pic>
      <p:sp>
        <p:nvSpPr>
          <p:cNvPr id="5" name="frame"/>
          <p:cNvSpPr/>
          <p:nvPr/>
        </p:nvSpPr>
        <p:spPr>
          <a:xfrm>
            <a:off x="548640" y="1463040"/>
            <a:ext cx="3566160" cy="2037091"/>
          </a:xfrm>
          <a:prstGeom prst="rect">
            <a:avLst/>
          </a:prstGeom>
          <a:noFill/>
          <a:ln w="9525">
            <a:solidFill>
              <a:srgbClr val="E3E6EB"/>
            </a:solidFill>
            <a:prstDash val="solid"/>
          </a:ln>
        </p:spPr>
      </p:sp>
      <p:sp>
        <p:nvSpPr>
          <p:cNvPr id="6" name="Text 3"/>
          <p:cNvSpPr txBox="1"/>
          <p:nvPr/>
        </p:nvSpPr>
        <p:spPr>
          <a:xfrm>
            <a:off x="548640" y="3683011"/>
            <a:ext cx="3566160" cy="274320"/>
          </a:xfrm>
          <a:prstGeom prst="rect">
            <a:avLst/>
          </a:prstGeom>
          <a:noFill/>
          <a:ln/>
        </p:spPr>
        <p:txBody>
          <a:bodyPr wrap="square" lIns="0" tIns="0" rIns="0" bIns="0" rtlCol="0" anchor="t"/>
          <a:lstStyle/>
          <a:p>
            <a:pPr indent="0" marL="0">
              <a:buNone/>
            </a:pPr>
            <a:r>
              <a:rPr lang="en-US" sz="1500" b="1" dirty="0">
                <a:solidFill>
                  <a:schemeClr val="tx1"/>
                </a:solidFill>
              </a:rPr>
              <a:t>Electronic Market · :8001</a:t>
            </a:r>
            <a:endParaRPr lang="en-US" sz="1500" dirty="0"/>
          </a:p>
        </p:txBody>
      </p:sp>
      <p:sp>
        <p:nvSpPr>
          <p:cNvPr id="7" name="Text 4"/>
          <p:cNvSpPr txBox="1"/>
          <p:nvPr/>
        </p:nvSpPr>
        <p:spPr>
          <a:xfrm>
            <a:off x="548640" y="4003051"/>
            <a:ext cx="3566160" cy="868680"/>
          </a:xfrm>
          <a:prstGeom prst="rect">
            <a:avLst/>
          </a:prstGeom>
          <a:noFill/>
          <a:ln/>
        </p:spPr>
        <p:txBody>
          <a:bodyPr wrap="square" lIns="0" tIns="0" rIns="0" bIns="0" rtlCol="0" anchor="t"/>
          <a:lstStyle/>
          <a:p>
            <a:pPr indent="0" marL="0">
              <a:buNone/>
            </a:pPr>
            <a:r>
              <a:rPr lang="en-US" sz="1300" dirty="0">
                <a:solidFill>
                  <a:srgbClr val="3D4552"/>
                </a:solidFill>
              </a:rPr>
              <a:t>Adobe Commerce shape: signed order events with an event id; stock set per product.</a:t>
            </a:r>
            <a:endParaRPr lang="en-US" sz="1300" dirty="0"/>
          </a:p>
        </p:txBody>
      </p:sp>
      <p:pic>
        <p:nvPicPr>
          <p:cNvPr id="8" name="Image 1" descr="Marketplace seller center: order, acknowledge and seller cancellation counters, and the offers with the stock eMAG shows">    </p:cNvPr>
          <p:cNvPicPr>
            <a:picLocks noChangeAspect="1"/>
          </p:cNvPicPr>
          <p:nvPr/>
        </p:nvPicPr>
        <p:blipFill>
          <a:blip r:embed="rId2"/>
          <a:stretch>
            <a:fillRect/>
          </a:stretch>
        </p:blipFill>
        <p:spPr>
          <a:xfrm>
            <a:off x="4297680" y="1463040"/>
            <a:ext cx="3566160" cy="2037091"/>
          </a:xfrm>
          <a:prstGeom prst="rect">
            <a:avLst/>
          </a:prstGeom>
        </p:spPr>
      </p:pic>
      <p:sp>
        <p:nvSpPr>
          <p:cNvPr id="9" name="frame"/>
          <p:cNvSpPr/>
          <p:nvPr/>
        </p:nvSpPr>
        <p:spPr>
          <a:xfrm>
            <a:off x="4297680" y="1463040"/>
            <a:ext cx="3566160" cy="2037091"/>
          </a:xfrm>
          <a:prstGeom prst="rect">
            <a:avLst/>
          </a:prstGeom>
          <a:noFill/>
          <a:ln w="9525">
            <a:solidFill>
              <a:srgbClr val="E3E6EB"/>
            </a:solidFill>
            <a:prstDash val="solid"/>
          </a:ln>
        </p:spPr>
      </p:sp>
      <p:sp>
        <p:nvSpPr>
          <p:cNvPr id="10" name="Text 6"/>
          <p:cNvSpPr txBox="1"/>
          <p:nvPr/>
        </p:nvSpPr>
        <p:spPr>
          <a:xfrm>
            <a:off x="4297680" y="3683011"/>
            <a:ext cx="3566160" cy="274320"/>
          </a:xfrm>
          <a:prstGeom prst="rect">
            <a:avLst/>
          </a:prstGeom>
          <a:noFill/>
          <a:ln/>
        </p:spPr>
        <p:txBody>
          <a:bodyPr wrap="square" lIns="0" tIns="0" rIns="0" bIns="0" rtlCol="0" anchor="t"/>
          <a:lstStyle/>
          <a:p>
            <a:pPr indent="0" marL="0">
              <a:buNone/>
            </a:pPr>
            <a:r>
              <a:rPr lang="en-US" sz="1500" b="1" dirty="0">
                <a:solidFill>
                  <a:schemeClr val="tx1"/>
                </a:solidFill>
              </a:rPr>
              <a:t>eMAG Marketplace · :8002</a:t>
            </a:r>
            <a:endParaRPr lang="en-US" sz="1500" dirty="0"/>
          </a:p>
        </p:txBody>
      </p:sp>
      <p:sp>
        <p:nvSpPr>
          <p:cNvPr id="11" name="Text 7"/>
          <p:cNvSpPr txBox="1"/>
          <p:nvPr/>
        </p:nvSpPr>
        <p:spPr>
          <a:xfrm>
            <a:off x="4297680" y="4003051"/>
            <a:ext cx="3566160" cy="868680"/>
          </a:xfrm>
          <a:prstGeom prst="rect">
            <a:avLst/>
          </a:prstGeom>
          <a:noFill/>
          <a:ln/>
        </p:spPr>
        <p:txBody>
          <a:bodyPr wrap="square" lIns="0" tIns="0" rIns="0" bIns="0" rtlCol="0" anchor="t"/>
          <a:lstStyle/>
          <a:p>
            <a:pPr indent="0" marL="0">
              <a:buNone/>
            </a:pPr>
            <a:r>
              <a:rPr lang="en-US" sz="1300" dirty="0">
                <a:solidFill>
                  <a:srgbClr val="3D4552"/>
                </a:solidFill>
              </a:rPr>
              <a:t>Notifies with the order id only, re-sends until acknowledged, numeric statuses, batch stock with per-item results.</a:t>
            </a:r>
            <a:endParaRPr lang="en-US" sz="1300" dirty="0"/>
          </a:p>
        </p:txBody>
      </p:sp>
      <p:pic>
        <p:nvPicPr>
          <p:cNvPr id="12" name="Image 2" descr="Bucharest warehouse terminal: pick and ship list, stock by bin with a recount field, and the outbox to Glue">    </p:cNvPr>
          <p:cNvPicPr>
            <a:picLocks noChangeAspect="1"/>
          </p:cNvPicPr>
          <p:nvPr/>
        </p:nvPicPr>
        <p:blipFill>
          <a:blip r:embed="rId3"/>
          <a:stretch>
            <a:fillRect/>
          </a:stretch>
        </p:blipFill>
        <p:spPr>
          <a:xfrm>
            <a:off x="8046720" y="1463040"/>
            <a:ext cx="3566160" cy="2038160"/>
          </a:xfrm>
          <a:prstGeom prst="rect">
            <a:avLst/>
          </a:prstGeom>
        </p:spPr>
      </p:pic>
      <p:sp>
        <p:nvSpPr>
          <p:cNvPr id="13" name="frame"/>
          <p:cNvSpPr/>
          <p:nvPr/>
        </p:nvSpPr>
        <p:spPr>
          <a:xfrm>
            <a:off x="8046720" y="1463040"/>
            <a:ext cx="3566160" cy="2038160"/>
          </a:xfrm>
          <a:prstGeom prst="rect">
            <a:avLst/>
          </a:prstGeom>
          <a:noFill/>
          <a:ln w="9525">
            <a:solidFill>
              <a:srgbClr val="E3E6EB"/>
            </a:solidFill>
            <a:prstDash val="solid"/>
          </a:ln>
        </p:spPr>
      </p:sp>
      <p:sp>
        <p:nvSpPr>
          <p:cNvPr id="14" name="Text 9"/>
          <p:cNvSpPr txBox="1"/>
          <p:nvPr/>
        </p:nvSpPr>
        <p:spPr>
          <a:xfrm>
            <a:off x="8046720" y="3684080"/>
            <a:ext cx="3566160" cy="274320"/>
          </a:xfrm>
          <a:prstGeom prst="rect">
            <a:avLst/>
          </a:prstGeom>
          <a:noFill/>
          <a:ln/>
        </p:spPr>
        <p:txBody>
          <a:bodyPr wrap="square" lIns="0" tIns="0" rIns="0" bIns="0" rtlCol="0" anchor="t"/>
          <a:lstStyle/>
          <a:p>
            <a:pPr indent="0" marL="0">
              <a:buNone/>
            </a:pPr>
            <a:r>
              <a:rPr lang="en-US" sz="1500" b="1" dirty="0">
                <a:solidFill>
                  <a:schemeClr val="tx1"/>
                </a:solidFill>
              </a:rPr>
              <a:t>Bucharest warehouse · :8003</a:t>
            </a:r>
            <a:endParaRPr lang="en-US" sz="1500" dirty="0"/>
          </a:p>
        </p:txBody>
      </p:sp>
      <p:sp>
        <p:nvSpPr>
          <p:cNvPr id="15" name="Text 10"/>
          <p:cNvSpPr txBox="1"/>
          <p:nvPr/>
        </p:nvSpPr>
        <p:spPr>
          <a:xfrm>
            <a:off x="8046720" y="4004120"/>
            <a:ext cx="3566160" cy="868680"/>
          </a:xfrm>
          <a:prstGeom prst="rect">
            <a:avLst/>
          </a:prstGeom>
          <a:noFill/>
          <a:ln/>
        </p:spPr>
        <p:txBody>
          <a:bodyPr wrap="square" lIns="0" tIns="0" rIns="0" bIns="0" rtlCol="0" anchor="t"/>
          <a:lstStyle/>
          <a:p>
            <a:pPr indent="0" marL="0">
              <a:buNone/>
            </a:pPr>
            <a:r>
              <a:rPr lang="en-US" sz="1300" dirty="0">
                <a:solidFill>
                  <a:srgbClr val="3D4552"/>
                </a:solidFill>
              </a:rPr>
              <a:t>Owns stock, reserves atomically, replays a repeated Idempotency-Key, 409 when short.</a:t>
            </a:r>
            <a:endParaRPr lang="en-US" sz="1300" dirty="0"/>
          </a:p>
        </p:txBody>
      </p:sp>
      <p:sp>
        <p:nvSpPr>
          <p:cNvPr id="16" name="faults"/>
          <p:cNvSpPr/>
          <p:nvPr/>
        </p:nvSpPr>
        <p:spPr>
          <a:xfrm>
            <a:off x="548640" y="4983480"/>
            <a:ext cx="11094415" cy="640080"/>
          </a:xfrm>
          <a:prstGeom prst="roundRect">
            <a:avLst>
              <a:gd name="adj" fmla="val 11429"/>
            </a:avLst>
          </a:prstGeom>
          <a:solidFill>
            <a:schemeClr val="bg2"/>
          </a:solidFill>
          <a:ln/>
        </p:spPr>
      </p:sp>
      <p:sp>
        <p:nvSpPr>
          <p:cNvPr id="17" name="Text 12"/>
          <p:cNvSpPr txBox="1"/>
          <p:nvPr/>
        </p:nvSpPr>
        <p:spPr>
          <a:xfrm>
            <a:off x="777240" y="4983480"/>
            <a:ext cx="10637215" cy="640080"/>
          </a:xfrm>
          <a:prstGeom prst="rect">
            <a:avLst/>
          </a:prstGeom>
          <a:noFill/>
          <a:ln/>
        </p:spPr>
        <p:txBody>
          <a:bodyPr wrap="square" lIns="0" tIns="0" rIns="0" bIns="0" rtlCol="0" anchor="ctr"/>
          <a:lstStyle/>
          <a:p>
            <a:pPr indent="0" marL="0">
              <a:buNone/>
            </a:pPr>
            <a:r>
              <a:rPr lang="en-US" sz="1300" b="1" dirty="0">
                <a:solidFill>
                  <a:schemeClr val="tx1"/>
                </a:solidFill>
              </a:rPr>
              <a:t>Fault switches on each, driven from Demo controls: </a:t>
            </a:r>
            <a:r>
              <a:rPr lang="en-US" sz="1300" dirty="0">
                <a:solidFill>
                  <a:srgbClr val="3D4552"/>
                </a:solidFill>
              </a:rPr>
              <a:t>down, slow, fail the next orders, rate limit, refuse one product, ignore stock updates, send an event twice, a fake signature.</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PROCESS</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How it was built</a:t>
            </a:r>
            <a:endParaRPr lang="en-US" sz="3200" dirty="0"/>
          </a:p>
        </p:txBody>
      </p:sp>
      <p:sp>
        <p:nvSpPr>
          <p:cNvPr id="4" name="timeline"/>
          <p:cNvSpPr/>
          <p:nvPr/>
        </p:nvSpPr>
        <p:spPr>
          <a:xfrm>
            <a:off x="777240" y="1856232"/>
            <a:ext cx="9509499" cy="18288"/>
          </a:xfrm>
          <a:prstGeom prst="rect">
            <a:avLst/>
          </a:prstGeom>
          <a:solidFill>
            <a:srgbClr val="E3E6EB"/>
          </a:solidFill>
          <a:ln/>
        </p:spPr>
      </p:sp>
      <p:sp>
        <p:nvSpPr>
          <p:cNvPr id="5" name="step 1"/>
          <p:cNvSpPr/>
          <p:nvPr/>
        </p:nvSpPr>
        <p:spPr>
          <a:xfrm>
            <a:off x="594360" y="1645920"/>
            <a:ext cx="438912" cy="438912"/>
          </a:xfrm>
          <a:prstGeom prst="ellipse">
            <a:avLst/>
          </a:prstGeom>
          <a:solidFill>
            <a:schemeClr val="tx1"/>
          </a:solidFill>
          <a:ln/>
        </p:spPr>
      </p:sp>
      <p:sp>
        <p:nvSpPr>
          <p:cNvPr id="6" name="Text 4"/>
          <p:cNvSpPr txBox="1"/>
          <p:nvPr/>
        </p:nvSpPr>
        <p:spPr>
          <a:xfrm>
            <a:off x="594360" y="16459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548640" y="2286000"/>
            <a:ext cx="1447756" cy="566928"/>
          </a:xfrm>
          <a:prstGeom prst="rect">
            <a:avLst/>
          </a:prstGeom>
          <a:noFill/>
          <a:ln/>
        </p:spPr>
        <p:txBody>
          <a:bodyPr wrap="square" lIns="0" tIns="0" rIns="0" bIns="0" rtlCol="0" anchor="t"/>
          <a:lstStyle/>
          <a:p>
            <a:pPr indent="0" marL="0">
              <a:buNone/>
            </a:pPr>
            <a:r>
              <a:rPr lang="en-US" sz="1400" b="1" dirty="0">
                <a:solidFill>
                  <a:schemeClr val="tx1"/>
                </a:solidFill>
              </a:rPr>
              <a:t>Requirement</a:t>
            </a:r>
            <a:endParaRPr lang="en-US" sz="1400" dirty="0"/>
          </a:p>
        </p:txBody>
      </p:sp>
      <p:sp>
        <p:nvSpPr>
          <p:cNvPr id="8" name="Text 6"/>
          <p:cNvSpPr txBox="1"/>
          <p:nvPr/>
        </p:nvSpPr>
        <p:spPr>
          <a:xfrm>
            <a:off x="548640" y="2880360"/>
            <a:ext cx="1447756" cy="1463040"/>
          </a:xfrm>
          <a:prstGeom prst="rect">
            <a:avLst/>
          </a:prstGeom>
          <a:noFill/>
          <a:ln/>
        </p:spPr>
        <p:txBody>
          <a:bodyPr wrap="square" lIns="0" tIns="0" rIns="0" bIns="0" rtlCol="0" anchor="t"/>
          <a:lstStyle/>
          <a:p>
            <a:pPr indent="0" marL="0">
              <a:buNone/>
            </a:pPr>
            <a:r>
              <a:rPr lang="en-US" sz="1200" dirty="0">
                <a:solidFill>
                  <a:srgbClr val="3D4552"/>
                </a:solidFill>
              </a:rPr>
              <a:t>Sync orders and stock; handle conflicts, retries and partial failures.</a:t>
            </a:r>
            <a:endParaRPr lang="en-US" sz="1200" dirty="0"/>
          </a:p>
        </p:txBody>
      </p:sp>
      <p:sp>
        <p:nvSpPr>
          <p:cNvPr id="9" name="step 2"/>
          <p:cNvSpPr/>
          <p:nvPr/>
        </p:nvSpPr>
        <p:spPr>
          <a:xfrm>
            <a:off x="2179276" y="1645920"/>
            <a:ext cx="438912" cy="438912"/>
          </a:xfrm>
          <a:prstGeom prst="ellipse">
            <a:avLst/>
          </a:prstGeom>
          <a:solidFill>
            <a:schemeClr val="tx1"/>
          </a:solidFill>
          <a:ln/>
        </p:spPr>
      </p:sp>
      <p:sp>
        <p:nvSpPr>
          <p:cNvPr id="10" name="Text 8"/>
          <p:cNvSpPr txBox="1"/>
          <p:nvPr/>
        </p:nvSpPr>
        <p:spPr>
          <a:xfrm>
            <a:off x="2179276" y="16459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 9"/>
          <p:cNvSpPr txBox="1"/>
          <p:nvPr/>
        </p:nvSpPr>
        <p:spPr>
          <a:xfrm>
            <a:off x="2133556" y="2286000"/>
            <a:ext cx="1447756" cy="566928"/>
          </a:xfrm>
          <a:prstGeom prst="rect">
            <a:avLst/>
          </a:prstGeom>
          <a:noFill/>
          <a:ln/>
        </p:spPr>
        <p:txBody>
          <a:bodyPr wrap="square" lIns="0" tIns="0" rIns="0" bIns="0" rtlCol="0" anchor="t"/>
          <a:lstStyle/>
          <a:p>
            <a:pPr indent="0" marL="0">
              <a:buNone/>
            </a:pPr>
            <a:r>
              <a:rPr lang="en-US" sz="1400" b="1" dirty="0">
                <a:solidFill>
                  <a:schemeClr val="tx1"/>
                </a:solidFill>
              </a:rPr>
              <a:t>Scenario</a:t>
            </a:r>
            <a:endParaRPr lang="en-US" sz="1400" dirty="0"/>
          </a:p>
        </p:txBody>
      </p:sp>
      <p:sp>
        <p:nvSpPr>
          <p:cNvPr id="12" name="Text 10"/>
          <p:cNvSpPr txBox="1"/>
          <p:nvPr/>
        </p:nvSpPr>
        <p:spPr>
          <a:xfrm>
            <a:off x="2133556" y="2880360"/>
            <a:ext cx="1447756" cy="1463040"/>
          </a:xfrm>
          <a:prstGeom prst="rect">
            <a:avLst/>
          </a:prstGeom>
          <a:noFill/>
          <a:ln/>
        </p:spPr>
        <p:txBody>
          <a:bodyPr wrap="square" lIns="0" tIns="0" rIns="0" bIns="0" rtlCol="0" anchor="t"/>
          <a:lstStyle/>
          <a:p>
            <a:pPr indent="0" marL="0">
              <a:buNone/>
            </a:pPr>
            <a:r>
              <a:rPr lang="en-US" sz="1200" dirty="0">
                <a:solidFill>
                  <a:srgbClr val="3D4552"/>
                </a:solidFill>
              </a:rPr>
              <a:t>A real-shaped customer; the real APIs' delivery rules researched first.</a:t>
            </a:r>
            <a:endParaRPr lang="en-US" sz="1200" dirty="0"/>
          </a:p>
        </p:txBody>
      </p:sp>
      <p:sp>
        <p:nvSpPr>
          <p:cNvPr id="13" name="step 3"/>
          <p:cNvSpPr/>
          <p:nvPr/>
        </p:nvSpPr>
        <p:spPr>
          <a:xfrm>
            <a:off x="3764193" y="1645920"/>
            <a:ext cx="438912" cy="438912"/>
          </a:xfrm>
          <a:prstGeom prst="ellipse">
            <a:avLst/>
          </a:prstGeom>
          <a:solidFill>
            <a:schemeClr val="tx1"/>
          </a:solidFill>
          <a:ln/>
        </p:spPr>
      </p:sp>
      <p:sp>
        <p:nvSpPr>
          <p:cNvPr id="14" name="Text 12"/>
          <p:cNvSpPr txBox="1"/>
          <p:nvPr/>
        </p:nvSpPr>
        <p:spPr>
          <a:xfrm>
            <a:off x="3764193" y="16459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5" name="Text 13"/>
          <p:cNvSpPr txBox="1"/>
          <p:nvPr/>
        </p:nvSpPr>
        <p:spPr>
          <a:xfrm>
            <a:off x="3718473" y="2286000"/>
            <a:ext cx="1447756" cy="566928"/>
          </a:xfrm>
          <a:prstGeom prst="rect">
            <a:avLst/>
          </a:prstGeom>
          <a:noFill/>
          <a:ln/>
        </p:spPr>
        <p:txBody>
          <a:bodyPr wrap="square" lIns="0" tIns="0" rIns="0" bIns="0" rtlCol="0" anchor="t"/>
          <a:lstStyle/>
          <a:p>
            <a:pPr indent="0" marL="0">
              <a:buNone/>
            </a:pPr>
            <a:r>
              <a:rPr lang="en-US" sz="1400" b="1" dirty="0">
                <a:solidFill>
                  <a:schemeClr val="tx1"/>
                </a:solidFill>
              </a:rPr>
              <a:t>Design first</a:t>
            </a:r>
            <a:endParaRPr lang="en-US" sz="1400" dirty="0"/>
          </a:p>
        </p:txBody>
      </p:sp>
      <p:sp>
        <p:nvSpPr>
          <p:cNvPr id="16" name="Text 14"/>
          <p:cNvSpPr txBox="1"/>
          <p:nvPr/>
        </p:nvSpPr>
        <p:spPr>
          <a:xfrm>
            <a:off x="3718473" y="2880360"/>
            <a:ext cx="1447756" cy="1463040"/>
          </a:xfrm>
          <a:prstGeom prst="rect">
            <a:avLst/>
          </a:prstGeom>
          <a:noFill/>
          <a:ln/>
        </p:spPr>
        <p:txBody>
          <a:bodyPr wrap="square" lIns="0" tIns="0" rIns="0" bIns="0" rtlCol="0" anchor="t"/>
          <a:lstStyle/>
          <a:p>
            <a:pPr indent="0" marL="0">
              <a:buNone/>
            </a:pPr>
            <a:r>
              <a:rPr lang="en-US" sz="1200" dirty="0">
                <a:solidFill>
                  <a:srgbClr val="3D4552"/>
                </a:solidFill>
              </a:rPr>
              <a:t>Mockups of every screen, approved before any code.</a:t>
            </a:r>
            <a:endParaRPr lang="en-US" sz="1200" dirty="0"/>
          </a:p>
        </p:txBody>
      </p:sp>
      <p:sp>
        <p:nvSpPr>
          <p:cNvPr id="17" name="step 4"/>
          <p:cNvSpPr/>
          <p:nvPr/>
        </p:nvSpPr>
        <p:spPr>
          <a:xfrm>
            <a:off x="5349109" y="1645920"/>
            <a:ext cx="438912" cy="438912"/>
          </a:xfrm>
          <a:prstGeom prst="ellipse">
            <a:avLst/>
          </a:prstGeom>
          <a:solidFill>
            <a:schemeClr val="tx1"/>
          </a:solidFill>
          <a:ln/>
        </p:spPr>
      </p:sp>
      <p:sp>
        <p:nvSpPr>
          <p:cNvPr id="18" name="Text 16"/>
          <p:cNvSpPr txBox="1"/>
          <p:nvPr/>
        </p:nvSpPr>
        <p:spPr>
          <a:xfrm>
            <a:off x="5349109" y="16459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9" name="Text 17"/>
          <p:cNvSpPr txBox="1"/>
          <p:nvPr/>
        </p:nvSpPr>
        <p:spPr>
          <a:xfrm>
            <a:off x="5303389" y="2286000"/>
            <a:ext cx="1447756" cy="566928"/>
          </a:xfrm>
          <a:prstGeom prst="rect">
            <a:avLst/>
          </a:prstGeom>
          <a:noFill/>
          <a:ln/>
        </p:spPr>
        <p:txBody>
          <a:bodyPr wrap="square" lIns="0" tIns="0" rIns="0" bIns="0" rtlCol="0" anchor="t"/>
          <a:lstStyle/>
          <a:p>
            <a:pPr indent="0" marL="0">
              <a:buNone/>
            </a:pPr>
            <a:r>
              <a:rPr lang="en-US" sz="1400" b="1" dirty="0">
                <a:solidFill>
                  <a:schemeClr val="tx1"/>
                </a:solidFill>
              </a:rPr>
              <a:t>Written plan</a:t>
            </a:r>
            <a:endParaRPr lang="en-US" sz="1400" dirty="0"/>
          </a:p>
        </p:txBody>
      </p:sp>
      <p:sp>
        <p:nvSpPr>
          <p:cNvPr id="20" name="Text 18"/>
          <p:cNvSpPr txBox="1"/>
          <p:nvPr/>
        </p:nvSpPr>
        <p:spPr>
          <a:xfrm>
            <a:off x="5303389" y="2880360"/>
            <a:ext cx="1447756" cy="1463040"/>
          </a:xfrm>
          <a:prstGeom prst="rect">
            <a:avLst/>
          </a:prstGeom>
          <a:noFill/>
          <a:ln/>
        </p:spPr>
        <p:txBody>
          <a:bodyPr wrap="square" lIns="0" tIns="0" rIns="0" bIns="0" rtlCol="0" anchor="t"/>
          <a:lstStyle/>
          <a:p>
            <a:pPr indent="0" marL="0">
              <a:buNone/>
            </a:pPr>
            <a:r>
              <a:rPr lang="en-US" sz="1200" dirty="0">
                <a:solidFill>
                  <a:srgbClr val="3D4552"/>
                </a:solidFill>
              </a:rPr>
              <a:t>Small tasks with acceptance checks; the sync core before anything else.</a:t>
            </a:r>
            <a:endParaRPr lang="en-US" sz="1200" dirty="0"/>
          </a:p>
        </p:txBody>
      </p:sp>
      <p:sp>
        <p:nvSpPr>
          <p:cNvPr id="21" name="step 5"/>
          <p:cNvSpPr/>
          <p:nvPr/>
        </p:nvSpPr>
        <p:spPr>
          <a:xfrm>
            <a:off x="6934026" y="1645920"/>
            <a:ext cx="438912" cy="438912"/>
          </a:xfrm>
          <a:prstGeom prst="ellipse">
            <a:avLst/>
          </a:prstGeom>
          <a:solidFill>
            <a:schemeClr val="tx1"/>
          </a:solidFill>
          <a:ln/>
        </p:spPr>
      </p:sp>
      <p:sp>
        <p:nvSpPr>
          <p:cNvPr id="22" name="Text 20"/>
          <p:cNvSpPr txBox="1"/>
          <p:nvPr/>
        </p:nvSpPr>
        <p:spPr>
          <a:xfrm>
            <a:off x="6934026" y="16459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3" name="Text 21"/>
          <p:cNvSpPr txBox="1"/>
          <p:nvPr/>
        </p:nvSpPr>
        <p:spPr>
          <a:xfrm>
            <a:off x="6888306" y="2286000"/>
            <a:ext cx="1447756" cy="566928"/>
          </a:xfrm>
          <a:prstGeom prst="rect">
            <a:avLst/>
          </a:prstGeom>
          <a:noFill/>
          <a:ln/>
        </p:spPr>
        <p:txBody>
          <a:bodyPr wrap="square" lIns="0" tIns="0" rIns="0" bIns="0" rtlCol="0" anchor="t"/>
          <a:lstStyle/>
          <a:p>
            <a:pPr indent="0" marL="0">
              <a:buNone/>
            </a:pPr>
            <a:r>
              <a:rPr lang="en-US" sz="1400" b="1" dirty="0">
                <a:solidFill>
                  <a:schemeClr val="tx1"/>
                </a:solidFill>
              </a:rPr>
              <a:t>Task by task</a:t>
            </a:r>
            <a:endParaRPr lang="en-US" sz="1400" dirty="0"/>
          </a:p>
        </p:txBody>
      </p:sp>
      <p:sp>
        <p:nvSpPr>
          <p:cNvPr id="24" name="Text 22"/>
          <p:cNvSpPr txBox="1"/>
          <p:nvPr/>
        </p:nvSpPr>
        <p:spPr>
          <a:xfrm>
            <a:off x="6888306" y="2880360"/>
            <a:ext cx="1447756" cy="1463040"/>
          </a:xfrm>
          <a:prstGeom prst="rect">
            <a:avLst/>
          </a:prstGeom>
          <a:noFill/>
          <a:ln/>
        </p:spPr>
        <p:txBody>
          <a:bodyPr wrap="square" lIns="0" tIns="0" rIns="0" bIns="0" rtlCol="0" anchor="t"/>
          <a:lstStyle/>
          <a:p>
            <a:pPr indent="0" marL="0">
              <a:buNone/>
            </a:pPr>
            <a:r>
              <a:rPr lang="en-US" sz="1200" dirty="0">
                <a:solidFill>
                  <a:srgbClr val="3D4552"/>
                </a:solidFill>
              </a:rPr>
              <a:t>Each task reviewed independently, with fix rounds until clean.</a:t>
            </a:r>
            <a:endParaRPr lang="en-US" sz="1200" dirty="0"/>
          </a:p>
        </p:txBody>
      </p:sp>
      <p:sp>
        <p:nvSpPr>
          <p:cNvPr id="25" name="step 6"/>
          <p:cNvSpPr/>
          <p:nvPr/>
        </p:nvSpPr>
        <p:spPr>
          <a:xfrm>
            <a:off x="8518942" y="1645920"/>
            <a:ext cx="438912" cy="438912"/>
          </a:xfrm>
          <a:prstGeom prst="ellipse">
            <a:avLst/>
          </a:prstGeom>
          <a:solidFill>
            <a:schemeClr val="accent1"/>
          </a:solidFill>
          <a:ln/>
        </p:spPr>
      </p:sp>
      <p:sp>
        <p:nvSpPr>
          <p:cNvPr id="26" name="Text 24"/>
          <p:cNvSpPr txBox="1"/>
          <p:nvPr/>
        </p:nvSpPr>
        <p:spPr>
          <a:xfrm>
            <a:off x="8518942" y="16459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27" name="Text 25"/>
          <p:cNvSpPr txBox="1"/>
          <p:nvPr/>
        </p:nvSpPr>
        <p:spPr>
          <a:xfrm>
            <a:off x="8473222" y="2286000"/>
            <a:ext cx="1447756" cy="566928"/>
          </a:xfrm>
          <a:prstGeom prst="rect">
            <a:avLst/>
          </a:prstGeom>
          <a:noFill/>
          <a:ln/>
        </p:spPr>
        <p:txBody>
          <a:bodyPr wrap="square" lIns="0" tIns="0" rIns="0" bIns="0" rtlCol="0" anchor="t"/>
          <a:lstStyle/>
          <a:p>
            <a:pPr indent="0" marL="0">
              <a:buNone/>
            </a:pPr>
            <a:r>
              <a:rPr lang="en-US" sz="1400" b="1" dirty="0">
                <a:solidFill>
                  <a:schemeClr val="tx1"/>
                </a:solidFill>
              </a:rPr>
              <a:t>Analysis, then hardening</a:t>
            </a:r>
            <a:endParaRPr lang="en-US" sz="1400" dirty="0"/>
          </a:p>
        </p:txBody>
      </p:sp>
      <p:sp>
        <p:nvSpPr>
          <p:cNvPr id="28" name="Text 26"/>
          <p:cNvSpPr txBox="1"/>
          <p:nvPr/>
        </p:nvSpPr>
        <p:spPr>
          <a:xfrm>
            <a:off x="8473222" y="2880360"/>
            <a:ext cx="1447756" cy="1463040"/>
          </a:xfrm>
          <a:prstGeom prst="rect">
            <a:avLst/>
          </a:prstGeom>
          <a:noFill/>
          <a:ln/>
        </p:spPr>
        <p:txBody>
          <a:bodyPr wrap="square" lIns="0" tIns="0" rIns="0" bIns="0" rtlCol="0" anchor="t"/>
          <a:lstStyle/>
          <a:p>
            <a:pPr indent="0" marL="0">
              <a:buNone/>
            </a:pPr>
            <a:r>
              <a:rPr lang="en-US" sz="1200" dirty="0">
                <a:solidFill>
                  <a:srgbClr val="3D4552"/>
                </a:solidFill>
              </a:rPr>
              <a:t>A fresh review reproduced 8 core gaps as failing tests; a load probe found a 20 orders/s cap.</a:t>
            </a:r>
            <a:endParaRPr lang="en-US" sz="1200" dirty="0"/>
          </a:p>
        </p:txBody>
      </p:sp>
      <p:sp>
        <p:nvSpPr>
          <p:cNvPr id="29" name="step 7"/>
          <p:cNvSpPr/>
          <p:nvPr/>
        </p:nvSpPr>
        <p:spPr>
          <a:xfrm>
            <a:off x="10103859" y="1645920"/>
            <a:ext cx="438912" cy="438912"/>
          </a:xfrm>
          <a:prstGeom prst="ellipse">
            <a:avLst/>
          </a:prstGeom>
          <a:solidFill>
            <a:schemeClr val="accent1"/>
          </a:solidFill>
          <a:ln/>
        </p:spPr>
      </p:sp>
      <p:sp>
        <p:nvSpPr>
          <p:cNvPr id="30" name="Text 28"/>
          <p:cNvSpPr txBox="1"/>
          <p:nvPr/>
        </p:nvSpPr>
        <p:spPr>
          <a:xfrm>
            <a:off x="10103859" y="164592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31" name="Text 29"/>
          <p:cNvSpPr txBox="1"/>
          <p:nvPr/>
        </p:nvSpPr>
        <p:spPr>
          <a:xfrm>
            <a:off x="10058139" y="2286000"/>
            <a:ext cx="1447756" cy="566928"/>
          </a:xfrm>
          <a:prstGeom prst="rect">
            <a:avLst/>
          </a:prstGeom>
          <a:noFill/>
          <a:ln/>
        </p:spPr>
        <p:txBody>
          <a:bodyPr wrap="square" lIns="0" tIns="0" rIns="0" bIns="0" rtlCol="0" anchor="t"/>
          <a:lstStyle/>
          <a:p>
            <a:pPr indent="0" marL="0">
              <a:buNone/>
            </a:pPr>
            <a:r>
              <a:rPr lang="en-US" sz="1400" b="1" dirty="0">
                <a:solidFill>
                  <a:schemeClr val="tx1"/>
                </a:solidFill>
              </a:rPr>
              <a:t>Final review and QA</a:t>
            </a:r>
            <a:endParaRPr lang="en-US" sz="1400" dirty="0"/>
          </a:p>
        </p:txBody>
      </p:sp>
      <p:sp>
        <p:nvSpPr>
          <p:cNvPr id="32" name="Text 30"/>
          <p:cNvSpPr txBox="1"/>
          <p:nvPr/>
        </p:nvSpPr>
        <p:spPr>
          <a:xfrm>
            <a:off x="10058139" y="2880360"/>
            <a:ext cx="1447756" cy="1463040"/>
          </a:xfrm>
          <a:prstGeom prst="rect">
            <a:avLst/>
          </a:prstGeom>
          <a:noFill/>
          <a:ln/>
        </p:spPr>
        <p:txBody>
          <a:bodyPr wrap="square" lIns="0" tIns="0" rIns="0" bIns="0" rtlCol="0" anchor="t"/>
          <a:lstStyle/>
          <a:p>
            <a:pPr indent="0" marL="0">
              <a:buNone/>
            </a:pPr>
            <a:r>
              <a:rPr lang="en-US" sz="1200" dirty="0">
                <a:solidFill>
                  <a:srgbClr val="3D4552"/>
                </a:solidFill>
              </a:rPr>
              <a:t>Whole-branch review, a last fix wave, browser checks, a run from a fresh clone.</a:t>
            </a:r>
            <a:endParaRPr lang="en-US" sz="1200" dirty="0"/>
          </a:p>
        </p:txBody>
      </p:sp>
      <p:sp>
        <p:nvSpPr>
          <p:cNvPr id="33" name="habits"/>
          <p:cNvSpPr/>
          <p:nvPr/>
        </p:nvSpPr>
        <p:spPr>
          <a:xfrm>
            <a:off x="548640" y="4297680"/>
            <a:ext cx="11094415" cy="1463040"/>
          </a:xfrm>
          <a:prstGeom prst="roundRect">
            <a:avLst>
              <a:gd name="adj" fmla="val 5000"/>
            </a:avLst>
          </a:prstGeom>
          <a:solidFill>
            <a:schemeClr val="bg2"/>
          </a:solidFill>
          <a:ln/>
        </p:spPr>
      </p:sp>
      <p:sp>
        <p:nvSpPr>
          <p:cNvPr id="34" name="Text 32"/>
          <p:cNvSpPr txBox="1"/>
          <p:nvPr/>
        </p:nvSpPr>
        <p:spPr>
          <a:xfrm>
            <a:off x="777240" y="4453128"/>
            <a:ext cx="3657600" cy="274320"/>
          </a:xfrm>
          <a:prstGeom prst="rect">
            <a:avLst/>
          </a:prstGeom>
          <a:noFill/>
          <a:ln/>
        </p:spPr>
        <p:txBody>
          <a:bodyPr wrap="square" lIns="0" tIns="0" rIns="0" bIns="0" rtlCol="0" anchor="t"/>
          <a:lstStyle/>
          <a:p>
            <a:pPr indent="0" marL="0">
              <a:buNone/>
            </a:pPr>
            <a:r>
              <a:rPr lang="en-US" sz="1500" b="1" dirty="0">
                <a:solidFill>
                  <a:schemeClr val="tx1"/>
                </a:solidFill>
              </a:rPr>
              <a:t>Habits throughout</a:t>
            </a:r>
            <a:endParaRPr lang="en-US" sz="1500" dirty="0"/>
          </a:p>
        </p:txBody>
      </p:sp>
      <p:sp>
        <p:nvSpPr>
          <p:cNvPr id="35" name="Text 33"/>
          <p:cNvSpPr txBox="1"/>
          <p:nvPr/>
        </p:nvSpPr>
        <p:spPr>
          <a:xfrm>
            <a:off x="777240" y="4846320"/>
            <a:ext cx="3383280" cy="274320"/>
          </a:xfrm>
          <a:prstGeom prst="rect">
            <a:avLst/>
          </a:prstGeom>
          <a:noFill/>
          <a:ln/>
        </p:spPr>
        <p:txBody>
          <a:bodyPr wrap="square" lIns="0" tIns="0" rIns="0" bIns="0" rtlCol="0" anchor="t"/>
          <a:lstStyle/>
          <a:p>
            <a:pPr indent="0" marL="0">
              <a:buNone/>
            </a:pPr>
            <a:r>
              <a:rPr lang="en-US" sz="1400" b="1" dirty="0">
                <a:solidFill>
                  <a:schemeClr val="accent1"/>
                </a:solidFill>
              </a:rPr>
              <a:t>Core first</a:t>
            </a:r>
            <a:endParaRPr lang="en-US" sz="1400" dirty="0"/>
          </a:p>
        </p:txBody>
      </p:sp>
      <p:sp>
        <p:nvSpPr>
          <p:cNvPr id="36" name="Text 34"/>
          <p:cNvSpPr txBox="1"/>
          <p:nvPr/>
        </p:nvSpPr>
        <p:spPr>
          <a:xfrm>
            <a:off x="777240" y="5148072"/>
            <a:ext cx="3383280" cy="548640"/>
          </a:xfrm>
          <a:prstGeom prst="rect">
            <a:avLst/>
          </a:prstGeom>
          <a:noFill/>
          <a:ln/>
        </p:spPr>
        <p:txBody>
          <a:bodyPr wrap="square" lIns="0" tIns="0" rIns="0" bIns="0" rtlCol="0" anchor="t"/>
          <a:lstStyle/>
          <a:p>
            <a:pPr indent="0" marL="0">
              <a:buNone/>
            </a:pPr>
            <a:r>
              <a:rPr lang="en-US" sz="1300" dirty="0">
                <a:solidFill>
                  <a:srgbClr val="3D4552"/>
                </a:solidFill>
              </a:rPr>
              <a:t>sync, conflicts and retries worked end to end before the console</a:t>
            </a:r>
            <a:endParaRPr lang="en-US" sz="1300" dirty="0"/>
          </a:p>
        </p:txBody>
      </p:sp>
      <p:sp>
        <p:nvSpPr>
          <p:cNvPr id="37" name="Text 35"/>
          <p:cNvSpPr txBox="1"/>
          <p:nvPr/>
        </p:nvSpPr>
        <p:spPr>
          <a:xfrm>
            <a:off x="4434840" y="4846320"/>
            <a:ext cx="3383280" cy="274320"/>
          </a:xfrm>
          <a:prstGeom prst="rect">
            <a:avLst/>
          </a:prstGeom>
          <a:noFill/>
          <a:ln/>
        </p:spPr>
        <p:txBody>
          <a:bodyPr wrap="square" lIns="0" tIns="0" rIns="0" bIns="0" rtlCol="0" anchor="t"/>
          <a:lstStyle/>
          <a:p>
            <a:pPr indent="0" marL="0">
              <a:buNone/>
            </a:pPr>
            <a:r>
              <a:rPr lang="en-US" sz="1400" b="1" dirty="0">
                <a:solidFill>
                  <a:schemeClr val="accent1"/>
                </a:solidFill>
              </a:rPr>
              <a:t>A failing test first</a:t>
            </a:r>
            <a:endParaRPr lang="en-US" sz="1400" dirty="0"/>
          </a:p>
        </p:txBody>
      </p:sp>
      <p:sp>
        <p:nvSpPr>
          <p:cNvPr id="38" name="Text 36"/>
          <p:cNvSpPr txBox="1"/>
          <p:nvPr/>
        </p:nvSpPr>
        <p:spPr>
          <a:xfrm>
            <a:off x="4434840" y="5148072"/>
            <a:ext cx="3383280" cy="548640"/>
          </a:xfrm>
          <a:prstGeom prst="rect">
            <a:avLst/>
          </a:prstGeom>
          <a:noFill/>
          <a:ln/>
        </p:spPr>
        <p:txBody>
          <a:bodyPr wrap="square" lIns="0" tIns="0" rIns="0" bIns="0" rtlCol="0" anchor="t"/>
          <a:lstStyle/>
          <a:p>
            <a:pPr indent="0" marL="0">
              <a:buNone/>
            </a:pPr>
            <a:r>
              <a:rPr lang="en-US" sz="1300" dirty="0">
                <a:solidFill>
                  <a:srgbClr val="3D4552"/>
                </a:solidFill>
              </a:rPr>
              <a:t>for every core gap; 18 planted bugs, each caught by the suite</a:t>
            </a:r>
            <a:endParaRPr lang="en-US" sz="1300" dirty="0"/>
          </a:p>
        </p:txBody>
      </p:sp>
      <p:sp>
        <p:nvSpPr>
          <p:cNvPr id="39" name="Text 37"/>
          <p:cNvSpPr txBox="1"/>
          <p:nvPr/>
        </p:nvSpPr>
        <p:spPr>
          <a:xfrm>
            <a:off x="8092440" y="4846320"/>
            <a:ext cx="3383280" cy="274320"/>
          </a:xfrm>
          <a:prstGeom prst="rect">
            <a:avLst/>
          </a:prstGeom>
          <a:noFill/>
          <a:ln/>
        </p:spPr>
        <p:txBody>
          <a:bodyPr wrap="square" lIns="0" tIns="0" rIns="0" bIns="0" rtlCol="0" anchor="t"/>
          <a:lstStyle/>
          <a:p>
            <a:pPr indent="0" marL="0">
              <a:buNone/>
            </a:pPr>
            <a:r>
              <a:rPr lang="en-US" sz="1400" b="1" dirty="0">
                <a:solidFill>
                  <a:schemeClr val="accent1"/>
                </a:solidFill>
              </a:rPr>
              <a:t>Checked against the code</a:t>
            </a:r>
            <a:endParaRPr lang="en-US" sz="1400" dirty="0"/>
          </a:p>
        </p:txBody>
      </p:sp>
      <p:sp>
        <p:nvSpPr>
          <p:cNvPr id="40" name="Text 38"/>
          <p:cNvSpPr txBox="1"/>
          <p:nvPr/>
        </p:nvSpPr>
        <p:spPr>
          <a:xfrm>
            <a:off x="8092440" y="5148072"/>
            <a:ext cx="3383280" cy="548640"/>
          </a:xfrm>
          <a:prstGeom prst="rect">
            <a:avLst/>
          </a:prstGeom>
          <a:noFill/>
          <a:ln/>
        </p:spPr>
        <p:txBody>
          <a:bodyPr wrap="square" lIns="0" tIns="0" rIns="0" bIns="0" rtlCol="0" anchor="t"/>
          <a:lstStyle/>
          <a:p>
            <a:pPr indent="0" marL="0">
              <a:buNone/>
            </a:pPr>
            <a:r>
              <a:rPr lang="en-US" sz="1300" dirty="0">
                <a:solidFill>
                  <a:srgbClr val="3D4552"/>
                </a:solidFill>
              </a:rPr>
              <a:t>docs and slides say only what the code does</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REFLECTION</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Trade-offs and limitations</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291840"/>
                <a:gridCol w="2743200"/>
              </a:tblGrid>
              <a:tr h="347472">
                <a:tc>
                  <a:txBody>
                    <a:bodyPr/>
                    <a:lstStyle/>
                    <a:p>
                      <a:pPr indent="0" marL="0">
                        <a:buNone/>
                      </a:pPr>
                      <a:r>
                        <a:rPr lang="en-US" sz="1200" b="1" dirty="0">
                          <a:solidFill>
                            <a:srgbClr val="5B6472"/>
                          </a:solidFill>
                        </a:rPr>
                        <a:t>I chose</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1200" b="1" dirty="0">
                          <a:solidFill>
                            <a:srgbClr val="5B6472"/>
                          </a:solidFill>
                        </a:rPr>
                        <a:t>It costs</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r>
              <a:tr h="566928">
                <a:tc>
                  <a:txBody>
                    <a:bodyPr/>
                    <a:lstStyle/>
                    <a:p>
                      <a:pPr indent="0" marL="0">
                        <a:buNone/>
                      </a:pPr>
                      <a:r>
                        <a:rPr lang="en-US" sz="1400" b="1" dirty="0">
                          <a:solidFill>
                            <a:schemeClr val="tx1"/>
                          </a:solidFill>
                        </a:rPr>
                        <a:t>SQLite and one process</a:t>
                      </a:r>
                      <a:endParaRPr lang="en-US" sz="14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One writer, one instance</a:t>
                      </a:r>
                      <a:endParaRPr lang="en-US" sz="14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566928">
                <a:tc>
                  <a:txBody>
                    <a:bodyPr/>
                    <a:lstStyle/>
                    <a:p>
                      <a:pPr indent="0" marL="0">
                        <a:buNone/>
                      </a:pPr>
                      <a:r>
                        <a:rPr lang="en-US" sz="1400" b="1" dirty="0">
                          <a:solidFill>
                            <a:schemeClr val="tx1"/>
                          </a:solidFill>
                        </a:rPr>
                        <a:t>Pull stock every 10 s, not events alone</a:t>
                      </a:r>
                      <a:endParaRPr lang="en-US" sz="14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Extra calls, but drift heals</a:t>
                      </a:r>
                      <a:endParaRPr lang="en-US" sz="14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566928">
                <a:tc>
                  <a:txBody>
                    <a:bodyPr/>
                    <a:lstStyle/>
                    <a:p>
                      <a:pPr indent="0" marL="0">
                        <a:buNone/>
                      </a:pPr>
                      <a:r>
                        <a:rPr lang="en-US" sz="1400" b="1" dirty="0">
                          <a:solidFill>
                            <a:schemeClr val="tx1"/>
                          </a:solidFill>
                        </a:rPr>
                        <a:t>First to the warehouse wins</a:t>
                      </a:r>
                      <a:endParaRPr lang="en-US" sz="14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Does not protect eMAG's rating</a:t>
                      </a:r>
                      <a:endParaRPr lang="en-US" sz="14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566928">
                <a:tc>
                  <a:txBody>
                    <a:bodyPr/>
                    <a:lstStyle/>
                    <a:p>
                      <a:pPr indent="0" marL="0">
                        <a:buNone/>
                      </a:pPr>
                      <a:r>
                        <a:rPr lang="en-US" sz="1400" b="1" dirty="0">
                          <a:solidFill>
                            <a:schemeClr val="tx1"/>
                          </a:solidFill>
                        </a:rPr>
                        <a:t>A person decides oversells</a:t>
                      </a:r>
                      <a:endParaRPr lang="en-US" sz="14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Someone must watch the queue</a:t>
                      </a:r>
                      <a:endParaRPr lang="en-US" sz="14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566928">
                <a:tc>
                  <a:txBody>
                    <a:bodyPr/>
                    <a:lstStyle/>
                    <a:p>
                      <a:pPr indent="0" marL="0">
                        <a:buNone/>
                      </a:pPr>
                      <a:r>
                        <a:rPr lang="en-US" sz="1400" b="1" dirty="0">
                          <a:solidFill>
                            <a:schemeClr val="tx1"/>
                          </a:solidFill>
                        </a:rPr>
                        <a:t>Mocks, not sandboxes</a:t>
                      </a:r>
                      <a:endParaRPr lang="en-US" sz="14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Real API quirks are untested</a:t>
                      </a:r>
                      <a:endParaRPr lang="en-US" sz="14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r h="566928">
                <a:tc>
                  <a:txBody>
                    <a:bodyPr/>
                    <a:lstStyle/>
                    <a:p>
                      <a:pPr indent="0" marL="0">
                        <a:buNone/>
                      </a:pPr>
                      <a:r>
                        <a:rPr lang="en-US" sz="1400" b="1" dirty="0">
                          <a:solidFill>
                            <a:schemeClr val="tx1"/>
                          </a:solidFill>
                        </a:rPr>
                        <a:t>Polling, not websockets</a:t>
                      </a:r>
                      <a:endParaRPr lang="en-US" sz="14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indent="0" marL="0">
                        <a:buNone/>
                      </a:pPr>
                      <a:r>
                        <a:rPr lang="en-US" sz="1400" dirty="0">
                          <a:solidFill>
                            <a:srgbClr val="3D4552"/>
                          </a:solidFill>
                        </a:rPr>
                        <a:t>Fine for one operator</a:t>
                      </a:r>
                      <a:endParaRPr lang="en-US" sz="14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r>
            </a:tbl>
          </a:graphicData>
        </a:graphic>
      </p:graphicFrame>
      <p:sp>
        <p:nvSpPr>
          <p:cNvPr id="5" name="limitations"/>
          <p:cNvSpPr/>
          <p:nvPr/>
        </p:nvSpPr>
        <p:spPr>
          <a:xfrm>
            <a:off x="6903720" y="1463040"/>
            <a:ext cx="4736592" cy="4526280"/>
          </a:xfrm>
          <a:prstGeom prst="roundRect">
            <a:avLst>
              <a:gd name="adj" fmla="val 1616"/>
            </a:avLst>
          </a:prstGeom>
          <a:solidFill>
            <a:schemeClr val="bg2"/>
          </a:solidFill>
          <a:ln/>
        </p:spPr>
      </p:sp>
      <p:sp>
        <p:nvSpPr>
          <p:cNvPr id="6" name="Text 3"/>
          <p:cNvSpPr txBox="1"/>
          <p:nvPr/>
        </p:nvSpPr>
        <p:spPr>
          <a:xfrm>
            <a:off x="7132320" y="1645920"/>
            <a:ext cx="4297680" cy="292608"/>
          </a:xfrm>
          <a:prstGeom prst="rect">
            <a:avLst/>
          </a:prstGeom>
          <a:noFill/>
          <a:ln/>
        </p:spPr>
        <p:txBody>
          <a:bodyPr wrap="square" lIns="0" tIns="0" rIns="0" bIns="0" rtlCol="0" anchor="t"/>
          <a:lstStyle/>
          <a:p>
            <a:pPr indent="0" marL="0">
              <a:buNone/>
            </a:pPr>
            <a:r>
              <a:rPr lang="en-US" sz="1600" b="1" dirty="0">
                <a:solidFill>
                  <a:schemeClr val="tx1"/>
                </a:solidFill>
              </a:rPr>
              <a:t>Known limitations</a:t>
            </a:r>
            <a:endParaRPr lang="en-US" sz="1600" dirty="0"/>
          </a:p>
        </p:txBody>
      </p:sp>
      <p:sp>
        <p:nvSpPr>
          <p:cNvPr id="7" name="Text 4"/>
          <p:cNvSpPr txBox="1"/>
          <p:nvPr/>
        </p:nvSpPr>
        <p:spPr>
          <a:xfrm>
            <a:off x="7132320" y="2057400"/>
            <a:ext cx="4343400" cy="278892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3D4552"/>
                </a:solidFill>
              </a:rPr>
              <a:t>One instance: order locks, the reconcile lock and the warehouse-down flag live in memory</a:t>
            </a:r>
            <a:endParaRPr lang="en-US" sz="1300" dirty="0"/>
          </a:p>
          <a:p>
            <a:pPr marL="177800" indent="-177800">
              <a:spcAft>
                <a:spcPts val="700"/>
              </a:spcAft>
              <a:buSzPct val="100000"/>
              <a:buChar char="•"/>
            </a:pPr>
            <a:r>
              <a:rPr lang="en-US" sz="1300" dirty="0">
                <a:solidFill>
                  <a:srgbClr val="3D4552"/>
                </a:solidFill>
              </a:rPr>
              <a:t>Glue knows what a channel accepted, not what it shows</a:t>
            </a:r>
            <a:endParaRPr lang="en-US" sz="1300" dirty="0"/>
          </a:p>
          <a:p>
            <a:pPr marL="177800" indent="-177800">
              <a:spcAft>
                <a:spcPts val="700"/>
              </a:spcAft>
              <a:buSzPct val="100000"/>
              <a:buChar char="•"/>
            </a:pPr>
            <a:r>
              <a:rPr lang="en-US" sz="1300" dirty="0">
                <a:solidFill>
                  <a:srgbClr val="3D4552"/>
                </a:solidFill>
              </a:rPr>
              <a:t>A review decision runs its retries inside the HTTP request</a:t>
            </a:r>
            <a:endParaRPr lang="en-US" sz="1300" dirty="0"/>
          </a:p>
          <a:p>
            <a:pPr marL="177800" indent="-177800">
              <a:spcAft>
                <a:spcPts val="700"/>
              </a:spcAft>
              <a:buSzPct val="100000"/>
              <a:buChar char="•"/>
            </a:pPr>
            <a:r>
              <a:rPr lang="en-US" sz="1300" dirty="0">
                <a:solidFill>
                  <a:srgbClr val="3D4552"/>
                </a:solidFill>
              </a:rPr>
              <a:t>Demo sign-in: three fixed users, no password hashing, no rate limit</a:t>
            </a:r>
            <a:endParaRPr lang="en-US" sz="1300" dirty="0"/>
          </a:p>
          <a:p>
            <a:pPr marL="177800" indent="-177800">
              <a:spcAft>
                <a:spcPts val="700"/>
              </a:spcAft>
              <a:buSzPct val="100000"/>
              <a:buChar char="•"/>
            </a:pPr>
            <a:r>
              <a:rPr lang="en-US" sz="1300" dirty="0">
                <a:solidFill>
                  <a:srgbClr val="3D4552"/>
                </a:solidFill>
              </a:rPr>
              <a:t>The shop mock sends each event once; Glue does not poll the shop</a:t>
            </a:r>
            <a:endParaRPr lang="en-US" sz="1300" dirty="0"/>
          </a:p>
          <a:p>
            <a:pPr marL="177800" indent="-177800">
              <a:spcAft>
                <a:spcPts val="700"/>
              </a:spcAft>
              <a:buSzPct val="100000"/>
              <a:buChar char="•"/>
            </a:pPr>
            <a:r>
              <a:rPr lang="en-US" sz="1300" dirty="0">
                <a:solidFill>
                  <a:srgbClr val="3D4552"/>
                </a:solidFill>
              </a:rPr>
              <a:t>No retention, no secret rotation; demo secrets in docker-compose.yml</a:t>
            </a:r>
            <a:endParaRPr lang="en-US" sz="1300" dirty="0"/>
          </a:p>
        </p:txBody>
      </p:sp>
      <p:sp>
        <p:nvSpPr>
          <p:cNvPr id="8" name="Text 5"/>
          <p:cNvSpPr txBox="1"/>
          <p:nvPr/>
        </p:nvSpPr>
        <p:spPr>
          <a:xfrm>
            <a:off x="7132320" y="4892040"/>
            <a:ext cx="4297680" cy="274320"/>
          </a:xfrm>
          <a:prstGeom prst="rect">
            <a:avLst/>
          </a:prstGeom>
          <a:noFill/>
          <a:ln/>
        </p:spPr>
        <p:txBody>
          <a:bodyPr wrap="square" lIns="0" tIns="0" rIns="0" bIns="0" rtlCol="0" anchor="t"/>
          <a:lstStyle/>
          <a:p>
            <a:pPr indent="0" marL="0">
              <a:buNone/>
            </a:pPr>
            <a:r>
              <a:rPr lang="en-US" sz="1400" b="1" dirty="0">
                <a:solidFill>
                  <a:schemeClr val="tx1"/>
                </a:solidFill>
              </a:rPr>
              <a:t>Left out on purpose</a:t>
            </a:r>
            <a:endParaRPr lang="en-US" sz="1400" dirty="0"/>
          </a:p>
        </p:txBody>
      </p:sp>
      <p:sp>
        <p:nvSpPr>
          <p:cNvPr id="9" name="Text 6"/>
          <p:cNvSpPr txBox="1"/>
          <p:nvPr/>
        </p:nvSpPr>
        <p:spPr>
          <a:xfrm>
            <a:off x="7132320" y="5212080"/>
            <a:ext cx="4343400" cy="685800"/>
          </a:xfrm>
          <a:prstGeom prst="rect">
            <a:avLst/>
          </a:prstGeom>
          <a:noFill/>
          <a:ln/>
        </p:spPr>
        <p:txBody>
          <a:bodyPr wrap="square" lIns="0" tIns="0" rIns="0" bIns="0" rtlCol="0" anchor="t"/>
          <a:lstStyle/>
          <a:p>
            <a:pPr indent="0" marL="0">
              <a:buNone/>
            </a:pPr>
            <a:r>
              <a:rPr lang="en-US" sz="1300" dirty="0">
                <a:solidFill>
                  <a:srgbClr val="3D4552"/>
                </a:solidFill>
              </a:rPr>
              <a:t>Courier labels, returns, payments, invoices, several warehouses, catalogue sync. None changes the conflict and retry design.</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AT THE CUSTOMER</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Rolling it out</a:t>
            </a:r>
            <a:endParaRPr lang="en-US" sz="3200" dirty="0"/>
          </a:p>
        </p:txBody>
      </p:sp>
      <p:sp>
        <p:nvSpPr>
          <p:cNvPr id="4" name="Shadow mode"/>
          <p:cNvSpPr/>
          <p:nvPr/>
        </p:nvSpPr>
        <p:spPr>
          <a:xfrm>
            <a:off x="548640" y="1463040"/>
            <a:ext cx="2606040" cy="1600200"/>
          </a:xfrm>
          <a:prstGeom prst="roundRect">
            <a:avLst>
              <a:gd name="adj" fmla="val 4571"/>
            </a:avLst>
          </a:prstGeom>
          <a:solidFill>
            <a:schemeClr val="bg1"/>
          </a:solidFill>
          <a:ln w="9525">
            <a:solidFill>
              <a:srgbClr val="E3E6EB"/>
            </a:solidFill>
            <a:prstDash val="solid"/>
          </a:ln>
        </p:spPr>
      </p:sp>
      <p:sp>
        <p:nvSpPr>
          <p:cNvPr id="5" name="step 1"/>
          <p:cNvSpPr/>
          <p:nvPr/>
        </p:nvSpPr>
        <p:spPr>
          <a:xfrm>
            <a:off x="731520" y="1627632"/>
            <a:ext cx="365760" cy="365760"/>
          </a:xfrm>
          <a:prstGeom prst="ellipse">
            <a:avLst/>
          </a:prstGeom>
          <a:solidFill>
            <a:schemeClr val="accent1"/>
          </a:solidFill>
          <a:ln/>
        </p:spPr>
      </p:sp>
      <p:sp>
        <p:nvSpPr>
          <p:cNvPr id="6" name="Text 4"/>
          <p:cNvSpPr txBox="1"/>
          <p:nvPr/>
        </p:nvSpPr>
        <p:spPr>
          <a:xfrm>
            <a:off x="731520" y="162763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207008" y="1627632"/>
            <a:ext cx="1828800" cy="365760"/>
          </a:xfrm>
          <a:prstGeom prst="rect">
            <a:avLst/>
          </a:prstGeom>
          <a:noFill/>
          <a:ln/>
        </p:spPr>
        <p:txBody>
          <a:bodyPr wrap="square" lIns="0" tIns="0" rIns="0" bIns="0" rtlCol="0" anchor="ctr"/>
          <a:lstStyle/>
          <a:p>
            <a:pPr indent="0" marL="0">
              <a:buNone/>
            </a:pPr>
            <a:r>
              <a:rPr lang="en-US" sz="1600" b="1" dirty="0">
                <a:solidFill>
                  <a:schemeClr val="tx1"/>
                </a:solidFill>
              </a:rPr>
              <a:t>Shadow mode</a:t>
            </a:r>
            <a:endParaRPr lang="en-US" sz="1600" dirty="0"/>
          </a:p>
        </p:txBody>
      </p:sp>
      <p:sp>
        <p:nvSpPr>
          <p:cNvPr id="8" name="Text 6"/>
          <p:cNvSpPr txBox="1"/>
          <p:nvPr/>
        </p:nvSpPr>
        <p:spPr>
          <a:xfrm>
            <a:off x="731520" y="2121408"/>
            <a:ext cx="2286000" cy="868680"/>
          </a:xfrm>
          <a:prstGeom prst="rect">
            <a:avLst/>
          </a:prstGeom>
          <a:noFill/>
          <a:ln/>
        </p:spPr>
        <p:txBody>
          <a:bodyPr wrap="square" lIns="0" tIns="0" rIns="0" bIns="0" rtlCol="0" anchor="t"/>
          <a:lstStyle/>
          <a:p>
            <a:pPr indent="0" marL="0">
              <a:buNone/>
            </a:pPr>
            <a:r>
              <a:rPr lang="en-US" sz="1300" dirty="0">
                <a:solidFill>
                  <a:srgbClr val="3D4552"/>
                </a:solidFill>
              </a:rPr>
              <a:t>Receives and reads everything, sends nothing. Compared daily with the staff's work.</a:t>
            </a:r>
            <a:endParaRPr lang="en-US" sz="1300" dirty="0"/>
          </a:p>
        </p:txBody>
      </p:sp>
      <p:sp>
        <p:nvSpPr>
          <p:cNvPr id="9" name="Shape 7"/>
          <p:cNvSpPr/>
          <p:nvPr/>
        </p:nvSpPr>
        <p:spPr>
          <a:xfrm>
            <a:off x="3182112" y="2263140"/>
            <a:ext cx="173736" cy="0"/>
          </a:xfrm>
          <a:prstGeom prst="line">
            <a:avLst/>
          </a:prstGeom>
          <a:noFill/>
          <a:ln w="15875">
            <a:solidFill>
              <a:schemeClr val="tx1"/>
            </a:solidFill>
            <a:prstDash val="solid"/>
            <a:tailEnd type="triangle"/>
          </a:ln>
        </p:spPr>
      </p:sp>
      <p:sp>
        <p:nvSpPr>
          <p:cNvPr id="10" name="Shop stock"/>
          <p:cNvSpPr/>
          <p:nvPr/>
        </p:nvSpPr>
        <p:spPr>
          <a:xfrm>
            <a:off x="3383280" y="1463040"/>
            <a:ext cx="2606040" cy="1600200"/>
          </a:xfrm>
          <a:prstGeom prst="roundRect">
            <a:avLst>
              <a:gd name="adj" fmla="val 4571"/>
            </a:avLst>
          </a:prstGeom>
          <a:solidFill>
            <a:schemeClr val="bg1"/>
          </a:solidFill>
          <a:ln w="9525">
            <a:solidFill>
              <a:srgbClr val="E3E6EB"/>
            </a:solidFill>
            <a:prstDash val="solid"/>
          </a:ln>
        </p:spPr>
      </p:sp>
      <p:sp>
        <p:nvSpPr>
          <p:cNvPr id="11" name="step 2"/>
          <p:cNvSpPr/>
          <p:nvPr/>
        </p:nvSpPr>
        <p:spPr>
          <a:xfrm>
            <a:off x="3566160" y="1627632"/>
            <a:ext cx="365760" cy="365760"/>
          </a:xfrm>
          <a:prstGeom prst="ellipse">
            <a:avLst/>
          </a:prstGeom>
          <a:solidFill>
            <a:schemeClr val="accent1"/>
          </a:solidFill>
          <a:ln/>
        </p:spPr>
      </p:sp>
      <p:sp>
        <p:nvSpPr>
          <p:cNvPr id="12" name="Text 10"/>
          <p:cNvSpPr txBox="1"/>
          <p:nvPr/>
        </p:nvSpPr>
        <p:spPr>
          <a:xfrm>
            <a:off x="3566160" y="162763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11"/>
          <p:cNvSpPr txBox="1"/>
          <p:nvPr/>
        </p:nvSpPr>
        <p:spPr>
          <a:xfrm>
            <a:off x="4041648" y="1627632"/>
            <a:ext cx="1828800" cy="365760"/>
          </a:xfrm>
          <a:prstGeom prst="rect">
            <a:avLst/>
          </a:prstGeom>
          <a:noFill/>
          <a:ln/>
        </p:spPr>
        <p:txBody>
          <a:bodyPr wrap="square" lIns="0" tIns="0" rIns="0" bIns="0" rtlCol="0" anchor="ctr"/>
          <a:lstStyle/>
          <a:p>
            <a:pPr indent="0" marL="0">
              <a:buNone/>
            </a:pPr>
            <a:r>
              <a:rPr lang="en-US" sz="1600" b="1" dirty="0">
                <a:solidFill>
                  <a:schemeClr val="tx1"/>
                </a:solidFill>
              </a:rPr>
              <a:t>Shop stock</a:t>
            </a:r>
            <a:endParaRPr lang="en-US" sz="1600" dirty="0"/>
          </a:p>
        </p:txBody>
      </p:sp>
      <p:sp>
        <p:nvSpPr>
          <p:cNvPr id="14" name="Text 12"/>
          <p:cNvSpPr txBox="1"/>
          <p:nvPr/>
        </p:nvSpPr>
        <p:spPr>
          <a:xfrm>
            <a:off x="3566160" y="2121408"/>
            <a:ext cx="2286000" cy="868680"/>
          </a:xfrm>
          <a:prstGeom prst="rect">
            <a:avLst/>
          </a:prstGeom>
          <a:noFill/>
          <a:ln/>
        </p:spPr>
        <p:txBody>
          <a:bodyPr wrap="square" lIns="0" tIns="0" rIns="0" bIns="0" rtlCol="0" anchor="t"/>
          <a:lstStyle/>
          <a:p>
            <a:pPr indent="0" marL="0">
              <a:buNone/>
            </a:pPr>
            <a:r>
              <a:rPr lang="en-US" sz="1300" dirty="0">
                <a:solidFill>
                  <a:srgbClr val="3D4552"/>
                </a:solidFill>
              </a:rPr>
              <a:t>Glue pushes stock to the shop only. Staff keep everything else.</a:t>
            </a:r>
            <a:endParaRPr lang="en-US" sz="1300" dirty="0"/>
          </a:p>
        </p:txBody>
      </p:sp>
      <p:sp>
        <p:nvSpPr>
          <p:cNvPr id="15" name="Shape 13"/>
          <p:cNvSpPr/>
          <p:nvPr/>
        </p:nvSpPr>
        <p:spPr>
          <a:xfrm>
            <a:off x="6016752" y="2263140"/>
            <a:ext cx="173736" cy="0"/>
          </a:xfrm>
          <a:prstGeom prst="line">
            <a:avLst/>
          </a:prstGeom>
          <a:noFill/>
          <a:ln w="15875">
            <a:solidFill>
              <a:schemeClr val="tx1"/>
            </a:solidFill>
            <a:prstDash val="solid"/>
            <a:tailEnd type="triangle"/>
          </a:ln>
        </p:spPr>
      </p:sp>
      <p:sp>
        <p:nvSpPr>
          <p:cNvPr id="16" name="eMAG stock"/>
          <p:cNvSpPr/>
          <p:nvPr/>
        </p:nvSpPr>
        <p:spPr>
          <a:xfrm>
            <a:off x="6217920" y="1463040"/>
            <a:ext cx="2606040" cy="1600200"/>
          </a:xfrm>
          <a:prstGeom prst="roundRect">
            <a:avLst>
              <a:gd name="adj" fmla="val 4571"/>
            </a:avLst>
          </a:prstGeom>
          <a:solidFill>
            <a:schemeClr val="bg1"/>
          </a:solidFill>
          <a:ln w="9525">
            <a:solidFill>
              <a:srgbClr val="E3E6EB"/>
            </a:solidFill>
            <a:prstDash val="solid"/>
          </a:ln>
        </p:spPr>
      </p:sp>
      <p:sp>
        <p:nvSpPr>
          <p:cNvPr id="17" name="step 3"/>
          <p:cNvSpPr/>
          <p:nvPr/>
        </p:nvSpPr>
        <p:spPr>
          <a:xfrm>
            <a:off x="6400800" y="1627632"/>
            <a:ext cx="365760" cy="365760"/>
          </a:xfrm>
          <a:prstGeom prst="ellipse">
            <a:avLst/>
          </a:prstGeom>
          <a:solidFill>
            <a:schemeClr val="accent1"/>
          </a:solidFill>
          <a:ln/>
        </p:spPr>
      </p:sp>
      <p:sp>
        <p:nvSpPr>
          <p:cNvPr id="18" name="Text 16"/>
          <p:cNvSpPr txBox="1"/>
          <p:nvPr/>
        </p:nvSpPr>
        <p:spPr>
          <a:xfrm>
            <a:off x="6400800" y="162763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9" name="Text 17"/>
          <p:cNvSpPr txBox="1"/>
          <p:nvPr/>
        </p:nvSpPr>
        <p:spPr>
          <a:xfrm>
            <a:off x="6876288" y="1627632"/>
            <a:ext cx="1828800" cy="365760"/>
          </a:xfrm>
          <a:prstGeom prst="rect">
            <a:avLst/>
          </a:prstGeom>
          <a:noFill/>
          <a:ln/>
        </p:spPr>
        <p:txBody>
          <a:bodyPr wrap="square" lIns="0" tIns="0" rIns="0" bIns="0" rtlCol="0" anchor="ctr"/>
          <a:lstStyle/>
          <a:p>
            <a:pPr indent="0" marL="0">
              <a:buNone/>
            </a:pPr>
            <a:r>
              <a:rPr lang="en-US" sz="1600" b="1" dirty="0">
                <a:solidFill>
                  <a:schemeClr val="tx1"/>
                </a:solidFill>
              </a:rPr>
              <a:t>eMAG stock</a:t>
            </a:r>
            <a:endParaRPr lang="en-US" sz="1600" dirty="0"/>
          </a:p>
        </p:txBody>
      </p:sp>
      <p:sp>
        <p:nvSpPr>
          <p:cNvPr id="20" name="Text 18"/>
          <p:cNvSpPr txBox="1"/>
          <p:nvPr/>
        </p:nvSpPr>
        <p:spPr>
          <a:xfrm>
            <a:off x="6400800" y="2121408"/>
            <a:ext cx="2286000" cy="868680"/>
          </a:xfrm>
          <a:prstGeom prst="rect">
            <a:avLst/>
          </a:prstGeom>
          <a:noFill/>
          <a:ln/>
        </p:spPr>
        <p:txBody>
          <a:bodyPr wrap="square" lIns="0" tIns="0" rIns="0" bIns="0" rtlCol="0" anchor="t"/>
          <a:lstStyle/>
          <a:p>
            <a:pPr indent="0" marL="0">
              <a:buNone/>
            </a:pPr>
            <a:r>
              <a:rPr lang="en-US" sz="1300" dirty="0">
                <a:solidFill>
                  <a:srgbClr val="3D4552"/>
                </a:solidFill>
              </a:rPr>
              <a:t>Then eMAG. Oversell risk drops; eMAG's real rate limits are met here.</a:t>
            </a:r>
            <a:endParaRPr lang="en-US" sz="1300" dirty="0"/>
          </a:p>
        </p:txBody>
      </p:sp>
      <p:sp>
        <p:nvSpPr>
          <p:cNvPr id="21" name="Shape 19"/>
          <p:cNvSpPr/>
          <p:nvPr/>
        </p:nvSpPr>
        <p:spPr>
          <a:xfrm>
            <a:off x="8851392" y="2263140"/>
            <a:ext cx="173736" cy="0"/>
          </a:xfrm>
          <a:prstGeom prst="line">
            <a:avLst/>
          </a:prstGeom>
          <a:noFill/>
          <a:ln w="15875">
            <a:solidFill>
              <a:schemeClr val="tx1"/>
            </a:solidFill>
            <a:prstDash val="solid"/>
            <a:tailEnd type="triangle"/>
          </a:ln>
        </p:spPr>
      </p:sp>
      <p:sp>
        <p:nvSpPr>
          <p:cNvPr id="22" name="Orders"/>
          <p:cNvSpPr/>
          <p:nvPr/>
        </p:nvSpPr>
        <p:spPr>
          <a:xfrm>
            <a:off x="9052560" y="1463040"/>
            <a:ext cx="2606040" cy="1600200"/>
          </a:xfrm>
          <a:prstGeom prst="roundRect">
            <a:avLst>
              <a:gd name="adj" fmla="val 4571"/>
            </a:avLst>
          </a:prstGeom>
          <a:solidFill>
            <a:srgbClr val="E8EEFD"/>
          </a:solidFill>
          <a:ln w="9525">
            <a:solidFill>
              <a:srgbClr val="9DB4F0"/>
            </a:solidFill>
            <a:prstDash val="solid"/>
          </a:ln>
        </p:spPr>
      </p:sp>
      <p:sp>
        <p:nvSpPr>
          <p:cNvPr id="23" name="step 4"/>
          <p:cNvSpPr/>
          <p:nvPr/>
        </p:nvSpPr>
        <p:spPr>
          <a:xfrm>
            <a:off x="9235440" y="1627632"/>
            <a:ext cx="365760" cy="365760"/>
          </a:xfrm>
          <a:prstGeom prst="ellipse">
            <a:avLst/>
          </a:prstGeom>
          <a:solidFill>
            <a:schemeClr val="accent1"/>
          </a:solidFill>
          <a:ln/>
        </p:spPr>
      </p:sp>
      <p:sp>
        <p:nvSpPr>
          <p:cNvPr id="24" name="Text 22"/>
          <p:cNvSpPr txBox="1"/>
          <p:nvPr/>
        </p:nvSpPr>
        <p:spPr>
          <a:xfrm>
            <a:off x="9235440" y="162763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5" name="Text 23"/>
          <p:cNvSpPr txBox="1"/>
          <p:nvPr/>
        </p:nvSpPr>
        <p:spPr>
          <a:xfrm>
            <a:off x="9710928" y="1627632"/>
            <a:ext cx="1828800" cy="365760"/>
          </a:xfrm>
          <a:prstGeom prst="rect">
            <a:avLst/>
          </a:prstGeom>
          <a:noFill/>
          <a:ln/>
        </p:spPr>
        <p:txBody>
          <a:bodyPr wrap="square" lIns="0" tIns="0" rIns="0" bIns="0" rtlCol="0" anchor="ctr"/>
          <a:lstStyle/>
          <a:p>
            <a:pPr indent="0" marL="0">
              <a:buNone/>
            </a:pPr>
            <a:r>
              <a:rPr lang="en-US" sz="1600" b="1" dirty="0">
                <a:solidFill>
                  <a:schemeClr val="tx1"/>
                </a:solidFill>
              </a:rPr>
              <a:t>Orders</a:t>
            </a:r>
            <a:endParaRPr lang="en-US" sz="1600" dirty="0"/>
          </a:p>
        </p:txBody>
      </p:sp>
      <p:sp>
        <p:nvSpPr>
          <p:cNvPr id="26" name="Text 24"/>
          <p:cNvSpPr txBox="1"/>
          <p:nvPr/>
        </p:nvSpPr>
        <p:spPr>
          <a:xfrm>
            <a:off x="9235440" y="2121408"/>
            <a:ext cx="2286000" cy="868680"/>
          </a:xfrm>
          <a:prstGeom prst="rect">
            <a:avLst/>
          </a:prstGeom>
          <a:noFill/>
          <a:ln/>
        </p:spPr>
        <p:txBody>
          <a:bodyPr wrap="square" lIns="0" tIns="0" rIns="0" bIns="0" rtlCol="0" anchor="t"/>
          <a:lstStyle/>
          <a:p>
            <a:pPr indent="0" marL="0">
              <a:buNone/>
            </a:pPr>
            <a:r>
              <a:rPr lang="en-US" sz="1300" dirty="0">
                <a:solidFill>
                  <a:srgbClr val="3D4552"/>
                </a:solidFill>
              </a:rPr>
              <a:t>eMAG first, as it re-sends until confirmed, then the shop. The queue owner starts.</a:t>
            </a:r>
            <a:endParaRPr lang="en-US" sz="1300" dirty="0"/>
          </a:p>
        </p:txBody>
      </p:sp>
      <p:sp>
        <p:nvSpPr>
          <p:cNvPr id="27" name="Text 25"/>
          <p:cNvSpPr txBox="1"/>
          <p:nvPr/>
        </p:nvSpPr>
        <p:spPr>
          <a:xfrm>
            <a:off x="548640" y="3154680"/>
            <a:ext cx="11094415" cy="274320"/>
          </a:xfrm>
          <a:prstGeom prst="rect">
            <a:avLst/>
          </a:prstGeom>
          <a:noFill/>
          <a:ln/>
        </p:spPr>
        <p:txBody>
          <a:bodyPr wrap="square" lIns="0" tIns="0" rIns="0" bIns="0" rtlCol="0" anchor="t"/>
          <a:lstStyle/>
          <a:p>
            <a:pPr indent="0" marL="0">
              <a:buNone/>
            </a:pPr>
            <a:r>
              <a:rPr lang="en-US" sz="1200" dirty="0">
                <a:solidFill>
                  <a:schemeClr val="tx2"/>
                </a:solidFill>
              </a:rPr>
              <a:t>About a week per stage. Shadow mode and the per-stage switches are not built yet: each is a flag checked before Glue calls a system.</a:t>
            </a:r>
            <a:endParaRPr lang="en-US" sz="1200" dirty="0"/>
          </a:p>
        </p:txBody>
      </p:sp>
      <p:sp>
        <p:nvSpPr>
          <p:cNvPr id="28" name="Text 26"/>
          <p:cNvSpPr txBox="1"/>
          <p:nvPr/>
        </p:nvSpPr>
        <p:spPr>
          <a:xfrm>
            <a:off x="548640" y="3611880"/>
            <a:ext cx="5394960" cy="274320"/>
          </a:xfrm>
          <a:prstGeom prst="rect">
            <a:avLst/>
          </a:prstGeom>
          <a:noFill/>
          <a:ln/>
        </p:spPr>
        <p:txBody>
          <a:bodyPr wrap="square" lIns="0" tIns="0" rIns="0" bIns="0" rtlCol="0" anchor="t"/>
          <a:lstStyle/>
          <a:p>
            <a:pPr indent="0" marL="0">
              <a:buNone/>
            </a:pPr>
            <a:r>
              <a:rPr lang="en-US" sz="1500" b="1" dirty="0">
                <a:solidFill>
                  <a:schemeClr val="tx1"/>
                </a:solidFill>
              </a:rPr>
              <a:t>What the customer provides</a:t>
            </a:r>
            <a:endParaRPr lang="en-US" sz="1500" dirty="0"/>
          </a:p>
        </p:txBody>
      </p:sp>
      <p:sp>
        <p:nvSpPr>
          <p:cNvPr id="29" name="Text 27"/>
          <p:cNvSpPr txBox="1"/>
          <p:nvPr/>
        </p:nvSpPr>
        <p:spPr>
          <a:xfrm>
            <a:off x="548640" y="3959352"/>
            <a:ext cx="5394960" cy="20574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D4552"/>
                </a:solidFill>
              </a:rPr>
              <a:t>API access: Adobe I/O Events and REST, eMAG API with the callback URL, the warehouse API</a:t>
            </a:r>
            <a:endParaRPr lang="en-US" sz="1300" dirty="0"/>
          </a:p>
          <a:p>
            <a:pPr marL="177800" indent="-177800">
              <a:spcAft>
                <a:spcPts val="600"/>
              </a:spcAft>
              <a:buSzPct val="100000"/>
              <a:buChar char="•"/>
            </a:pPr>
            <a:r>
              <a:rPr lang="en-US" sz="1300" dirty="0">
                <a:solidFill>
                  <a:srgbClr val="3D4552"/>
                </a:solidFill>
              </a:rPr>
              <a:t>A warehouse create-order call that accepts an idempotency key</a:t>
            </a:r>
            <a:endParaRPr lang="en-US" sz="1300" dirty="0"/>
          </a:p>
          <a:p>
            <a:pPr marL="177800" indent="-177800">
              <a:spcAft>
                <a:spcPts val="600"/>
              </a:spcAft>
              <a:buSzPct val="100000"/>
              <a:buChar char="•"/>
            </a:pPr>
            <a:r>
              <a:rPr lang="en-US" sz="1300" dirty="0">
                <a:solidFill>
                  <a:srgbClr val="3D4552"/>
                </a:solidFill>
              </a:rPr>
              <a:t>One product code across all three systems, or the mapping</a:t>
            </a:r>
            <a:endParaRPr lang="en-US" sz="1300" dirty="0"/>
          </a:p>
          <a:p>
            <a:pPr marL="177800" indent="-177800">
              <a:spcAft>
                <a:spcPts val="600"/>
              </a:spcAft>
              <a:buSzPct val="100000"/>
              <a:buChar char="•"/>
            </a:pPr>
            <a:r>
              <a:rPr lang="en-US" sz="1300" dirty="0">
                <a:solidFill>
                  <a:srgbClr val="3D4552"/>
                </a:solidFill>
              </a:rPr>
              <a:t>An owner for the review queue, with a backup</a:t>
            </a:r>
            <a:endParaRPr lang="en-US" sz="1300" dirty="0"/>
          </a:p>
          <a:p>
            <a:pPr marL="177800" indent="-177800">
              <a:spcAft>
                <a:spcPts val="600"/>
              </a:spcAft>
              <a:buSzPct val="100000"/>
              <a:buChar char="•"/>
            </a:pPr>
            <a:r>
              <a:rPr lang="en-US" sz="1300" dirty="0">
                <a:solidFill>
                  <a:srgbClr val="3D4552"/>
                </a:solidFill>
              </a:rPr>
              <a:t>A decision on holding the last units back from eMAG</a:t>
            </a:r>
            <a:endParaRPr lang="en-US" sz="1300" dirty="0"/>
          </a:p>
        </p:txBody>
      </p:sp>
      <p:sp>
        <p:nvSpPr>
          <p:cNvPr id="30" name="success"/>
          <p:cNvSpPr/>
          <p:nvPr/>
        </p:nvSpPr>
        <p:spPr>
          <a:xfrm>
            <a:off x="6263640" y="3611880"/>
            <a:ext cx="5376672" cy="2377440"/>
          </a:xfrm>
          <a:prstGeom prst="roundRect">
            <a:avLst>
              <a:gd name="adj" fmla="val 3077"/>
            </a:avLst>
          </a:prstGeom>
          <a:solidFill>
            <a:schemeClr val="bg2"/>
          </a:solidFill>
          <a:ln/>
        </p:spPr>
      </p:sp>
      <p:sp>
        <p:nvSpPr>
          <p:cNvPr id="31" name="Text 29"/>
          <p:cNvSpPr txBox="1"/>
          <p:nvPr/>
        </p:nvSpPr>
        <p:spPr>
          <a:xfrm>
            <a:off x="6492240" y="3767328"/>
            <a:ext cx="4937760" cy="274320"/>
          </a:xfrm>
          <a:prstGeom prst="rect">
            <a:avLst/>
          </a:prstGeom>
          <a:noFill/>
          <a:ln/>
        </p:spPr>
        <p:txBody>
          <a:bodyPr wrap="square" lIns="0" tIns="0" rIns="0" bIns="0" rtlCol="0" anchor="t"/>
          <a:lstStyle/>
          <a:p>
            <a:pPr indent="0" marL="0">
              <a:buNone/>
            </a:pPr>
            <a:r>
              <a:rPr lang="en-US" sz="1500" b="1" dirty="0">
                <a:solidFill>
                  <a:schemeClr val="tx1"/>
                </a:solidFill>
              </a:rPr>
              <a:t>Success after 30 days</a:t>
            </a:r>
            <a:endParaRPr lang="en-US" sz="1500" dirty="0"/>
          </a:p>
        </p:txBody>
      </p:sp>
      <p:sp>
        <p:nvSpPr>
          <p:cNvPr id="32" name="Text 30"/>
          <p:cNvSpPr txBox="1"/>
          <p:nvPr/>
        </p:nvSpPr>
        <p:spPr>
          <a:xfrm>
            <a:off x="6492240" y="4114800"/>
            <a:ext cx="4983480" cy="18288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Missed orders: zero, and Flow shows no lost orders</a:t>
            </a:r>
            <a:endParaRPr lang="en-US" sz="1300" dirty="0"/>
          </a:p>
          <a:p>
            <a:pPr marL="177800" indent="-177800">
              <a:spcAft>
                <a:spcPts val="500"/>
              </a:spcAft>
              <a:buSzPct val="100000"/>
              <a:buChar char="•"/>
            </a:pPr>
            <a:r>
              <a:rPr lang="en-US" sz="1300" dirty="0">
                <a:solidFill>
                  <a:srgbClr val="3D4552"/>
                </a:solidFill>
              </a:rPr>
              <a:t>Oversells (Sold out items) well below the baseline</a:t>
            </a:r>
            <a:endParaRPr lang="en-US" sz="1300" dirty="0"/>
          </a:p>
          <a:p>
            <a:pPr marL="177800" indent="-177800">
              <a:spcAft>
                <a:spcPts val="500"/>
              </a:spcAft>
              <a:buSzPct val="100000"/>
              <a:buChar char="•"/>
            </a:pPr>
            <a:r>
              <a:rPr lang="en-US" sz="1300" dirty="0">
                <a:solidFill>
                  <a:srgbClr val="3D4552"/>
                </a:solidFill>
              </a:rPr>
              <a:t>eMAG seller cancellation rate inside eMAG's threshold</a:t>
            </a:r>
            <a:endParaRPr lang="en-US" sz="1300" dirty="0"/>
          </a:p>
          <a:p>
            <a:pPr marL="177800" indent="-177800">
              <a:spcAft>
                <a:spcPts val="500"/>
              </a:spcAft>
              <a:buSzPct val="100000"/>
              <a:buChar char="•"/>
            </a:pPr>
            <a:r>
              <a:rPr lang="en-US" sz="1300" dirty="0">
                <a:solidFill>
                  <a:srgbClr val="3D4552"/>
                </a:solidFill>
              </a:rPr>
              <a:t>Paid to reserved: p95 under a minute</a:t>
            </a:r>
            <a:endParaRPr lang="en-US" sz="1300" dirty="0"/>
          </a:p>
          <a:p>
            <a:pPr marL="177800" indent="-177800">
              <a:spcAft>
                <a:spcPts val="500"/>
              </a:spcAft>
              <a:buSzPct val="100000"/>
              <a:buChar char="•"/>
            </a:pPr>
            <a:r>
              <a:rPr lang="en-US" sz="1300" dirty="0">
                <a:solidFill>
                  <a:srgbClr val="3D4552"/>
                </a:solidFill>
              </a:rPr>
              <a:t>Oldest open review item under 30 min in business hours</a:t>
            </a:r>
            <a:endParaRPr lang="en-US" sz="1300" dirty="0"/>
          </a:p>
          <a:p>
            <a:pPr marL="177800" indent="-177800">
              <a:spcAft>
                <a:spcPts val="500"/>
              </a:spcAft>
              <a:buSzPct val="100000"/>
              <a:buChar char="•"/>
            </a:pPr>
            <a:r>
              <a:rPr lang="en-US" sz="1300" dirty="0">
                <a:solidFill>
                  <a:srgbClr val="3D4552"/>
                </a:solidFill>
              </a:rPr>
              <a:t>No channel behind the warehouse for more than 5 min</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LIVE DEMO</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Five minutes, on the real screens</a:t>
            </a:r>
            <a:endParaRPr lang="en-US" sz="3200" dirty="0"/>
          </a:p>
        </p:txBody>
      </p:sp>
      <p:sp>
        <p:nvSpPr>
          <p:cNvPr id="4" name="step 1"/>
          <p:cNvSpPr/>
          <p:nvPr/>
        </p:nvSpPr>
        <p:spPr>
          <a:xfrm>
            <a:off x="548640" y="1554480"/>
            <a:ext cx="384048" cy="384048"/>
          </a:xfrm>
          <a:prstGeom prst="ellipse">
            <a:avLst/>
          </a:prstGeom>
          <a:solidFill>
            <a:schemeClr val="tx1"/>
          </a:solidFill>
          <a:ln/>
        </p:spPr>
      </p:sp>
      <p:sp>
        <p:nvSpPr>
          <p:cNvPr id="5" name="Text 3"/>
          <p:cNvSpPr txBox="1"/>
          <p:nvPr/>
        </p:nvSpPr>
        <p:spPr>
          <a:xfrm>
            <a:off x="548640" y="15544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4"/>
          <p:cNvSpPr txBox="1"/>
          <p:nvPr/>
        </p:nvSpPr>
        <p:spPr>
          <a:xfrm>
            <a:off x="1097280" y="1463040"/>
            <a:ext cx="1463040" cy="566928"/>
          </a:xfrm>
          <a:prstGeom prst="rect">
            <a:avLst/>
          </a:prstGeom>
          <a:noFill/>
          <a:ln/>
        </p:spPr>
        <p:txBody>
          <a:bodyPr wrap="square" lIns="0" tIns="0" rIns="0" bIns="0" rtlCol="0" anchor="ctr"/>
          <a:lstStyle/>
          <a:p>
            <a:pPr indent="0" marL="0">
              <a:buNone/>
            </a:pPr>
            <a:r>
              <a:rPr lang="en-US" sz="1500" b="1" dirty="0">
                <a:solidFill>
                  <a:schemeClr val="tx1"/>
                </a:solidFill>
              </a:rPr>
              <a:t>Live map</a:t>
            </a:r>
            <a:endParaRPr lang="en-US" sz="1500" dirty="0"/>
          </a:p>
        </p:txBody>
      </p:sp>
      <p:sp>
        <p:nvSpPr>
          <p:cNvPr id="7" name="Text 5"/>
          <p:cNvSpPr txBox="1"/>
          <p:nvPr/>
        </p:nvSpPr>
        <p:spPr>
          <a:xfrm>
            <a:off x="2606040" y="1463040"/>
            <a:ext cx="3611880" cy="566928"/>
          </a:xfrm>
          <a:prstGeom prst="rect">
            <a:avLst/>
          </a:prstGeom>
          <a:noFill/>
          <a:ln/>
        </p:spPr>
        <p:txBody>
          <a:bodyPr wrap="square" lIns="0" tIns="0" rIns="0" bIns="0" rtlCol="0" anchor="ctr"/>
          <a:lstStyle/>
          <a:p>
            <a:pPr indent="0" marL="0">
              <a:buNone/>
            </a:pPr>
            <a:r>
              <a:rPr lang="en-US" sz="1300" dirty="0">
                <a:solidFill>
                  <a:srgbClr val="3D4552"/>
                </a:solidFill>
              </a:rPr>
              <a:t>Traffic is on: orders flow, stock follows.</a:t>
            </a:r>
            <a:endParaRPr lang="en-US" sz="1300" dirty="0"/>
          </a:p>
        </p:txBody>
      </p:sp>
      <p:sp>
        <p:nvSpPr>
          <p:cNvPr id="8" name="Text 6"/>
          <p:cNvSpPr txBox="1"/>
          <p:nvPr/>
        </p:nvSpPr>
        <p:spPr>
          <a:xfrm>
            <a:off x="6217920" y="1463040"/>
            <a:ext cx="502920" cy="566928"/>
          </a:xfrm>
          <a:prstGeom prst="rect">
            <a:avLst/>
          </a:prstGeom>
          <a:noFill/>
          <a:ln/>
        </p:spPr>
        <p:txBody>
          <a:bodyPr wrap="square" lIns="0" tIns="0" rIns="0" bIns="0" rtlCol="0" anchor="ctr"/>
          <a:lstStyle/>
          <a:p>
            <a:pPr algn="r" indent="0" marL="0">
              <a:buNone/>
            </a:pPr>
            <a:r>
              <a:rPr lang="en-US" sz="1200" dirty="0">
                <a:solidFill>
                  <a:schemeClr val="tx2"/>
                </a:solidFill>
              </a:rPr>
              <a:t>30 s</a:t>
            </a:r>
            <a:endParaRPr lang="en-US" sz="1200" dirty="0"/>
          </a:p>
        </p:txBody>
      </p:sp>
      <p:sp>
        <p:nvSpPr>
          <p:cNvPr id="9" name="step 2"/>
          <p:cNvSpPr/>
          <p:nvPr/>
        </p:nvSpPr>
        <p:spPr>
          <a:xfrm>
            <a:off x="548640" y="2286000"/>
            <a:ext cx="384048" cy="384048"/>
          </a:xfrm>
          <a:prstGeom prst="ellipse">
            <a:avLst/>
          </a:prstGeom>
          <a:solidFill>
            <a:schemeClr val="tx1"/>
          </a:solidFill>
          <a:ln/>
        </p:spPr>
      </p:sp>
      <p:sp>
        <p:nvSpPr>
          <p:cNvPr id="10" name="Text 8"/>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9"/>
          <p:cNvSpPr txBox="1"/>
          <p:nvPr/>
        </p:nvSpPr>
        <p:spPr>
          <a:xfrm>
            <a:off x="1097280" y="2194560"/>
            <a:ext cx="1463040" cy="566928"/>
          </a:xfrm>
          <a:prstGeom prst="rect">
            <a:avLst/>
          </a:prstGeom>
          <a:noFill/>
          <a:ln/>
        </p:spPr>
        <p:txBody>
          <a:bodyPr wrap="square" lIns="0" tIns="0" rIns="0" bIns="0" rtlCol="0" anchor="ctr"/>
          <a:lstStyle/>
          <a:p>
            <a:pPr indent="0" marL="0">
              <a:buNone/>
            </a:pPr>
            <a:r>
              <a:rPr lang="en-US" sz="1500" b="1" dirty="0">
                <a:solidFill>
                  <a:schemeClr val="tx1"/>
                </a:solidFill>
              </a:rPr>
              <a:t>Duplicate</a:t>
            </a:r>
            <a:endParaRPr lang="en-US" sz="1500" dirty="0"/>
          </a:p>
        </p:txBody>
      </p:sp>
      <p:sp>
        <p:nvSpPr>
          <p:cNvPr id="12" name="Text 10"/>
          <p:cNvSpPr txBox="1"/>
          <p:nvPr/>
        </p:nvSpPr>
        <p:spPr>
          <a:xfrm>
            <a:off x="2606040" y="2194560"/>
            <a:ext cx="3611880" cy="566928"/>
          </a:xfrm>
          <a:prstGeom prst="rect">
            <a:avLst/>
          </a:prstGeom>
          <a:noFill/>
          <a:ln/>
        </p:spPr>
        <p:txBody>
          <a:bodyPr wrap="square" lIns="0" tIns="0" rIns="0" bIns="0" rtlCol="0" anchor="ctr"/>
          <a:lstStyle/>
          <a:p>
            <a:pPr indent="0" marL="0">
              <a:buNone/>
            </a:pPr>
            <a:r>
              <a:rPr lang="en-US" sz="1300" dirty="0">
                <a:solidFill>
                  <a:srgbClr val="3D4552"/>
                </a:solidFill>
              </a:rPr>
              <a:t>Send the same order twice: one order, one duplicate ignored.</a:t>
            </a:r>
            <a:endParaRPr lang="en-US" sz="1300" dirty="0"/>
          </a:p>
        </p:txBody>
      </p:sp>
      <p:sp>
        <p:nvSpPr>
          <p:cNvPr id="13" name="Text 11"/>
          <p:cNvSpPr txBox="1"/>
          <p:nvPr/>
        </p:nvSpPr>
        <p:spPr>
          <a:xfrm>
            <a:off x="6217920" y="2194560"/>
            <a:ext cx="502920" cy="566928"/>
          </a:xfrm>
          <a:prstGeom prst="rect">
            <a:avLst/>
          </a:prstGeom>
          <a:noFill/>
          <a:ln/>
        </p:spPr>
        <p:txBody>
          <a:bodyPr wrap="square" lIns="0" tIns="0" rIns="0" bIns="0" rtlCol="0" anchor="ctr"/>
          <a:lstStyle/>
          <a:p>
            <a:pPr algn="r" indent="0" marL="0">
              <a:buNone/>
            </a:pPr>
            <a:r>
              <a:rPr lang="en-US" sz="1200" dirty="0">
                <a:solidFill>
                  <a:schemeClr val="tx2"/>
                </a:solidFill>
              </a:rPr>
              <a:t>30 s</a:t>
            </a:r>
            <a:endParaRPr lang="en-US" sz="1200" dirty="0"/>
          </a:p>
        </p:txBody>
      </p:sp>
      <p:sp>
        <p:nvSpPr>
          <p:cNvPr id="14" name="step 3"/>
          <p:cNvSpPr/>
          <p:nvPr/>
        </p:nvSpPr>
        <p:spPr>
          <a:xfrm>
            <a:off x="548640" y="3017520"/>
            <a:ext cx="384048" cy="384048"/>
          </a:xfrm>
          <a:prstGeom prst="ellipse">
            <a:avLst/>
          </a:prstGeom>
          <a:solidFill>
            <a:schemeClr val="tx1"/>
          </a:solidFill>
          <a:ln/>
        </p:spPr>
      </p:sp>
      <p:sp>
        <p:nvSpPr>
          <p:cNvPr id="15" name="Text 13"/>
          <p:cNvSpPr txBox="1"/>
          <p:nvPr/>
        </p:nvSpPr>
        <p:spPr>
          <a:xfrm>
            <a:off x="548640" y="301752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4"/>
          <p:cNvSpPr txBox="1"/>
          <p:nvPr/>
        </p:nvSpPr>
        <p:spPr>
          <a:xfrm>
            <a:off x="1097280" y="2926080"/>
            <a:ext cx="1463040" cy="566928"/>
          </a:xfrm>
          <a:prstGeom prst="rect">
            <a:avLst/>
          </a:prstGeom>
          <a:noFill/>
          <a:ln/>
        </p:spPr>
        <p:txBody>
          <a:bodyPr wrap="square" lIns="0" tIns="0" rIns="0" bIns="0" rtlCol="0" anchor="ctr"/>
          <a:lstStyle/>
          <a:p>
            <a:pPr indent="0" marL="0">
              <a:buNone/>
            </a:pPr>
            <a:r>
              <a:rPr lang="en-US" sz="1500" b="1" dirty="0">
                <a:solidFill>
                  <a:schemeClr val="tx1"/>
                </a:solidFill>
              </a:rPr>
              <a:t>Outage</a:t>
            </a:r>
            <a:endParaRPr lang="en-US" sz="1500" dirty="0"/>
          </a:p>
        </p:txBody>
      </p:sp>
      <p:sp>
        <p:nvSpPr>
          <p:cNvPr id="17" name="Text 15"/>
          <p:cNvSpPr txBox="1"/>
          <p:nvPr/>
        </p:nvSpPr>
        <p:spPr>
          <a:xfrm>
            <a:off x="2606040" y="2926080"/>
            <a:ext cx="3611880" cy="566928"/>
          </a:xfrm>
          <a:prstGeom prst="rect">
            <a:avLst/>
          </a:prstGeom>
          <a:noFill/>
          <a:ln/>
        </p:spPr>
        <p:txBody>
          <a:bodyPr wrap="square" lIns="0" tIns="0" rIns="0" bIns="0" rtlCol="0" anchor="ctr"/>
          <a:lstStyle/>
          <a:p>
            <a:pPr indent="0" marL="0">
              <a:buNone/>
            </a:pPr>
            <a:r>
              <a:rPr lang="en-US" sz="1300" dirty="0">
                <a:solidFill>
                  <a:srgbClr val="3D4552"/>
                </a:solidFill>
              </a:rPr>
              <a:t>Stop answering: retries honour Retry-After, then review. Bring it back, Retry all.</a:t>
            </a:r>
            <a:endParaRPr lang="en-US" sz="1300" dirty="0"/>
          </a:p>
        </p:txBody>
      </p:sp>
      <p:sp>
        <p:nvSpPr>
          <p:cNvPr id="18" name="Text 16"/>
          <p:cNvSpPr txBox="1"/>
          <p:nvPr/>
        </p:nvSpPr>
        <p:spPr>
          <a:xfrm>
            <a:off x="6217920" y="2926080"/>
            <a:ext cx="502920" cy="566928"/>
          </a:xfrm>
          <a:prstGeom prst="rect">
            <a:avLst/>
          </a:prstGeom>
          <a:noFill/>
          <a:ln/>
        </p:spPr>
        <p:txBody>
          <a:bodyPr wrap="square" lIns="0" tIns="0" rIns="0" bIns="0" rtlCol="0" anchor="ctr"/>
          <a:lstStyle/>
          <a:p>
            <a:pPr algn="r" indent="0" marL="0">
              <a:buNone/>
            </a:pPr>
            <a:r>
              <a:rPr lang="en-US" sz="1200" dirty="0">
                <a:solidFill>
                  <a:schemeClr val="tx2"/>
                </a:solidFill>
              </a:rPr>
              <a:t>75 s</a:t>
            </a:r>
            <a:endParaRPr lang="en-US" sz="1200" dirty="0"/>
          </a:p>
        </p:txBody>
      </p:sp>
      <p:sp>
        <p:nvSpPr>
          <p:cNvPr id="19" name="step 4"/>
          <p:cNvSpPr/>
          <p:nvPr/>
        </p:nvSpPr>
        <p:spPr>
          <a:xfrm>
            <a:off x="548640" y="3749040"/>
            <a:ext cx="384048" cy="384048"/>
          </a:xfrm>
          <a:prstGeom prst="ellipse">
            <a:avLst/>
          </a:prstGeom>
          <a:solidFill>
            <a:schemeClr val="tx1"/>
          </a:solidFill>
          <a:ln/>
        </p:spPr>
      </p:sp>
      <p:sp>
        <p:nvSpPr>
          <p:cNvPr id="20" name="Text 18"/>
          <p:cNvSpPr txBox="1"/>
          <p:nvPr/>
        </p:nvSpPr>
        <p:spPr>
          <a:xfrm>
            <a:off x="548640" y="37490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1" name="Text 19"/>
          <p:cNvSpPr txBox="1"/>
          <p:nvPr/>
        </p:nvSpPr>
        <p:spPr>
          <a:xfrm>
            <a:off x="1097280" y="3657600"/>
            <a:ext cx="1463040" cy="566928"/>
          </a:xfrm>
          <a:prstGeom prst="rect">
            <a:avLst/>
          </a:prstGeom>
          <a:noFill/>
          <a:ln/>
        </p:spPr>
        <p:txBody>
          <a:bodyPr wrap="square" lIns="0" tIns="0" rIns="0" bIns="0" rtlCol="0" anchor="ctr"/>
          <a:lstStyle/>
          <a:p>
            <a:pPr indent="0" marL="0">
              <a:buNone/>
            </a:pPr>
            <a:r>
              <a:rPr lang="en-US" sz="1500" b="1" dirty="0">
                <a:solidFill>
                  <a:schemeClr val="tx1"/>
                </a:solidFill>
              </a:rPr>
              <a:t>Oversell</a:t>
            </a:r>
            <a:endParaRPr lang="en-US" sz="1500" dirty="0"/>
          </a:p>
        </p:txBody>
      </p:sp>
      <p:sp>
        <p:nvSpPr>
          <p:cNvPr id="22" name="Text 20"/>
          <p:cNvSpPr txBox="1"/>
          <p:nvPr/>
        </p:nvSpPr>
        <p:spPr>
          <a:xfrm>
            <a:off x="2606040" y="3657600"/>
            <a:ext cx="3611880" cy="566928"/>
          </a:xfrm>
          <a:prstGeom prst="rect">
            <a:avLst/>
          </a:prstGeom>
          <a:noFill/>
          <a:ln/>
        </p:spPr>
        <p:txBody>
          <a:bodyPr wrap="square" lIns="0" tIns="0" rIns="0" bIns="0" rtlCol="0" anchor="ctr"/>
          <a:lstStyle/>
          <a:p>
            <a:pPr indent="0" marL="0">
              <a:buNone/>
            </a:pPr>
            <a:r>
              <a:rPr lang="en-US" sz="1300" dirty="0">
                <a:solidFill>
                  <a:srgbClr val="3D4552"/>
                </a:solidFill>
              </a:rPr>
              <a:t>Last MacBook, eMAG ignores stock: sold on both, the second goes to review. Cancel on eMAG, confirm.</a:t>
            </a:r>
            <a:endParaRPr lang="en-US" sz="1300" dirty="0"/>
          </a:p>
        </p:txBody>
      </p:sp>
      <p:sp>
        <p:nvSpPr>
          <p:cNvPr id="23" name="Text 21"/>
          <p:cNvSpPr txBox="1"/>
          <p:nvPr/>
        </p:nvSpPr>
        <p:spPr>
          <a:xfrm>
            <a:off x="6217920" y="3657600"/>
            <a:ext cx="502920" cy="566928"/>
          </a:xfrm>
          <a:prstGeom prst="rect">
            <a:avLst/>
          </a:prstGeom>
          <a:noFill/>
          <a:ln/>
        </p:spPr>
        <p:txBody>
          <a:bodyPr wrap="square" lIns="0" tIns="0" rIns="0" bIns="0" rtlCol="0" anchor="ctr"/>
          <a:lstStyle/>
          <a:p>
            <a:pPr algn="r" indent="0" marL="0">
              <a:buNone/>
            </a:pPr>
            <a:r>
              <a:rPr lang="en-US" sz="1200" dirty="0">
                <a:solidFill>
                  <a:schemeClr val="tx2"/>
                </a:solidFill>
              </a:rPr>
              <a:t>75 s</a:t>
            </a:r>
            <a:endParaRPr lang="en-US" sz="1200" dirty="0"/>
          </a:p>
        </p:txBody>
      </p:sp>
      <p:sp>
        <p:nvSpPr>
          <p:cNvPr id="24" name="step 5"/>
          <p:cNvSpPr/>
          <p:nvPr/>
        </p:nvSpPr>
        <p:spPr>
          <a:xfrm>
            <a:off x="548640" y="4480560"/>
            <a:ext cx="384048" cy="384048"/>
          </a:xfrm>
          <a:prstGeom prst="ellipse">
            <a:avLst/>
          </a:prstGeom>
          <a:solidFill>
            <a:schemeClr val="tx1"/>
          </a:solidFill>
          <a:ln/>
        </p:spPr>
      </p:sp>
      <p:sp>
        <p:nvSpPr>
          <p:cNvPr id="25" name="Text 23"/>
          <p:cNvSpPr txBox="1"/>
          <p:nvPr/>
        </p:nvSpPr>
        <p:spPr>
          <a:xfrm>
            <a:off x="548640" y="44805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6" name="Text 24"/>
          <p:cNvSpPr txBox="1"/>
          <p:nvPr/>
        </p:nvSpPr>
        <p:spPr>
          <a:xfrm>
            <a:off x="1097280" y="4389120"/>
            <a:ext cx="1463040" cy="566928"/>
          </a:xfrm>
          <a:prstGeom prst="rect">
            <a:avLst/>
          </a:prstGeom>
          <a:noFill/>
          <a:ln/>
        </p:spPr>
        <p:txBody>
          <a:bodyPr wrap="square" lIns="0" tIns="0" rIns="0" bIns="0" rtlCol="0" anchor="ctr"/>
          <a:lstStyle/>
          <a:p>
            <a:pPr indent="0" marL="0">
              <a:buNone/>
            </a:pPr>
            <a:r>
              <a:rPr lang="en-US" sz="1500" b="1" dirty="0">
                <a:solidFill>
                  <a:schemeClr val="tx1"/>
                </a:solidFill>
              </a:rPr>
              <a:t>Partial batch</a:t>
            </a:r>
            <a:endParaRPr lang="en-US" sz="1500" dirty="0"/>
          </a:p>
        </p:txBody>
      </p:sp>
      <p:sp>
        <p:nvSpPr>
          <p:cNvPr id="27" name="Text 25"/>
          <p:cNvSpPr txBox="1"/>
          <p:nvPr/>
        </p:nvSpPr>
        <p:spPr>
          <a:xfrm>
            <a:off x="2606040" y="4389120"/>
            <a:ext cx="3611880" cy="566928"/>
          </a:xfrm>
          <a:prstGeom prst="rect">
            <a:avLst/>
          </a:prstGeom>
          <a:noFill/>
          <a:ln/>
        </p:spPr>
        <p:txBody>
          <a:bodyPr wrap="square" lIns="0" tIns="0" rIns="0" bIns="0" rtlCol="0" anchor="ctr"/>
          <a:lstStyle/>
          <a:p>
            <a:pPr indent="0" marL="0">
              <a:buNone/>
            </a:pPr>
            <a:r>
              <a:rPr lang="en-US" sz="1300" dirty="0">
                <a:solidFill>
                  <a:srgbClr val="3D4552"/>
                </a:solidFill>
              </a:rPr>
              <a:t>eMAG refuses one product: one row dirty, the rest applied, healed next run.</a:t>
            </a:r>
            <a:endParaRPr lang="en-US" sz="1300" dirty="0"/>
          </a:p>
        </p:txBody>
      </p:sp>
      <p:sp>
        <p:nvSpPr>
          <p:cNvPr id="28" name="Text 26"/>
          <p:cNvSpPr txBox="1"/>
          <p:nvPr/>
        </p:nvSpPr>
        <p:spPr>
          <a:xfrm>
            <a:off x="6217920" y="4389120"/>
            <a:ext cx="502920" cy="566928"/>
          </a:xfrm>
          <a:prstGeom prst="rect">
            <a:avLst/>
          </a:prstGeom>
          <a:noFill/>
          <a:ln/>
        </p:spPr>
        <p:txBody>
          <a:bodyPr wrap="square" lIns="0" tIns="0" rIns="0" bIns="0" rtlCol="0" anchor="ctr"/>
          <a:lstStyle/>
          <a:p>
            <a:pPr algn="r" indent="0" marL="0">
              <a:buNone/>
            </a:pPr>
            <a:r>
              <a:rPr lang="en-US" sz="1200" dirty="0">
                <a:solidFill>
                  <a:schemeClr val="tx2"/>
                </a:solidFill>
              </a:rPr>
              <a:t>40 s</a:t>
            </a:r>
            <a:endParaRPr lang="en-US" sz="1200" dirty="0"/>
          </a:p>
        </p:txBody>
      </p:sp>
      <p:sp>
        <p:nvSpPr>
          <p:cNvPr id="29" name="step 6"/>
          <p:cNvSpPr/>
          <p:nvPr/>
        </p:nvSpPr>
        <p:spPr>
          <a:xfrm>
            <a:off x="548640" y="5212080"/>
            <a:ext cx="384048" cy="384048"/>
          </a:xfrm>
          <a:prstGeom prst="ellipse">
            <a:avLst/>
          </a:prstGeom>
          <a:solidFill>
            <a:schemeClr val="tx1"/>
          </a:solidFill>
          <a:ln/>
        </p:spPr>
      </p:sp>
      <p:sp>
        <p:nvSpPr>
          <p:cNvPr id="30" name="Text 28"/>
          <p:cNvSpPr txBox="1"/>
          <p:nvPr/>
        </p:nvSpPr>
        <p:spPr>
          <a:xfrm>
            <a:off x="548640" y="52120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1" name="Text 29"/>
          <p:cNvSpPr txBox="1"/>
          <p:nvPr/>
        </p:nvSpPr>
        <p:spPr>
          <a:xfrm>
            <a:off x="1097280" y="5120640"/>
            <a:ext cx="1463040" cy="566928"/>
          </a:xfrm>
          <a:prstGeom prst="rect">
            <a:avLst/>
          </a:prstGeom>
          <a:noFill/>
          <a:ln/>
        </p:spPr>
        <p:txBody>
          <a:bodyPr wrap="square" lIns="0" tIns="0" rIns="0" bIns="0" rtlCol="0" anchor="ctr"/>
          <a:lstStyle/>
          <a:p>
            <a:pPr indent="0" marL="0">
              <a:buNone/>
            </a:pPr>
            <a:r>
              <a:rPr lang="en-US" sz="1500" b="1" dirty="0">
                <a:solidFill>
                  <a:schemeClr val="tx1"/>
                </a:solidFill>
              </a:rPr>
              <a:t>Timeline</a:t>
            </a:r>
            <a:endParaRPr lang="en-US" sz="1500" dirty="0"/>
          </a:p>
        </p:txBody>
      </p:sp>
      <p:sp>
        <p:nvSpPr>
          <p:cNvPr id="32" name="Text 30"/>
          <p:cNvSpPr txBox="1"/>
          <p:nvPr/>
        </p:nvSpPr>
        <p:spPr>
          <a:xfrm>
            <a:off x="2606040" y="5120640"/>
            <a:ext cx="3611880" cy="566928"/>
          </a:xfrm>
          <a:prstGeom prst="rect">
            <a:avLst/>
          </a:prstGeom>
          <a:noFill/>
          <a:ln/>
        </p:spPr>
        <p:txBody>
          <a:bodyPr wrap="square" lIns="0" tIns="0" rIns="0" bIns="0" rtlCol="0" anchor="ctr"/>
          <a:lstStyle/>
          <a:p>
            <a:pPr indent="0" marL="0">
              <a:buNone/>
            </a:pPr>
            <a:r>
              <a:rPr lang="en-US" sz="1300" dirty="0">
                <a:solidFill>
                  <a:srgbClr val="3D4552"/>
                </a:solidFill>
              </a:rPr>
              <a:t>Open the order's history, then ask the assistant about it.</a:t>
            </a:r>
            <a:endParaRPr lang="en-US" sz="1300" dirty="0"/>
          </a:p>
        </p:txBody>
      </p:sp>
      <p:sp>
        <p:nvSpPr>
          <p:cNvPr id="33" name="Text 31"/>
          <p:cNvSpPr txBox="1"/>
          <p:nvPr/>
        </p:nvSpPr>
        <p:spPr>
          <a:xfrm>
            <a:off x="6217920" y="5120640"/>
            <a:ext cx="502920" cy="566928"/>
          </a:xfrm>
          <a:prstGeom prst="rect">
            <a:avLst/>
          </a:prstGeom>
          <a:noFill/>
          <a:ln/>
        </p:spPr>
        <p:txBody>
          <a:bodyPr wrap="square" lIns="0" tIns="0" rIns="0" bIns="0" rtlCol="0" anchor="ctr"/>
          <a:lstStyle/>
          <a:p>
            <a:pPr algn="r" indent="0" marL="0">
              <a:buNone/>
            </a:pPr>
            <a:r>
              <a:rPr lang="en-US" sz="1200" dirty="0">
                <a:solidFill>
                  <a:schemeClr val="tx2"/>
                </a:solidFill>
              </a:rPr>
              <a:t>30 s</a:t>
            </a:r>
            <a:endParaRPr lang="en-US" sz="1200" dirty="0"/>
          </a:p>
        </p:txBody>
      </p:sp>
      <p:pic>
        <p:nvPicPr>
          <p:cNvPr id="34" name="Image 0" descr="Demo controls page: warehouse, recount, shop, eMAG, security, simulation and sample history cards">    </p:cNvPr>
          <p:cNvPicPr>
            <a:picLocks noChangeAspect="1"/>
          </p:cNvPicPr>
          <p:nvPr/>
        </p:nvPicPr>
        <p:blipFill>
          <a:blip r:embed="rId1"/>
          <a:stretch>
            <a:fillRect/>
          </a:stretch>
        </p:blipFill>
        <p:spPr>
          <a:xfrm>
            <a:off x="7086600" y="1463040"/>
            <a:ext cx="4553712" cy="2428646"/>
          </a:xfrm>
          <a:prstGeom prst="rect">
            <a:avLst/>
          </a:prstGeom>
        </p:spPr>
      </p:pic>
      <p:sp>
        <p:nvSpPr>
          <p:cNvPr id="35" name="frame"/>
          <p:cNvSpPr/>
          <p:nvPr/>
        </p:nvSpPr>
        <p:spPr>
          <a:xfrm>
            <a:off x="7086600" y="1463040"/>
            <a:ext cx="4553712" cy="2428646"/>
          </a:xfrm>
          <a:prstGeom prst="rect">
            <a:avLst/>
          </a:prstGeom>
          <a:noFill/>
          <a:ln w="9525">
            <a:solidFill>
              <a:srgbClr val="E3E6EB"/>
            </a:solidFill>
            <a:prstDash val="solid"/>
          </a:ln>
        </p:spPr>
      </p:sp>
      <p:sp>
        <p:nvSpPr>
          <p:cNvPr id="36" name="run"/>
          <p:cNvSpPr/>
          <p:nvPr/>
        </p:nvSpPr>
        <p:spPr>
          <a:xfrm>
            <a:off x="7086600" y="4120286"/>
            <a:ext cx="4553712" cy="960120"/>
          </a:xfrm>
          <a:prstGeom prst="roundRect">
            <a:avLst>
              <a:gd name="adj" fmla="val 7619"/>
            </a:avLst>
          </a:prstGeom>
          <a:solidFill>
            <a:srgbClr val="F1F3F6"/>
          </a:solidFill>
          <a:ln/>
        </p:spPr>
      </p:sp>
      <p:sp>
        <p:nvSpPr>
          <p:cNvPr id="37" name="Text 34"/>
          <p:cNvSpPr txBox="1"/>
          <p:nvPr/>
        </p:nvSpPr>
        <p:spPr>
          <a:xfrm>
            <a:off x="7269480" y="4120286"/>
            <a:ext cx="4206240" cy="960120"/>
          </a:xfrm>
          <a:prstGeom prst="rect">
            <a:avLst/>
          </a:prstGeom>
          <a:noFill/>
          <a:ln/>
        </p:spPr>
        <p:txBody>
          <a:bodyPr wrap="square" lIns="0" tIns="0" rIns="0" bIns="0" rtlCol="0" anchor="ctr"/>
          <a:lstStyle/>
          <a:p>
            <a:pPr indent="0" marL="0">
              <a:buNone/>
            </a:pPr>
            <a:r>
              <a:rPr lang="en-US" sz="1200" b="1" dirty="0">
                <a:solidFill>
                  <a:schemeClr val="tx1"/>
                </a:solidFill>
                <a:latin typeface="Courier New" pitchFamily="34" charset="0"/>
                <a:ea typeface="Courier New" pitchFamily="34" charset="-122"/>
                <a:cs typeface="Courier New" pitchFamily="34" charset="-120"/>
              </a:rPr>
              <a:t>docker compose up --build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:8000 Glue   :8001 shop</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:8002 eMAG   :8003 warehouse</a:t>
            </a:r>
            <a:endParaRPr lang="en-US" sz="1200" dirty="0"/>
          </a:p>
        </p:txBody>
      </p:sp>
      <p:sp>
        <p:nvSpPr>
          <p:cNvPr id="38" name="Text 35"/>
          <p:cNvSpPr txBox="1"/>
          <p:nvPr/>
        </p:nvSpPr>
        <p:spPr>
          <a:xfrm>
            <a:off x="7086600" y="5217566"/>
            <a:ext cx="4553712" cy="777240"/>
          </a:xfrm>
          <a:prstGeom prst="rect">
            <a:avLst/>
          </a:prstGeom>
          <a:noFill/>
          <a:ln/>
        </p:spPr>
        <p:txBody>
          <a:bodyPr wrap="square" lIns="0" tIns="0" rIns="0" bIns="0" rtlCol="0" anchor="t"/>
          <a:lstStyle/>
          <a:p>
            <a:pPr indent="0" marL="0">
              <a:buNone/>
            </a:pPr>
            <a:r>
              <a:rPr lang="en-US" sz="1300" b="1" dirty="0">
                <a:solidFill>
                  <a:schemeClr val="tx1"/>
                </a:solidFill>
              </a:rPr>
              <a:t>If a step misbehaves: </a:t>
            </a:r>
            <a:r>
              <a:rPr lang="en-US" sz="1300" dirty="0">
                <a:solidFill>
                  <a:srgbClr val="3D4552"/>
                </a:solidFill>
              </a:rPr>
              <a:t>Turn every fault off.</a:t>
            </a:r>
            <a:endParaRPr lang="en-US" sz="1300" dirty="0"/>
          </a:p>
          <a:p>
            <a:pPr indent="0" marL="0">
              <a:buNone/>
            </a:pPr>
            <a:r>
              <a:rPr lang="en-US" sz="1300" b="1" dirty="0">
                <a:solidFill>
                  <a:schemeClr val="tx1"/>
                </a:solidFill>
              </a:rPr>
              <a:t>Clean start, after down: </a:t>
            </a:r>
            <a:endParaRPr lang="en-US" sz="1300" dirty="0"/>
          </a:p>
          <a:p>
            <a:pPr indent="0" marL="0">
              <a:buNone/>
            </a:pPr>
            <a:r>
              <a:rPr lang="en-US" sz="1200" dirty="0">
                <a:solidFill>
                  <a:schemeClr val="tx1"/>
                </a:solidFill>
                <a:latin typeface="Courier New" pitchFamily="34" charset="0"/>
                <a:ea typeface="Courier New" pitchFamily="34" charset="-122"/>
                <a:cs typeface="Courier New" pitchFamily="34" charset="-120"/>
              </a:rPr>
              <a:t>docker volume rm glueservice_glue-data</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BACKUP</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Questions I expect (1 of 2)</a:t>
            </a:r>
            <a:endParaRPr lang="en-US" sz="3200" dirty="0"/>
          </a:p>
        </p:txBody>
      </p:sp>
      <p:sp>
        <p:nvSpPr>
          <p:cNvPr id="4" name="step 1"/>
          <p:cNvSpPr/>
          <p:nvPr/>
        </p:nvSpPr>
        <p:spPr>
          <a:xfrm>
            <a:off x="548640" y="1508760"/>
            <a:ext cx="420624" cy="420624"/>
          </a:xfrm>
          <a:prstGeom prst="ellipse">
            <a:avLst/>
          </a:prstGeom>
          <a:solidFill>
            <a:schemeClr val="tx1"/>
          </a:solidFill>
          <a:ln/>
        </p:spPr>
      </p:sp>
      <p:sp>
        <p:nvSpPr>
          <p:cNvPr id="5" name="Text 3"/>
          <p:cNvSpPr txBox="1"/>
          <p:nvPr/>
        </p:nvSpPr>
        <p:spPr>
          <a:xfrm>
            <a:off x="548640" y="15087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1188720" y="1472184"/>
            <a:ext cx="10424160" cy="548640"/>
          </a:xfrm>
          <a:prstGeom prst="rect">
            <a:avLst/>
          </a:prstGeom>
          <a:noFill/>
          <a:ln/>
        </p:spPr>
        <p:txBody>
          <a:bodyPr wrap="square" lIns="0" tIns="0" rIns="0" bIns="0" rtlCol="0" anchor="ctr"/>
          <a:lstStyle/>
          <a:p>
            <a:pPr indent="0" marL="0">
              <a:buNone/>
            </a:pPr>
            <a:r>
              <a:rPr lang="en-US" sz="1800" dirty="0">
                <a:solidFill>
                  <a:schemeClr val="tx1"/>
                </a:solidFill>
              </a:rPr>
              <a:t>A decision is cut short by a crash. Who finds that order?</a:t>
            </a:r>
            <a:endParaRPr lang="en-US" sz="1800" dirty="0"/>
          </a:p>
        </p:txBody>
      </p:sp>
      <p:sp>
        <p:nvSpPr>
          <p:cNvPr id="7" name="rule"/>
          <p:cNvSpPr/>
          <p:nvPr/>
        </p:nvSpPr>
        <p:spPr>
          <a:xfrm>
            <a:off x="1188720" y="2194560"/>
            <a:ext cx="10451592" cy="9144"/>
          </a:xfrm>
          <a:prstGeom prst="rect">
            <a:avLst/>
          </a:prstGeom>
          <a:solidFill>
            <a:srgbClr val="E3E6EB"/>
          </a:solidFill>
          <a:ln/>
        </p:spPr>
      </p:sp>
      <p:sp>
        <p:nvSpPr>
          <p:cNvPr id="8" name="step 2"/>
          <p:cNvSpPr/>
          <p:nvPr/>
        </p:nvSpPr>
        <p:spPr>
          <a:xfrm>
            <a:off x="548640" y="2395728"/>
            <a:ext cx="420624" cy="420624"/>
          </a:xfrm>
          <a:prstGeom prst="ellipse">
            <a:avLst/>
          </a:prstGeom>
          <a:solidFill>
            <a:srgbClr val="3D4552"/>
          </a:solidFill>
          <a:ln/>
        </p:spPr>
      </p:sp>
      <p:sp>
        <p:nvSpPr>
          <p:cNvPr id="9" name="Text 7"/>
          <p:cNvSpPr txBox="1"/>
          <p:nvPr/>
        </p:nvSpPr>
        <p:spPr>
          <a:xfrm>
            <a:off x="548640" y="2395728"/>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0" name="Text 8"/>
          <p:cNvSpPr txBox="1"/>
          <p:nvPr/>
        </p:nvSpPr>
        <p:spPr>
          <a:xfrm>
            <a:off x="1188720" y="2359152"/>
            <a:ext cx="10424160" cy="548640"/>
          </a:xfrm>
          <a:prstGeom prst="rect">
            <a:avLst/>
          </a:prstGeom>
          <a:noFill/>
          <a:ln/>
        </p:spPr>
        <p:txBody>
          <a:bodyPr wrap="square" lIns="0" tIns="0" rIns="0" bIns="0" rtlCol="0" anchor="ctr"/>
          <a:lstStyle/>
          <a:p>
            <a:pPr indent="0" marL="0">
              <a:buNone/>
            </a:pPr>
            <a:r>
              <a:rPr lang="en-US" sz="1800" dirty="0">
                <a:solidFill>
                  <a:schemeClr val="tx1"/>
                </a:solidFill>
              </a:rPr>
              <a:t>The warehouse shipped an eMAG order while eMAG was rate limiting. Then what?</a:t>
            </a:r>
            <a:endParaRPr lang="en-US" sz="1800" dirty="0"/>
          </a:p>
        </p:txBody>
      </p:sp>
      <p:sp>
        <p:nvSpPr>
          <p:cNvPr id="11" name="rule"/>
          <p:cNvSpPr/>
          <p:nvPr/>
        </p:nvSpPr>
        <p:spPr>
          <a:xfrm>
            <a:off x="1188720" y="3081528"/>
            <a:ext cx="10451592" cy="9144"/>
          </a:xfrm>
          <a:prstGeom prst="rect">
            <a:avLst/>
          </a:prstGeom>
          <a:solidFill>
            <a:srgbClr val="E3E6EB"/>
          </a:solidFill>
          <a:ln/>
        </p:spPr>
      </p:sp>
      <p:sp>
        <p:nvSpPr>
          <p:cNvPr id="12" name="step 3"/>
          <p:cNvSpPr/>
          <p:nvPr/>
        </p:nvSpPr>
        <p:spPr>
          <a:xfrm>
            <a:off x="548640" y="3282696"/>
            <a:ext cx="420624" cy="420624"/>
          </a:xfrm>
          <a:prstGeom prst="ellipse">
            <a:avLst/>
          </a:prstGeom>
          <a:solidFill>
            <a:schemeClr val="tx1"/>
          </a:solidFill>
          <a:ln/>
        </p:spPr>
      </p:sp>
      <p:sp>
        <p:nvSpPr>
          <p:cNvPr id="13" name="Text 11"/>
          <p:cNvSpPr txBox="1"/>
          <p:nvPr/>
        </p:nvSpPr>
        <p:spPr>
          <a:xfrm>
            <a:off x="548640" y="328269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4" name="Text 12"/>
          <p:cNvSpPr txBox="1"/>
          <p:nvPr/>
        </p:nvSpPr>
        <p:spPr>
          <a:xfrm>
            <a:off x="1188720" y="3246120"/>
            <a:ext cx="10424160" cy="548640"/>
          </a:xfrm>
          <a:prstGeom prst="rect">
            <a:avLst/>
          </a:prstGeom>
          <a:noFill/>
          <a:ln/>
        </p:spPr>
        <p:txBody>
          <a:bodyPr wrap="square" lIns="0" tIns="0" rIns="0" bIns="0" rtlCol="0" anchor="ctr"/>
          <a:lstStyle/>
          <a:p>
            <a:pPr indent="0" marL="0">
              <a:buNone/>
            </a:pPr>
            <a:r>
              <a:rPr lang="en-US" sz="1800" dirty="0">
                <a:solidFill>
                  <a:schemeClr val="tx1"/>
                </a:solidFill>
              </a:rPr>
              <a:t>Two events for one order land in the same batch. Which interleavings do you handle?</a:t>
            </a:r>
            <a:endParaRPr lang="en-US" sz="1800" dirty="0"/>
          </a:p>
        </p:txBody>
      </p:sp>
      <p:sp>
        <p:nvSpPr>
          <p:cNvPr id="15" name="rule"/>
          <p:cNvSpPr/>
          <p:nvPr/>
        </p:nvSpPr>
        <p:spPr>
          <a:xfrm>
            <a:off x="1188720" y="3968496"/>
            <a:ext cx="10451592" cy="9144"/>
          </a:xfrm>
          <a:prstGeom prst="rect">
            <a:avLst/>
          </a:prstGeom>
          <a:solidFill>
            <a:srgbClr val="E3E6EB"/>
          </a:solidFill>
          <a:ln/>
        </p:spPr>
      </p:sp>
      <p:sp>
        <p:nvSpPr>
          <p:cNvPr id="16" name="step 4"/>
          <p:cNvSpPr/>
          <p:nvPr/>
        </p:nvSpPr>
        <p:spPr>
          <a:xfrm>
            <a:off x="548640" y="4169664"/>
            <a:ext cx="420624" cy="420624"/>
          </a:xfrm>
          <a:prstGeom prst="ellipse">
            <a:avLst/>
          </a:prstGeom>
          <a:solidFill>
            <a:srgbClr val="3D4552"/>
          </a:solidFill>
          <a:ln/>
        </p:spPr>
      </p:sp>
      <p:sp>
        <p:nvSpPr>
          <p:cNvPr id="17" name="Text 15"/>
          <p:cNvSpPr txBox="1"/>
          <p:nvPr/>
        </p:nvSpPr>
        <p:spPr>
          <a:xfrm>
            <a:off x="548640" y="4169664"/>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8" name="Text 16"/>
          <p:cNvSpPr txBox="1"/>
          <p:nvPr/>
        </p:nvSpPr>
        <p:spPr>
          <a:xfrm>
            <a:off x="1188720" y="4133088"/>
            <a:ext cx="10424160" cy="548640"/>
          </a:xfrm>
          <a:prstGeom prst="rect">
            <a:avLst/>
          </a:prstGeom>
          <a:noFill/>
          <a:ln/>
        </p:spPr>
        <p:txBody>
          <a:bodyPr wrap="square" lIns="0" tIns="0" rIns="0" bIns="0" rtlCol="0" anchor="ctr"/>
          <a:lstStyle/>
          <a:p>
            <a:pPr indent="0" marL="0">
              <a:buNone/>
            </a:pPr>
            <a:r>
              <a:rPr lang="en-US" sz="1800" dirty="0">
                <a:solidFill>
                  <a:schemeClr val="tx1"/>
                </a:solidFill>
              </a:rPr>
              <a:t>What exactly is your idempotency key, and who can forge it?</a:t>
            </a:r>
            <a:endParaRPr lang="en-US" sz="1800" dirty="0"/>
          </a:p>
        </p:txBody>
      </p:sp>
      <p:sp>
        <p:nvSpPr>
          <p:cNvPr id="19" name="rule"/>
          <p:cNvSpPr/>
          <p:nvPr/>
        </p:nvSpPr>
        <p:spPr>
          <a:xfrm>
            <a:off x="1188720" y="4855464"/>
            <a:ext cx="10451592" cy="9144"/>
          </a:xfrm>
          <a:prstGeom prst="rect">
            <a:avLst/>
          </a:prstGeom>
          <a:solidFill>
            <a:srgbClr val="E3E6EB"/>
          </a:solidFill>
          <a:ln/>
        </p:spPr>
      </p:sp>
      <p:sp>
        <p:nvSpPr>
          <p:cNvPr id="20" name="step 5"/>
          <p:cNvSpPr/>
          <p:nvPr/>
        </p:nvSpPr>
        <p:spPr>
          <a:xfrm>
            <a:off x="548640" y="5056632"/>
            <a:ext cx="420624" cy="420624"/>
          </a:xfrm>
          <a:prstGeom prst="ellipse">
            <a:avLst/>
          </a:prstGeom>
          <a:solidFill>
            <a:schemeClr val="tx1"/>
          </a:solidFill>
          <a:ln/>
        </p:spPr>
      </p:sp>
      <p:sp>
        <p:nvSpPr>
          <p:cNvPr id="21" name="Text 19"/>
          <p:cNvSpPr txBox="1"/>
          <p:nvPr/>
        </p:nvSpPr>
        <p:spPr>
          <a:xfrm>
            <a:off x="548640" y="505663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2" name="Text 20"/>
          <p:cNvSpPr txBox="1"/>
          <p:nvPr/>
        </p:nvSpPr>
        <p:spPr>
          <a:xfrm>
            <a:off x="1188720" y="5020056"/>
            <a:ext cx="10424160" cy="548640"/>
          </a:xfrm>
          <a:prstGeom prst="rect">
            <a:avLst/>
          </a:prstGeom>
          <a:noFill/>
          <a:ln/>
        </p:spPr>
        <p:txBody>
          <a:bodyPr wrap="square" lIns="0" tIns="0" rIns="0" bIns="0" rtlCol="0" anchor="ctr"/>
          <a:lstStyle/>
          <a:p>
            <a:pPr indent="0" marL="0">
              <a:buNone/>
            </a:pPr>
            <a:r>
              <a:rPr lang="en-US" sz="1800" dirty="0">
                <a:solidFill>
                  <a:schemeClr val="tx1"/>
                </a:solidFill>
              </a:rPr>
              <a:t>Retry-After says 3600. Retry-After says a date.</a:t>
            </a:r>
            <a:endParaRPr lang="en-US" sz="18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BACKUP</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Questions I expect (2 of 2)</a:t>
            </a:r>
            <a:endParaRPr lang="en-US" sz="3200" dirty="0"/>
          </a:p>
        </p:txBody>
      </p:sp>
      <p:sp>
        <p:nvSpPr>
          <p:cNvPr id="4" name="step 6"/>
          <p:cNvSpPr/>
          <p:nvPr/>
        </p:nvSpPr>
        <p:spPr>
          <a:xfrm>
            <a:off x="548640" y="1508760"/>
            <a:ext cx="420624" cy="420624"/>
          </a:xfrm>
          <a:prstGeom prst="ellipse">
            <a:avLst/>
          </a:prstGeom>
          <a:solidFill>
            <a:schemeClr val="tx1"/>
          </a:solidFill>
          <a:ln/>
        </p:spPr>
      </p:sp>
      <p:sp>
        <p:nvSpPr>
          <p:cNvPr id="5" name="Text 3"/>
          <p:cNvSpPr txBox="1"/>
          <p:nvPr/>
        </p:nvSpPr>
        <p:spPr>
          <a:xfrm>
            <a:off x="548640" y="15087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6" name="Text 4"/>
          <p:cNvSpPr txBox="1"/>
          <p:nvPr/>
        </p:nvSpPr>
        <p:spPr>
          <a:xfrm>
            <a:off x="1188720" y="1472184"/>
            <a:ext cx="10424160" cy="548640"/>
          </a:xfrm>
          <a:prstGeom prst="rect">
            <a:avLst/>
          </a:prstGeom>
          <a:noFill/>
          <a:ln/>
        </p:spPr>
        <p:txBody>
          <a:bodyPr wrap="square" lIns="0" tIns="0" rIns="0" bIns="0" rtlCol="0" anchor="ctr"/>
          <a:lstStyle/>
          <a:p>
            <a:pPr indent="0" marL="0">
              <a:buNone/>
            </a:pPr>
            <a:r>
              <a:rPr lang="en-US" sz="1800" dirty="0">
                <a:solidFill>
                  <a:schemeClr val="tx1"/>
                </a:solidFill>
              </a:rPr>
              <a:t>Why push every product every 10 s? What breaks at 20,000?</a:t>
            </a:r>
            <a:endParaRPr lang="en-US" sz="1800" dirty="0"/>
          </a:p>
        </p:txBody>
      </p:sp>
      <p:sp>
        <p:nvSpPr>
          <p:cNvPr id="7" name="rule"/>
          <p:cNvSpPr/>
          <p:nvPr/>
        </p:nvSpPr>
        <p:spPr>
          <a:xfrm>
            <a:off x="1188720" y="2194560"/>
            <a:ext cx="10451592" cy="9144"/>
          </a:xfrm>
          <a:prstGeom prst="rect">
            <a:avLst/>
          </a:prstGeom>
          <a:solidFill>
            <a:srgbClr val="E3E6EB"/>
          </a:solidFill>
          <a:ln/>
        </p:spPr>
      </p:sp>
      <p:sp>
        <p:nvSpPr>
          <p:cNvPr id="8" name="step 7"/>
          <p:cNvSpPr/>
          <p:nvPr/>
        </p:nvSpPr>
        <p:spPr>
          <a:xfrm>
            <a:off x="548640" y="2395728"/>
            <a:ext cx="420624" cy="420624"/>
          </a:xfrm>
          <a:prstGeom prst="ellipse">
            <a:avLst/>
          </a:prstGeom>
          <a:solidFill>
            <a:srgbClr val="3D4552"/>
          </a:solidFill>
          <a:ln/>
        </p:spPr>
      </p:sp>
      <p:sp>
        <p:nvSpPr>
          <p:cNvPr id="9" name="Text 7"/>
          <p:cNvSpPr txBox="1"/>
          <p:nvPr/>
        </p:nvSpPr>
        <p:spPr>
          <a:xfrm>
            <a:off x="548640" y="2395728"/>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7</a:t>
            </a:r>
            <a:endParaRPr lang="en-US" sz="1500" dirty="0"/>
          </a:p>
        </p:txBody>
      </p:sp>
      <p:sp>
        <p:nvSpPr>
          <p:cNvPr id="10" name="Text 8"/>
          <p:cNvSpPr txBox="1"/>
          <p:nvPr/>
        </p:nvSpPr>
        <p:spPr>
          <a:xfrm>
            <a:off x="1188720" y="2359152"/>
            <a:ext cx="10424160" cy="548640"/>
          </a:xfrm>
          <a:prstGeom prst="rect">
            <a:avLst/>
          </a:prstGeom>
          <a:noFill/>
          <a:ln/>
        </p:spPr>
        <p:txBody>
          <a:bodyPr wrap="square" lIns="0" tIns="0" rIns="0" bIns="0" rtlCol="0" anchor="ctr"/>
          <a:lstStyle/>
          <a:p>
            <a:pPr indent="0" marL="0">
              <a:buNone/>
            </a:pPr>
            <a:r>
              <a:rPr lang="en-US" sz="1800" dirty="0">
                <a:solidFill>
                  <a:schemeClr val="tx1"/>
                </a:solidFill>
              </a:rPr>
              <a:t>Show me the number.</a:t>
            </a:r>
            <a:endParaRPr lang="en-US" sz="1800" dirty="0"/>
          </a:p>
        </p:txBody>
      </p:sp>
      <p:sp>
        <p:nvSpPr>
          <p:cNvPr id="11" name="rule"/>
          <p:cNvSpPr/>
          <p:nvPr/>
        </p:nvSpPr>
        <p:spPr>
          <a:xfrm>
            <a:off x="1188720" y="3081528"/>
            <a:ext cx="10451592" cy="9144"/>
          </a:xfrm>
          <a:prstGeom prst="rect">
            <a:avLst/>
          </a:prstGeom>
          <a:solidFill>
            <a:srgbClr val="E3E6EB"/>
          </a:solidFill>
          <a:ln/>
        </p:spPr>
      </p:sp>
      <p:sp>
        <p:nvSpPr>
          <p:cNvPr id="12" name="step 8"/>
          <p:cNvSpPr/>
          <p:nvPr/>
        </p:nvSpPr>
        <p:spPr>
          <a:xfrm>
            <a:off x="548640" y="3282696"/>
            <a:ext cx="420624" cy="420624"/>
          </a:xfrm>
          <a:prstGeom prst="ellipse">
            <a:avLst/>
          </a:prstGeom>
          <a:solidFill>
            <a:schemeClr val="tx1"/>
          </a:solidFill>
          <a:ln/>
        </p:spPr>
      </p:sp>
      <p:sp>
        <p:nvSpPr>
          <p:cNvPr id="13" name="Text 11"/>
          <p:cNvSpPr txBox="1"/>
          <p:nvPr/>
        </p:nvSpPr>
        <p:spPr>
          <a:xfrm>
            <a:off x="548640" y="328269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8</a:t>
            </a:r>
            <a:endParaRPr lang="en-US" sz="1500" dirty="0"/>
          </a:p>
        </p:txBody>
      </p:sp>
      <p:sp>
        <p:nvSpPr>
          <p:cNvPr id="14" name="Text 12"/>
          <p:cNvSpPr txBox="1"/>
          <p:nvPr/>
        </p:nvSpPr>
        <p:spPr>
          <a:xfrm>
            <a:off x="1188720" y="3246120"/>
            <a:ext cx="10424160" cy="548640"/>
          </a:xfrm>
          <a:prstGeom prst="rect">
            <a:avLst/>
          </a:prstGeom>
          <a:noFill/>
          <a:ln/>
        </p:spPr>
        <p:txBody>
          <a:bodyPr wrap="square" lIns="0" tIns="0" rIns="0" bIns="0" rtlCol="0" anchor="ctr"/>
          <a:lstStyle/>
          <a:p>
            <a:pPr indent="0" marL="0">
              <a:buNone/>
            </a:pPr>
            <a:r>
              <a:rPr lang="en-US" sz="1800" dirty="0">
                <a:solidFill>
                  <a:schemeClr val="tx1"/>
                </a:solidFill>
              </a:rPr>
              <a:t>It is 3 a.m. Which alert fires, and what does it say?</a:t>
            </a:r>
            <a:endParaRPr lang="en-US" sz="1800" dirty="0"/>
          </a:p>
        </p:txBody>
      </p:sp>
      <p:sp>
        <p:nvSpPr>
          <p:cNvPr id="15" name="rule"/>
          <p:cNvSpPr/>
          <p:nvPr/>
        </p:nvSpPr>
        <p:spPr>
          <a:xfrm>
            <a:off x="1188720" y="3968496"/>
            <a:ext cx="10451592" cy="9144"/>
          </a:xfrm>
          <a:prstGeom prst="rect">
            <a:avLst/>
          </a:prstGeom>
          <a:solidFill>
            <a:srgbClr val="E3E6EB"/>
          </a:solidFill>
          <a:ln/>
        </p:spPr>
      </p:sp>
      <p:sp>
        <p:nvSpPr>
          <p:cNvPr id="16" name="step 9"/>
          <p:cNvSpPr/>
          <p:nvPr/>
        </p:nvSpPr>
        <p:spPr>
          <a:xfrm>
            <a:off x="548640" y="4169664"/>
            <a:ext cx="420624" cy="420624"/>
          </a:xfrm>
          <a:prstGeom prst="ellipse">
            <a:avLst/>
          </a:prstGeom>
          <a:solidFill>
            <a:srgbClr val="3D4552"/>
          </a:solidFill>
          <a:ln/>
        </p:spPr>
      </p:sp>
      <p:sp>
        <p:nvSpPr>
          <p:cNvPr id="17" name="Text 15"/>
          <p:cNvSpPr txBox="1"/>
          <p:nvPr/>
        </p:nvSpPr>
        <p:spPr>
          <a:xfrm>
            <a:off x="548640" y="4169664"/>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9</a:t>
            </a:r>
            <a:endParaRPr lang="en-US" sz="1500" dirty="0"/>
          </a:p>
        </p:txBody>
      </p:sp>
      <p:sp>
        <p:nvSpPr>
          <p:cNvPr id="18" name="Text 16"/>
          <p:cNvSpPr txBox="1"/>
          <p:nvPr/>
        </p:nvSpPr>
        <p:spPr>
          <a:xfrm>
            <a:off x="1188720" y="4133088"/>
            <a:ext cx="10424160" cy="548640"/>
          </a:xfrm>
          <a:prstGeom prst="rect">
            <a:avLst/>
          </a:prstGeom>
          <a:noFill/>
          <a:ln/>
        </p:spPr>
        <p:txBody>
          <a:bodyPr wrap="square" lIns="0" tIns="0" rIns="0" bIns="0" rtlCol="0" anchor="ctr"/>
          <a:lstStyle/>
          <a:p>
            <a:pPr indent="0" marL="0">
              <a:buNone/>
            </a:pPr>
            <a:r>
              <a:rPr lang="en-US" sz="1800" dirty="0">
                <a:solidFill>
                  <a:schemeClr val="tx1"/>
                </a:solidFill>
              </a:rPr>
              <a:t>Why a React console, a model and a palette for a small glue service? What did it cost the core?</a:t>
            </a:r>
            <a:endParaRPr lang="en-US" sz="1800" dirty="0"/>
          </a:p>
        </p:txBody>
      </p:sp>
      <p:sp>
        <p:nvSpPr>
          <p:cNvPr id="19" name="rule"/>
          <p:cNvSpPr/>
          <p:nvPr/>
        </p:nvSpPr>
        <p:spPr>
          <a:xfrm>
            <a:off x="1188720" y="4855464"/>
            <a:ext cx="10451592" cy="9144"/>
          </a:xfrm>
          <a:prstGeom prst="rect">
            <a:avLst/>
          </a:prstGeom>
          <a:solidFill>
            <a:srgbClr val="E3E6EB"/>
          </a:solidFill>
          <a:ln/>
        </p:spPr>
      </p:sp>
      <p:sp>
        <p:nvSpPr>
          <p:cNvPr id="20" name="step 10"/>
          <p:cNvSpPr/>
          <p:nvPr/>
        </p:nvSpPr>
        <p:spPr>
          <a:xfrm>
            <a:off x="548640" y="5056632"/>
            <a:ext cx="420624" cy="420624"/>
          </a:xfrm>
          <a:prstGeom prst="ellipse">
            <a:avLst/>
          </a:prstGeom>
          <a:solidFill>
            <a:schemeClr val="tx1"/>
          </a:solidFill>
          <a:ln/>
        </p:spPr>
      </p:sp>
      <p:sp>
        <p:nvSpPr>
          <p:cNvPr id="21" name="Text 19"/>
          <p:cNvSpPr txBox="1"/>
          <p:nvPr/>
        </p:nvSpPr>
        <p:spPr>
          <a:xfrm>
            <a:off x="548640" y="505663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10</a:t>
            </a:r>
            <a:endParaRPr lang="en-US" sz="1500" dirty="0"/>
          </a:p>
        </p:txBody>
      </p:sp>
      <p:sp>
        <p:nvSpPr>
          <p:cNvPr id="22" name="Text 20"/>
          <p:cNvSpPr txBox="1"/>
          <p:nvPr/>
        </p:nvSpPr>
        <p:spPr>
          <a:xfrm>
            <a:off x="1188720" y="5020056"/>
            <a:ext cx="10424160" cy="548640"/>
          </a:xfrm>
          <a:prstGeom prst="rect">
            <a:avLst/>
          </a:prstGeom>
          <a:noFill/>
          <a:ln/>
        </p:spPr>
        <p:txBody>
          <a:bodyPr wrap="square" lIns="0" tIns="0" rIns="0" bIns="0" rtlCol="0" anchor="ctr"/>
          <a:lstStyle/>
          <a:p>
            <a:pPr indent="0" marL="0">
              <a:buNone/>
            </a:pPr>
            <a:r>
              <a:rPr lang="en-US" sz="1800" dirty="0">
                <a:solidFill>
                  <a:schemeClr val="tx1"/>
                </a:solidFill>
              </a:rPr>
              <a:t>Policy in code and the model explains. So what is the model for? Would you ship it?</a:t>
            </a:r>
            <a:endParaRPr lang="en-US" sz="18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BACKUP</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Order and review item states</a:t>
            </a:r>
            <a:endParaRPr lang="en-US" sz="3200" dirty="0"/>
          </a:p>
        </p:txBody>
      </p:sp>
      <p:pic>
        <p:nvPicPr>
          <p:cNvPr id="4" name="Image 0" descr="Order state diagram: received, allocated, failed, shipped, cancelled">    </p:cNvPr>
          <p:cNvPicPr>
            <a:picLocks noChangeAspect="1"/>
          </p:cNvPicPr>
          <p:nvPr/>
        </p:nvPicPr>
        <p:blipFill>
          <a:blip r:embed="rId1"/>
          <a:stretch>
            <a:fillRect/>
          </a:stretch>
        </p:blipFill>
        <p:spPr>
          <a:xfrm>
            <a:off x="548640" y="1463040"/>
            <a:ext cx="5373719" cy="4160520"/>
          </a:xfrm>
          <a:prstGeom prst="rect">
            <a:avLst/>
          </a:prstGeom>
        </p:spPr>
      </p:pic>
      <p:sp>
        <p:nvSpPr>
          <p:cNvPr id="5" name="frame"/>
          <p:cNvSpPr/>
          <p:nvPr/>
        </p:nvSpPr>
        <p:spPr>
          <a:xfrm>
            <a:off x="548640" y="1463040"/>
            <a:ext cx="5373719" cy="4160520"/>
          </a:xfrm>
          <a:prstGeom prst="rect">
            <a:avLst/>
          </a:prstGeom>
          <a:noFill/>
          <a:ln w="9525">
            <a:solidFill>
              <a:srgbClr val="E3E6EB"/>
            </a:solidFill>
            <a:prstDash val="solid"/>
          </a:ln>
        </p:spPr>
      </p:sp>
      <p:pic>
        <p:nvPicPr>
          <p:cNvPr id="6" name="Image 1" descr="Review item state diagram: open, acting, decided, resolved">    </p:cNvPr>
          <p:cNvPicPr>
            <a:picLocks noChangeAspect="1"/>
          </p:cNvPicPr>
          <p:nvPr/>
        </p:nvPicPr>
        <p:blipFill>
          <a:blip r:embed="rId2"/>
          <a:stretch>
            <a:fillRect/>
          </a:stretch>
        </p:blipFill>
        <p:spPr>
          <a:xfrm>
            <a:off x="7130365" y="1463040"/>
            <a:ext cx="4512690" cy="4160520"/>
          </a:xfrm>
          <a:prstGeom prst="rect">
            <a:avLst/>
          </a:prstGeom>
        </p:spPr>
      </p:pic>
      <p:sp>
        <p:nvSpPr>
          <p:cNvPr id="7" name="frame"/>
          <p:cNvSpPr/>
          <p:nvPr/>
        </p:nvSpPr>
        <p:spPr>
          <a:xfrm>
            <a:off x="7130365" y="1463040"/>
            <a:ext cx="4512690" cy="4160520"/>
          </a:xfrm>
          <a:prstGeom prst="rect">
            <a:avLst/>
          </a:prstGeom>
          <a:noFill/>
          <a:ln w="9525">
            <a:solidFill>
              <a:srgbClr val="E3E6EB"/>
            </a:solidFill>
            <a:prstDash val="solid"/>
          </a:ln>
        </p:spPr>
      </p:sp>
      <p:sp>
        <p:nvSpPr>
          <p:cNvPr id="8" name="Text 4"/>
          <p:cNvSpPr txBox="1"/>
          <p:nvPr/>
        </p:nvSpPr>
        <p:spPr>
          <a:xfrm>
            <a:off x="548640" y="5715000"/>
            <a:ext cx="5373719" cy="274320"/>
          </a:xfrm>
          <a:prstGeom prst="rect">
            <a:avLst/>
          </a:prstGeom>
          <a:noFill/>
          <a:ln/>
        </p:spPr>
        <p:txBody>
          <a:bodyPr wrap="square" lIns="0" tIns="0" rIns="0" bIns="0" rtlCol="0" anchor="t"/>
          <a:lstStyle/>
          <a:p>
            <a:pPr indent="0" marL="0">
              <a:buNone/>
            </a:pPr>
            <a:r>
              <a:rPr lang="en-US" sz="1200" dirty="0">
                <a:solidFill>
                  <a:schemeClr val="tx2"/>
                </a:solidFill>
              </a:rPr>
              <a:t>Order states. Only glue/router.py changes them.</a:t>
            </a:r>
            <a:endParaRPr lang="en-US" sz="1200" dirty="0"/>
          </a:p>
        </p:txBody>
      </p:sp>
      <p:sp>
        <p:nvSpPr>
          <p:cNvPr id="9" name="Text 5"/>
          <p:cNvSpPr txBox="1"/>
          <p:nvPr/>
        </p:nvSpPr>
        <p:spPr>
          <a:xfrm>
            <a:off x="7130365" y="5715000"/>
            <a:ext cx="4512690" cy="274320"/>
          </a:xfrm>
          <a:prstGeom prst="rect">
            <a:avLst/>
          </a:prstGeom>
          <a:noFill/>
          <a:ln/>
        </p:spPr>
        <p:txBody>
          <a:bodyPr wrap="square" lIns="0" tIns="0" rIns="0" bIns="0" rtlCol="0" anchor="t"/>
          <a:lstStyle/>
          <a:p>
            <a:pPr indent="0" marL="0">
              <a:buNone/>
            </a:pPr>
            <a:r>
              <a:rPr lang="en-US" sz="1200" dirty="0">
                <a:solidFill>
                  <a:schemeClr val="tx2"/>
                </a:solidFill>
              </a:rPr>
              <a:t>Review item states. Acting makes a decision crash-safe.</a:t>
            </a:r>
            <a:endParaRPr lang="en-US" sz="12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37744"/>
          </a:xfrm>
          <a:prstGeom prst="rect">
            <a:avLst/>
          </a:prstGeom>
          <a:noFill/>
          <a:ln/>
        </p:spPr>
        <p:txBody>
          <a:bodyPr wrap="square" lIns="0" tIns="0" rIns="0" bIns="0" rtlCol="0" anchor="t"/>
          <a:lstStyle/>
          <a:p>
            <a:pPr algn="l" indent="0" marL="0">
              <a:buNone/>
            </a:pPr>
            <a:r>
              <a:rPr lang="en-US" sz="1100" b="1" dirty="0">
                <a:solidFill>
                  <a:schemeClr val="tx2"/>
                </a:solidFill>
                <a:latin typeface="Courier New" pitchFamily="34" charset="0"/>
                <a:ea typeface="Courier New" pitchFamily="34" charset="-122"/>
                <a:cs typeface="Courier New" pitchFamily="34" charset="-120"/>
              </a:rPr>
              <a:t>BACKUP</a:t>
            </a:r>
            <a:endParaRPr lang="en-US" sz="1100" dirty="0"/>
          </a:p>
        </p:txBody>
      </p:sp>
      <p:sp>
        <p:nvSpPr>
          <p:cNvPr id="3" name="Text 0"/>
          <p:cNvSpPr/>
          <p:nvPr>
            <p:ph idx="101" type="title" hasCustomPrompt="1"/>
          </p:nvPr>
        </p:nvSpPr>
        <p:spPr>
          <a:xfrm>
            <a:off x="548640" y="621792"/>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Component map</a:t>
            </a:r>
            <a:endParaRPr lang="en-US" sz="3200" dirty="0"/>
          </a:p>
        </p:txBody>
      </p:sp>
      <p:pic>
        <p:nvPicPr>
          <p:cNvPr id="4" name="Image 0" descr="Component map: inbound webhooks, the glue's inbox, worker, router, reconciler, review queue, retry policy, outbound API calls, the dashboard and the local model">    </p:cNvPr>
          <p:cNvPicPr>
            <a:picLocks noChangeAspect="1"/>
          </p:cNvPicPr>
          <p:nvPr/>
        </p:nvPicPr>
        <p:blipFill>
          <a:blip r:embed="rId1"/>
          <a:stretch>
            <a:fillRect/>
          </a:stretch>
        </p:blipFill>
        <p:spPr>
          <a:xfrm>
            <a:off x="548640" y="1463040"/>
            <a:ext cx="11094415" cy="4231161"/>
          </a:xfrm>
          <a:prstGeom prst="rect">
            <a:avLst/>
          </a:prstGeom>
        </p:spPr>
      </p:pic>
      <p:sp>
        <p:nvSpPr>
          <p:cNvPr id="5" name="frame"/>
          <p:cNvSpPr/>
          <p:nvPr/>
        </p:nvSpPr>
        <p:spPr>
          <a:xfrm>
            <a:off x="548640" y="1463040"/>
            <a:ext cx="11094415" cy="4231161"/>
          </a:xfrm>
          <a:prstGeom prst="rect">
            <a:avLst/>
          </a:prstGeom>
          <a:noFill/>
          <a:ln w="9525">
            <a:solidFill>
              <a:srgbClr val="E3E6EB"/>
            </a:solidFill>
            <a:prstDash val="solid"/>
          </a:ln>
        </p:spPr>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ADB Glue">
  <a:themeElements>
    <a:clrScheme name="ADB Glue">
      <a:dk1>
        <a:srgbClr val="0F1115"/>
      </a:dk1>
      <a:lt1>
        <a:srgbClr val="FFFFFF"/>
      </a:lt1>
      <a:dk2>
        <a:srgbClr val="5B6472"/>
      </a:dk2>
      <a:lt2>
        <a:srgbClr val="F6F7F9"/>
      </a:lt2>
      <a:accent1>
        <a:srgbClr val="1D4ED8"/>
      </a:accent1>
      <a:accent2>
        <a:srgbClr val="B7791F"/>
      </a:accent2>
      <a:accent3>
        <a:srgbClr val="6B2F7E"/>
      </a:accent3>
      <a:accent4>
        <a:srgbClr val="8A5A2B"/>
      </a:accent4>
      <a:accent5>
        <a:srgbClr val="B42318"/>
      </a:accent5>
      <a:accent6>
        <a:srgbClr val="127A4B"/>
      </a:accent6>
      <a:hlink>
        <a:srgbClr val="1D4ED8"/>
      </a:hlink>
      <a:folHlink>
        <a:srgbClr val="5B6472"/>
      </a:folHlink>
    </a:clrScheme>
    <a:fontScheme name="ADB Glu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ADB Glue Service</dc:title>
  <dc:subject>PptxGenJS Presentation</dc:subject>
  <dc:creator>Pantelimon Gulie</dc:creator>
  <cp:lastModifiedBy>Pantelimon Gulie</cp:lastModifiedBy>
  <cp:revision>1</cp:revision>
  <dcterms:created xsi:type="dcterms:W3CDTF">2026-10-23T11:14:45Z</dcterms:created>
  <dcterms:modified xsi:type="dcterms:W3CDTF">2026-10-23T11:14:45Z</dcterms:modified>
</cp:coreProperties>
</file>